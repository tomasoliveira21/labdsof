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2" r:id="rId3"/>
    <p:sldId id="263" r:id="rId4"/>
    <p:sldId id="264" r:id="rId5"/>
    <p:sldId id="265" r:id="rId6"/>
    <p:sldId id="266" r:id="rId7"/>
    <p:sldId id="268" r:id="rId8"/>
    <p:sldId id="270" r:id="rId9"/>
    <p:sldId id="271" r:id="rId10"/>
    <p:sldId id="272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8CAF8F23-3048-A462-1B6B-8852486B0395}">
          <p14:sldIdLst>
            <p14:sldId id="256"/>
          </p14:sldIdLst>
        </p14:section>
        <p14:section name="Design" id="{27800AA2-B1A1-0314-9798-B1ADDA926B5E}">
          <p14:sldIdLst>
            <p14:sldId id="262"/>
            <p14:sldId id="263"/>
            <p14:sldId id="264"/>
            <p14:sldId id="265"/>
          </p14:sldIdLst>
        </p14:section>
        <p14:section name="Plan" id="{A51A2B36-4E5F-146A-4E98-265BD08E512F}">
          <p14:sldIdLst>
            <p14:sldId id="266"/>
            <p14:sldId id="268"/>
          </p14:sldIdLst>
        </p14:section>
        <p14:section name="Team" id="{BBF90B3D-CC83-282F-DBF8-9D0D27506586}">
          <p14:sldIdLst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4989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(~15 s) Somos o Farol. Hoje mostramos o âmbito do projeto no fim do Sprint A: o produto, o que aprendemos com os estudantes, o desenho técnico, os custos e como vamos trabalhar no Sprint B. A equipa: Bruno Lopes, Tiago Teixeira, Tomás Oliveira e António Guerra.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(~50 s) O modelo de domínio está dividido pelos cinco serviços, e cada um é dono dos seus dados. Auth &amp; Users tem as contas, o único papel global, FarolAdmin, e a pertença de cada pessoa a cada evento e às suas equipas. Events tem o evento, as equipas e as suas permissões, as versões da planta, os pontos de interesse e os avisos. Reports tem os pedidos de ajuda, a sugestão de triagem, os reports da comunidade e as tarefas enviadas às equipas no terreno, com histórico de auditoria. Transports tem as opções de transporte e as observações dos autocarros. Badges calcula o progresso. A regra mais importante: o evento é a fronteira de isolamento. Todas as tabelas de um evento têm event_id, e o que cada pessoa pode fazer vem das equipas onde está.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(~75 s) A arquitetura. Há uma única aplicação web em React, com páginas pensadas para o telemóvel ou para o portátil. Tudo entra pelo API gateway, que valida o token do Keycloak, aplica CORS e limites por conta. Atrás há cinco microserviços em Spring Boot, cada um com a sua base de dados PostgreSQL e o seu Dockerfile. Esta é a arquitetura alvo: hoje corre só o Reports, o walking skeleton, e o resto chega nos Sprints B e C. Os serviços não chamam a API uns dos outros: comunicam só por eventos no RabbitMQ, com tabela de outbox, consumidores idempotentes e filas de dead letter, por isso nenhum pedido se perde. A triagem é o fluxo assíncrono: o Reports publica o pedido e o worker chama o modelo local, Ollama com qwen3 de 4 mil milhões de parâmetros, através do WireMock, que também serve para simular falhas. A integração externa é a API de autocarros do Porto Digital, com o WireMock para testes e para a demo. Os dois modos degradados: sem IA, o pedido aparece como Não triado; sem transportes, mostramos os últimos dados válidos com aviso. Tudo corre localmente com Docker Compose, com autorização do professor por causa dos custos.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(~45 s) A stack: Java 21 com Spring Boot 4 no backend, uma aplicação React no frontend, PostgreSQL com Flyway, RabbitMQ para mensagens, Keycloak para identidade e Spring Cloud Gateway à entrada. A entrega usa GitHub Actions, com análise de qualidade no SonarQube Cloud, e Docker Compose, e os testes de carga usam k6. Todas as decisões estão em 13 ADRs, cada um com a escolha, as alternativas e o porquê. Onze estão aceites; o do mapa, o ADR-007, ainda está proposto, e o ADR-011 regista a entrega local autorizada pelo professor. Nos da IA e da observabilidade falta ainda a evidência a correr, que chega com o Sprint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(~50 s) Os pressupostos críticos são três. A2: os estudantes usam a aplicação durante a noite. O inquérito apoia, 87 % diz que sim, mas é intenção, não comportamento. A3: uma aplicação para vários eventos, aberta por link ou QR. Em parte: 39 % diz que instalar mais uma app os afastaria, o que confirma a decisão de não exigir instalação. A4: pedir ajuda pela app é mais rápido. Ainda não está validado, depende da entrevista ao voluntário de segurança. À direita, as dependências, cada uma com o seu plano B: a API do Porto Digital tem o WireMock; a IA local tem a triagem manual; as plantas vêm das organizações em imagem ou PDF; o acesso à organização é limitado e está documentado; e a demo corre num portátil, com outro de reserva.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(~50 s) Os custos, com salários e infraestrutura, como o professor pediu. O desenvolvimento do projeto inteiro, com seis papéis a tempo inteiro durante 3,35 meses, custa cerca de 58 500 euros, quase tudo salários. A manutenção, com uma pessoa e produção na cloud, custa cerca de 3 400 euros por mês. Desenvolvimento mais o primeiro ano dá perto de 100 mil euros, a ordem de grandeza para uma organização. A entrega é local por causa do custo: localmente o custo extra é zero, porque o Copilot é igual nos dois cenários e a equipa usa-o grátis pelo GitHub Education, enquanto a demo na cloud custaria cerca de 300 euros e a operação contínua 358 euros por mês, contra um crédito único de estudante de 89 euros. O professor autorizou a entrega local.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(~50 s) Temos 34 requisitos não funcionais, organizados pelas categorias da ISO 25010, cada um com uma meta e a forma de o verificar. Alguns exemplos. Desempenho: um pedido de ajuda aparece no backoffice em 5 segundos no percentil 95, e a sugestão da IA chega em 30 segundos. Carga: o fim de um concerto, cerca de 1 300 pedidos de leitura por segundo durante 10 minutos, com menos de 1 % de erros. Fiabilidade: com a IA em baixo, 100 % dos pedidos continuam a aparecer, e nenhuma mensagem se perde. Segurança: zero acessos entre eventos. Privacidade: a localização só vai com o pedido e não há dados pessoais na telemetria. Usabilidade: WCAG 2.1 AA nas páginas principais.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(~45 s) Cada um de nós é responsável por áreas, mesmo que os papéis não estejam presos a pessoas. Eu, Tiago, fiquei com o produto e o backlog: o relatório do problema, o inquérito, o plano dos sprints, os NFRs e a resiliência. O Tomás é o dono do repositório e trata do walking skeleton, da IA e da observabilidade. O Bruno fez a análise de mercado, os diagramas, a estratégia de CI/CD e entrega local, o API outline e a estimativa de custos. O Guerra trata da segurança e privacidade, do Keycloak e do gateway, e do simulador do Porto Digital. Temos seis papéis definidos, de Product Owner a AI lead, assumidos por tarefa: todos programam e todos fazem revisões.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(~45 s) Trabalhamos com GitHub Flow. Todo o trabalho começa numa issue; a regra é uma user story, uma issue, um pull request. O branch é curto, o PR passa pela verificação automática das convenções, pelo pipeline de CI e pela aprovação de outro membro, e entra com squash merge. O GitHub só obriga à aprovação; o CI verde e as conversas resolvidas fazem parte da Definition of Done e são verificados na revisão. A revisão do Copilot está ligada no ruleset, mas até agora falhou sempre por falta de quota. O main está sempre pronto a entregar. Temos duas reuniões por semana: o planeamento na aula e o stand-up ao fim de semana, mais a review com os investidores no fim de cada sprint. O board do GitHub Projects segue o estado de cada item, de Backlog a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(~40 s) A Definition of Ready: uma story só entra num sprint se estiver escrita como user story com a persona, tiver critérios Given When Then testáveis, dependências conhecidas e nenhuma bloqueante, estiver no board e, se usar IA, descrever o comportamento de fallback. A Definition of Done: depois do merge, todos os critérios passam, estão cobertos por testes automáticos, o acesso entre eventos está testado, os logs são estruturados com correlation ID, o main fica verde e o Product Owner aceita. As duas estão nos formulários das issues e no template do PR, não só no documento.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ROL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ROL_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85800"/>
            <a:ext cx="2377440" cy="237744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P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23444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246120" y="8686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chemeClr val="bg1"/>
                </a:solidFill>
              </a:rPr>
              <a:t>Farol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3246120" y="1965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accent1"/>
                </a:solidFill>
              </a:rPr>
              <a:t>Sprint A · product, design and plan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3246120" y="246888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One map, one source of truth, one tap to get help, for every academic festival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886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Bruno Lopes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accent1"/>
                </a:solidFill>
              </a:rPr>
              <a:t>1240441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560320" y="3886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Tiago Teixeira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accent1"/>
                </a:solidFill>
              </a:rPr>
              <a:t>1240493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663440" y="3886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Tomás Oliveira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accent1"/>
                </a:solidFill>
              </a:rPr>
              <a:t>1230213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766560" y="3886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António Guerra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accent1"/>
                </a:solidFill>
              </a:rPr>
              <a:t>1190409</a:t>
            </a:r>
            <a:endParaRPr lang="en-US" sz="1500" dirty="0"/>
          </a:p>
        </p:txBody>
      </p:sp>
      <p:sp>
        <p:nvSpPr>
          <p:cNvPr id="1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</a:rPr>
              <a:t>Domain model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554480" cy="29260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P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15" y="1214323"/>
            <a:ext cx="213970" cy="21397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78992" y="111556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Auth &amp; Users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66928" y="1691640"/>
            <a:ext cx="1335024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sp>
        <p:nvSpPr>
          <p:cNvPr id="8" name="Text 5"/>
          <p:cNvSpPr txBox="1"/>
          <p:nvPr/>
        </p:nvSpPr>
        <p:spPr>
          <a:xfrm>
            <a:off x="566928" y="1691640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UserAccount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66928" y="2121408"/>
            <a:ext cx="1335024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sp>
        <p:nvSpPr>
          <p:cNvPr id="10" name="Text 7"/>
          <p:cNvSpPr txBox="1"/>
          <p:nvPr/>
        </p:nvSpPr>
        <p:spPr>
          <a:xfrm>
            <a:off x="566928" y="2121408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GlobalRoleGrant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" y="2551176"/>
            <a:ext cx="1335024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sp>
        <p:nvSpPr>
          <p:cNvPr id="12" name="Text 9"/>
          <p:cNvSpPr txBox="1"/>
          <p:nvPr/>
        </p:nvSpPr>
        <p:spPr>
          <a:xfrm>
            <a:off x="566928" y="2551176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EventMembership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66928" y="2980944"/>
            <a:ext cx="1335024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sp>
        <p:nvSpPr>
          <p:cNvPr id="14" name="Text 11"/>
          <p:cNvSpPr txBox="1"/>
          <p:nvPr/>
        </p:nvSpPr>
        <p:spPr>
          <a:xfrm>
            <a:off x="566928" y="2980944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TeamAssignment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139696" y="1005840"/>
            <a:ext cx="1554480" cy="29260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6" name="Shape 13"/>
          <p:cNvSpPr/>
          <p:nvPr/>
        </p:nvSpPr>
        <p:spPr>
          <a:xfrm>
            <a:off x="2276856" y="1115568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PT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5611" y="1214323"/>
            <a:ext cx="213970" cy="21397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2761488" y="111556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Events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2249424" y="1691640"/>
            <a:ext cx="1335024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sp>
        <p:nvSpPr>
          <p:cNvPr id="20" name="Text 16"/>
          <p:cNvSpPr txBox="1"/>
          <p:nvPr/>
        </p:nvSpPr>
        <p:spPr>
          <a:xfrm>
            <a:off x="2249424" y="1691640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Event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2249424" y="2121408"/>
            <a:ext cx="1335024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sp>
        <p:nvSpPr>
          <p:cNvPr id="22" name="Text 18"/>
          <p:cNvSpPr txBox="1"/>
          <p:nvPr/>
        </p:nvSpPr>
        <p:spPr>
          <a:xfrm>
            <a:off x="2249424" y="2121408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Team, Permission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2249424" y="2551176"/>
            <a:ext cx="1335024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sp>
        <p:nvSpPr>
          <p:cNvPr id="24" name="Text 20"/>
          <p:cNvSpPr txBox="1"/>
          <p:nvPr/>
        </p:nvSpPr>
        <p:spPr>
          <a:xfrm>
            <a:off x="2249424" y="2551176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VenueMapVersion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2249424" y="2980944"/>
            <a:ext cx="1335024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sp>
        <p:nvSpPr>
          <p:cNvPr id="26" name="Text 22"/>
          <p:cNvSpPr txBox="1"/>
          <p:nvPr/>
        </p:nvSpPr>
        <p:spPr>
          <a:xfrm>
            <a:off x="2249424" y="2980944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PointOfInterest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2249424" y="3410712"/>
            <a:ext cx="1335024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sp>
        <p:nvSpPr>
          <p:cNvPr id="28" name="Text 24"/>
          <p:cNvSpPr txBox="1"/>
          <p:nvPr/>
        </p:nvSpPr>
        <p:spPr>
          <a:xfrm>
            <a:off x="2249424" y="3410712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Announcement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3822192" y="1005840"/>
            <a:ext cx="1554480" cy="29260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30" name="Shape 26"/>
          <p:cNvSpPr/>
          <p:nvPr/>
        </p:nvSpPr>
        <p:spPr>
          <a:xfrm>
            <a:off x="3959352" y="1115568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PT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8107" y="1214323"/>
            <a:ext cx="213970" cy="213970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4443984" y="111556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Reports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3931920" y="1691640"/>
            <a:ext cx="1335024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sp>
        <p:nvSpPr>
          <p:cNvPr id="34" name="Text 29"/>
          <p:cNvSpPr txBox="1"/>
          <p:nvPr/>
        </p:nvSpPr>
        <p:spPr>
          <a:xfrm>
            <a:off x="3931920" y="1691640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HelpRequest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3931920" y="2121408"/>
            <a:ext cx="1335024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sp>
        <p:nvSpPr>
          <p:cNvPr id="36" name="Text 31"/>
          <p:cNvSpPr txBox="1"/>
          <p:nvPr/>
        </p:nvSpPr>
        <p:spPr>
          <a:xfrm>
            <a:off x="3931920" y="2121408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TriageSuggestion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3931920" y="2551176"/>
            <a:ext cx="1335024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sp>
        <p:nvSpPr>
          <p:cNvPr id="38" name="Text 33"/>
          <p:cNvSpPr txBox="1"/>
          <p:nvPr/>
        </p:nvSpPr>
        <p:spPr>
          <a:xfrm>
            <a:off x="3931920" y="2551176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CommunityReport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3931920" y="2980944"/>
            <a:ext cx="1335024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sp>
        <p:nvSpPr>
          <p:cNvPr id="40" name="Text 35"/>
          <p:cNvSpPr txBox="1"/>
          <p:nvPr/>
        </p:nvSpPr>
        <p:spPr>
          <a:xfrm>
            <a:off x="3931920" y="2980944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FieldTask</a:t>
            </a:r>
            <a:endParaRPr lang="en-US" sz="1100" dirty="0"/>
          </a:p>
        </p:txBody>
      </p:sp>
      <p:sp>
        <p:nvSpPr>
          <p:cNvPr id="41" name="Shape 36"/>
          <p:cNvSpPr/>
          <p:nvPr/>
        </p:nvSpPr>
        <p:spPr>
          <a:xfrm>
            <a:off x="3931920" y="3410712"/>
            <a:ext cx="1335024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sp>
        <p:nvSpPr>
          <p:cNvPr id="42" name="Text 37"/>
          <p:cNvSpPr txBox="1"/>
          <p:nvPr/>
        </p:nvSpPr>
        <p:spPr>
          <a:xfrm>
            <a:off x="3931920" y="3410712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AuditEntry</a:t>
            </a:r>
            <a:endParaRPr lang="en-US" sz="1100" dirty="0"/>
          </a:p>
        </p:txBody>
      </p:sp>
      <p:sp>
        <p:nvSpPr>
          <p:cNvPr id="43" name="Shape 38"/>
          <p:cNvSpPr/>
          <p:nvPr/>
        </p:nvSpPr>
        <p:spPr>
          <a:xfrm>
            <a:off x="5504688" y="1005840"/>
            <a:ext cx="1554480" cy="29260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44" name="Shape 39"/>
          <p:cNvSpPr/>
          <p:nvPr/>
        </p:nvSpPr>
        <p:spPr>
          <a:xfrm>
            <a:off x="5641848" y="1115568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PT"/>
          </a:p>
        </p:txBody>
      </p:sp>
      <p:pic>
        <p:nvPicPr>
          <p:cNvPr id="4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0603" y="1214323"/>
            <a:ext cx="213970" cy="213970"/>
          </a:xfrm>
          <a:prstGeom prst="rect">
            <a:avLst/>
          </a:prstGeom>
        </p:spPr>
      </p:pic>
      <p:sp>
        <p:nvSpPr>
          <p:cNvPr id="46" name="Text 40"/>
          <p:cNvSpPr txBox="1"/>
          <p:nvPr/>
        </p:nvSpPr>
        <p:spPr>
          <a:xfrm>
            <a:off x="6126480" y="111556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Transports</a:t>
            </a:r>
            <a:endParaRPr lang="en-US" sz="1400" dirty="0"/>
          </a:p>
        </p:txBody>
      </p:sp>
      <p:sp>
        <p:nvSpPr>
          <p:cNvPr id="47" name="Shape 41"/>
          <p:cNvSpPr/>
          <p:nvPr/>
        </p:nvSpPr>
        <p:spPr>
          <a:xfrm>
            <a:off x="5614416" y="1691640"/>
            <a:ext cx="1335024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sp>
        <p:nvSpPr>
          <p:cNvPr id="48" name="Text 42"/>
          <p:cNvSpPr txBox="1"/>
          <p:nvPr/>
        </p:nvSpPr>
        <p:spPr>
          <a:xfrm>
            <a:off x="5614416" y="1691640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TransportOption</a:t>
            </a:r>
            <a:endParaRPr lang="en-US" sz="1100" dirty="0"/>
          </a:p>
        </p:txBody>
      </p:sp>
      <p:sp>
        <p:nvSpPr>
          <p:cNvPr id="49" name="Shape 43"/>
          <p:cNvSpPr/>
          <p:nvPr/>
        </p:nvSpPr>
        <p:spPr>
          <a:xfrm>
            <a:off x="5614416" y="2121408"/>
            <a:ext cx="1335024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sp>
        <p:nvSpPr>
          <p:cNvPr id="50" name="Text 44"/>
          <p:cNvSpPr txBox="1"/>
          <p:nvPr/>
        </p:nvSpPr>
        <p:spPr>
          <a:xfrm>
            <a:off x="5614416" y="2121408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TransportDeparture</a:t>
            </a:r>
            <a:endParaRPr lang="en-US" sz="1100" dirty="0"/>
          </a:p>
        </p:txBody>
      </p:sp>
      <p:sp>
        <p:nvSpPr>
          <p:cNvPr id="51" name="Shape 45"/>
          <p:cNvSpPr/>
          <p:nvPr/>
        </p:nvSpPr>
        <p:spPr>
          <a:xfrm>
            <a:off x="5614416" y="2551176"/>
            <a:ext cx="1335024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sp>
        <p:nvSpPr>
          <p:cNvPr id="52" name="Text 46"/>
          <p:cNvSpPr txBox="1"/>
          <p:nvPr/>
        </p:nvSpPr>
        <p:spPr>
          <a:xfrm>
            <a:off x="5614416" y="2551176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BusVehicle</a:t>
            </a:r>
            <a:endParaRPr lang="en-US" sz="1100" dirty="0"/>
          </a:p>
        </p:txBody>
      </p:sp>
      <p:sp>
        <p:nvSpPr>
          <p:cNvPr id="53" name="Shape 47"/>
          <p:cNvSpPr/>
          <p:nvPr/>
        </p:nvSpPr>
        <p:spPr>
          <a:xfrm>
            <a:off x="5614416" y="2980944"/>
            <a:ext cx="1335024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sp>
        <p:nvSpPr>
          <p:cNvPr id="54" name="Text 48"/>
          <p:cNvSpPr txBox="1"/>
          <p:nvPr/>
        </p:nvSpPr>
        <p:spPr>
          <a:xfrm>
            <a:off x="5614416" y="2980944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BusObservation</a:t>
            </a:r>
            <a:endParaRPr lang="en-US" sz="1100" dirty="0"/>
          </a:p>
        </p:txBody>
      </p:sp>
      <p:sp>
        <p:nvSpPr>
          <p:cNvPr id="55" name="Shape 49"/>
          <p:cNvSpPr/>
          <p:nvPr/>
        </p:nvSpPr>
        <p:spPr>
          <a:xfrm>
            <a:off x="7187184" y="1005840"/>
            <a:ext cx="1554480" cy="29260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56" name="Shape 50"/>
          <p:cNvSpPr/>
          <p:nvPr/>
        </p:nvSpPr>
        <p:spPr>
          <a:xfrm>
            <a:off x="7324344" y="1115568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PT"/>
          </a:p>
        </p:txBody>
      </p:sp>
      <p:pic>
        <p:nvPicPr>
          <p:cNvPr id="5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3099" y="1214323"/>
            <a:ext cx="213970" cy="213970"/>
          </a:xfrm>
          <a:prstGeom prst="rect">
            <a:avLst/>
          </a:prstGeom>
        </p:spPr>
      </p:pic>
      <p:sp>
        <p:nvSpPr>
          <p:cNvPr id="58" name="Text 51"/>
          <p:cNvSpPr txBox="1"/>
          <p:nvPr/>
        </p:nvSpPr>
        <p:spPr>
          <a:xfrm>
            <a:off x="7808976" y="111556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Badges</a:t>
            </a:r>
            <a:endParaRPr lang="en-US" sz="1400" dirty="0"/>
          </a:p>
        </p:txBody>
      </p:sp>
      <p:sp>
        <p:nvSpPr>
          <p:cNvPr id="59" name="Shape 52"/>
          <p:cNvSpPr/>
          <p:nvPr/>
        </p:nvSpPr>
        <p:spPr>
          <a:xfrm>
            <a:off x="7296912" y="1691640"/>
            <a:ext cx="1335024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sp>
        <p:nvSpPr>
          <p:cNvPr id="60" name="Text 53"/>
          <p:cNvSpPr txBox="1"/>
          <p:nvPr/>
        </p:nvSpPr>
        <p:spPr>
          <a:xfrm>
            <a:off x="7296912" y="1691640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BadgeProgress</a:t>
            </a:r>
            <a:endParaRPr lang="en-US" sz="1100" dirty="0"/>
          </a:p>
        </p:txBody>
      </p:sp>
      <p:sp>
        <p:nvSpPr>
          <p:cNvPr id="61" name="Shape 54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21818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62" name="Text 55"/>
          <p:cNvSpPr txBox="1"/>
          <p:nvPr/>
        </p:nvSpPr>
        <p:spPr>
          <a:xfrm>
            <a:off x="640080" y="40690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Event is the isolation boundary: </a:t>
            </a:r>
            <a:r>
              <a:rPr lang="en-US" sz="1300" dirty="0">
                <a:solidFill>
                  <a:schemeClr val="bg1"/>
                </a:solidFill>
              </a:rPr>
              <a:t>every event table has event_id · a user's rights come from the teams they are in, not from a global role</a:t>
            </a:r>
            <a:endParaRPr lang="en-US" sz="1300" dirty="0"/>
          </a:p>
        </p:txBody>
      </p:sp>
      <p:sp>
        <p:nvSpPr>
          <p:cNvPr id="6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</a:rPr>
              <a:t>Architecture: five services, events in between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55448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Web app (React)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phone · laptop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011680" y="1440180"/>
            <a:ext cx="411480" cy="0"/>
          </a:xfrm>
          <a:prstGeom prst="line">
            <a:avLst/>
          </a:prstGeom>
          <a:noFill/>
          <a:ln w="15875">
            <a:solidFill>
              <a:srgbClr val="5B6B7F"/>
            </a:solidFill>
            <a:prstDash val="solid"/>
            <a:tailEnd type="triangle"/>
          </a:ln>
        </p:spPr>
        <p:txBody>
          <a:bodyPr/>
          <a:lstStyle/>
          <a:p>
            <a:endParaRPr lang="en-PT"/>
          </a:p>
        </p:txBody>
      </p:sp>
      <p:sp>
        <p:nvSpPr>
          <p:cNvPr id="6" name="Shape 4"/>
          <p:cNvSpPr/>
          <p:nvPr/>
        </p:nvSpPr>
        <p:spPr>
          <a:xfrm>
            <a:off x="2423160" y="1051560"/>
            <a:ext cx="1371600" cy="777240"/>
          </a:xfrm>
          <a:prstGeom prst="roundRect">
            <a:avLst>
              <a:gd name="adj" fmla="val 9412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7" name="Text 5"/>
          <p:cNvSpPr txBox="1"/>
          <p:nvPr/>
        </p:nvSpPr>
        <p:spPr>
          <a:xfrm>
            <a:off x="2423160" y="10515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API gateway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JWT · CORS · rate limit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23160" y="2057400"/>
            <a:ext cx="137160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rgbClr val="8FA9B8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sp>
        <p:nvSpPr>
          <p:cNvPr id="9" name="Text 7"/>
          <p:cNvSpPr txBox="1"/>
          <p:nvPr/>
        </p:nvSpPr>
        <p:spPr>
          <a:xfrm>
            <a:off x="2423160" y="20574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Keycloak (OIDC)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94760" y="1440180"/>
            <a:ext cx="320040" cy="0"/>
          </a:xfrm>
          <a:prstGeom prst="line">
            <a:avLst/>
          </a:prstGeom>
          <a:noFill/>
          <a:ln w="15875">
            <a:solidFill>
              <a:srgbClr val="5B6B7F"/>
            </a:solidFill>
            <a:prstDash val="solid"/>
            <a:tailEnd type="triangle"/>
          </a:ln>
        </p:spPr>
        <p:txBody>
          <a:bodyPr/>
          <a:lstStyle/>
          <a:p>
            <a:endParaRPr lang="en-PT"/>
          </a:p>
        </p:txBody>
      </p:sp>
      <p:sp>
        <p:nvSpPr>
          <p:cNvPr id="11" name="Shape 9"/>
          <p:cNvSpPr/>
          <p:nvPr/>
        </p:nvSpPr>
        <p:spPr>
          <a:xfrm>
            <a:off x="4114800" y="1051560"/>
            <a:ext cx="841248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2" name="Text 10"/>
          <p:cNvSpPr txBox="1"/>
          <p:nvPr/>
        </p:nvSpPr>
        <p:spPr>
          <a:xfrm>
            <a:off x="4114800" y="1051560"/>
            <a:ext cx="841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Auth &amp; Users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06824" y="1938528"/>
            <a:ext cx="457200" cy="502920"/>
          </a:xfrm>
          <a:prstGeom prst="can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4" name="Text 12"/>
          <p:cNvSpPr txBox="1"/>
          <p:nvPr/>
        </p:nvSpPr>
        <p:spPr>
          <a:xfrm>
            <a:off x="4306824" y="202996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DB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0" y="1051560"/>
            <a:ext cx="841248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6" name="Text 14"/>
          <p:cNvSpPr txBox="1"/>
          <p:nvPr/>
        </p:nvSpPr>
        <p:spPr>
          <a:xfrm>
            <a:off x="5029200" y="1051560"/>
            <a:ext cx="841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Events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221224" y="1938528"/>
            <a:ext cx="457200" cy="502920"/>
          </a:xfrm>
          <a:prstGeom prst="can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8" name="Text 16"/>
          <p:cNvSpPr txBox="1"/>
          <p:nvPr/>
        </p:nvSpPr>
        <p:spPr>
          <a:xfrm>
            <a:off x="5221224" y="202996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DB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051560"/>
            <a:ext cx="841248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20" name="Text 18"/>
          <p:cNvSpPr txBox="1"/>
          <p:nvPr/>
        </p:nvSpPr>
        <p:spPr>
          <a:xfrm>
            <a:off x="5943600" y="1051560"/>
            <a:ext cx="841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Reports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35624" y="1938528"/>
            <a:ext cx="457200" cy="502920"/>
          </a:xfrm>
          <a:prstGeom prst="can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22" name="Text 20"/>
          <p:cNvSpPr txBox="1"/>
          <p:nvPr/>
        </p:nvSpPr>
        <p:spPr>
          <a:xfrm>
            <a:off x="6135624" y="202996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DB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0" y="1051560"/>
            <a:ext cx="841248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24" name="Text 22"/>
          <p:cNvSpPr txBox="1"/>
          <p:nvPr/>
        </p:nvSpPr>
        <p:spPr>
          <a:xfrm>
            <a:off x="6858000" y="1051560"/>
            <a:ext cx="841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Transports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050024" y="1938528"/>
            <a:ext cx="457200" cy="502920"/>
          </a:xfrm>
          <a:prstGeom prst="can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26" name="Text 24"/>
          <p:cNvSpPr txBox="1"/>
          <p:nvPr/>
        </p:nvSpPr>
        <p:spPr>
          <a:xfrm>
            <a:off x="7050024" y="202996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DB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772400" y="1051560"/>
            <a:ext cx="841248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28" name="Text 26"/>
          <p:cNvSpPr txBox="1"/>
          <p:nvPr/>
        </p:nvSpPr>
        <p:spPr>
          <a:xfrm>
            <a:off x="7772400" y="1051560"/>
            <a:ext cx="841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Badges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964424" y="1938528"/>
            <a:ext cx="457200" cy="502920"/>
          </a:xfrm>
          <a:prstGeom prst="can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30" name="Text 28"/>
          <p:cNvSpPr txBox="1"/>
          <p:nvPr/>
        </p:nvSpPr>
        <p:spPr>
          <a:xfrm>
            <a:off x="7964424" y="202996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DB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114800" y="2606040"/>
            <a:ext cx="4498848" cy="43891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32" name="Text 30"/>
          <p:cNvSpPr txBox="1"/>
          <p:nvPr/>
        </p:nvSpPr>
        <p:spPr>
          <a:xfrm>
            <a:off x="4114800" y="2606040"/>
            <a:ext cx="4498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RabbitMQ · outbox + idempotent consumers · dead-letter queues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989320" y="3200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External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989320" y="3493008"/>
            <a:ext cx="128016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rgbClr val="8FA9B8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sp>
        <p:nvSpPr>
          <p:cNvPr id="35" name="Text 33"/>
          <p:cNvSpPr txBox="1"/>
          <p:nvPr/>
        </p:nvSpPr>
        <p:spPr>
          <a:xfrm>
            <a:off x="5989320" y="3493008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Ollama · qwen3:4b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via WireMock, called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by Reports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60920" y="3493008"/>
            <a:ext cx="132588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rgbClr val="8FA9B8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sp>
        <p:nvSpPr>
          <p:cNvPr id="37" name="Text 35"/>
          <p:cNvSpPr txBox="1"/>
          <p:nvPr/>
        </p:nvSpPr>
        <p:spPr>
          <a:xfrm>
            <a:off x="7360920" y="3493008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Porto Digital API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via WireMock, read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by Transports / 30 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324612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Microservices: </a:t>
            </a:r>
            <a:r>
              <a:rPr lang="en-US" sz="1200" dirty="0">
                <a:solidFill>
                  <a:schemeClr val="tx1"/>
                </a:solidFill>
              </a:rPr>
              <a:t>own Maven project, Dockerfile and database each (ADR-001, 003)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365760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Only events between services: </a:t>
            </a:r>
            <a:r>
              <a:rPr lang="en-US" sz="1200" dirty="0">
                <a:solidFill>
                  <a:schemeClr val="tx1"/>
                </a:solidFill>
              </a:rPr>
              <a:t>no service calls another's API; local copies (ADR-004)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406908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Degraded modes: </a:t>
            </a:r>
            <a:r>
              <a:rPr lang="en-US" sz="1200" dirty="0">
                <a:solidFill>
                  <a:schemeClr val="tx1"/>
                </a:solidFill>
              </a:rPr>
              <a:t>AI down → “Not triaged”; transport down → last data + warning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46451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C4 inside 4+1 views, drawn in draw.io (ADR-009) · local delivery with Docker Compose, authorised by the professor (ADR-011)</a:t>
            </a:r>
            <a:endParaRPr lang="en-US" sz="11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</a:rPr>
              <a:t>Technology and key decisions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3774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P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34" y="136611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143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Backend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463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Java 21 · Spring Boot 4 · Maven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971800" y="1005840"/>
            <a:ext cx="23774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9" name="Shape 6"/>
          <p:cNvSpPr/>
          <p:nvPr/>
        </p:nvSpPr>
        <p:spPr>
          <a:xfrm>
            <a:off x="3108960" y="123444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PT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0634" y="136611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794760" y="1143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Frontend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794760" y="1463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One React web app, no install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2148840"/>
            <a:ext cx="23774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4" name="Shape 10"/>
          <p:cNvSpPr/>
          <p:nvPr/>
        </p:nvSpPr>
        <p:spPr>
          <a:xfrm>
            <a:off x="594360" y="237744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PT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034" y="250911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80160" y="2286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Data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280160" y="2606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PostgreSQL per service · Flyway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2971800" y="2148840"/>
            <a:ext cx="23774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9" name="Shape 14"/>
          <p:cNvSpPr/>
          <p:nvPr/>
        </p:nvSpPr>
        <p:spPr>
          <a:xfrm>
            <a:off x="3108960" y="237744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PT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0634" y="250911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3794760" y="2286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Messaging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3794760" y="2606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RabbitMQ · Spring AMQP · polling to UI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57200" y="3291840"/>
            <a:ext cx="23774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24" name="Shape 18"/>
          <p:cNvSpPr/>
          <p:nvPr/>
        </p:nvSpPr>
        <p:spPr>
          <a:xfrm>
            <a:off x="594360" y="352044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PT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034" y="3652114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280160" y="3429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Identity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1280160" y="3749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Keycloak · Spring Cloud Gateway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2971800" y="3291840"/>
            <a:ext cx="23774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29" name="Shape 22"/>
          <p:cNvSpPr/>
          <p:nvPr/>
        </p:nvSpPr>
        <p:spPr>
          <a:xfrm>
            <a:off x="3108960" y="352044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PT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40634" y="3652114"/>
            <a:ext cx="285293" cy="285293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3794760" y="3429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Delivery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3794760" y="3749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Actions · SonarQube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Compose · k6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5623560" y="1005840"/>
            <a:ext cx="3063240" cy="3291840"/>
          </a:xfrm>
          <a:prstGeom prst="roundRect">
            <a:avLst>
              <a:gd name="adj" fmla="val 358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34" name="Text 26"/>
          <p:cNvSpPr txBox="1"/>
          <p:nvPr/>
        </p:nvSpPr>
        <p:spPr>
          <a:xfrm>
            <a:off x="5852160" y="1143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13 ADRs</a:t>
            </a:r>
            <a:endParaRPr lang="en-US" sz="2200" dirty="0"/>
          </a:p>
        </p:txBody>
      </p:sp>
      <p:sp>
        <p:nvSpPr>
          <p:cNvPr id="35" name="Text 27"/>
          <p:cNvSpPr txBox="1"/>
          <p:nvPr/>
        </p:nvSpPr>
        <p:spPr>
          <a:xfrm>
            <a:off x="5852160" y="1600200"/>
            <a:ext cx="2743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001 Microservices from the start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002 Java + Spring · React web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003 One database per service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004 Events only, outbox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005 AI triage: local Ollama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006 Keycloak, roles in Auth &amp; Users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007 Map: image + SVG overlay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008 Porto Digital, every 30 s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009 C4 inside 4+1 views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010 CI/CD with GitHub Actions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011 Local delivery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012 Observability: Prometheus, Grafana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013 API gateway</a:t>
            </a:r>
            <a:endParaRPr lang="en-US" sz="1100" dirty="0"/>
          </a:p>
        </p:txBody>
      </p:sp>
      <p:sp>
        <p:nvSpPr>
          <p:cNvPr id="36" name="Text 28"/>
          <p:cNvSpPr txBox="1"/>
          <p:nvPr/>
        </p:nvSpPr>
        <p:spPr>
          <a:xfrm>
            <a:off x="457200" y="46451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Every ADR records the choice, the alternatives and why · architecture.md §12–13</a:t>
            </a:r>
            <a:endParaRPr lang="en-US" sz="11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</a:rPr>
              <a:t>Assumptions and dependencies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Critical assumptions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5" name="Shape 3"/>
          <p:cNvSpPr/>
          <p:nvPr/>
        </p:nvSpPr>
        <p:spPr>
          <a:xfrm>
            <a:off x="594360" y="155448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6" name="Text 4"/>
          <p:cNvSpPr txBox="1"/>
          <p:nvPr/>
        </p:nvSpPr>
        <p:spPr>
          <a:xfrm>
            <a:off x="59436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A2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463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Students use the app during the night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82880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Supported: 87 % say they would (intention)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59152"/>
            <a:ext cx="40233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0" name="Shape 8"/>
          <p:cNvSpPr/>
          <p:nvPr/>
        </p:nvSpPr>
        <p:spPr>
          <a:xfrm>
            <a:off x="594360" y="254203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1" name="Text 9"/>
          <p:cNvSpPr txBox="1"/>
          <p:nvPr/>
        </p:nvSpPr>
        <p:spPr>
          <a:xfrm>
            <a:off x="594360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A3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4505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One app for many events, link or QR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81635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Partly: 39 % name installing as a barrier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346704"/>
            <a:ext cx="40233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5" name="Shape 13"/>
          <p:cNvSpPr/>
          <p:nvPr/>
        </p:nvSpPr>
        <p:spPr>
          <a:xfrm>
            <a:off x="594360" y="3529584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6" name="Text 14"/>
          <p:cNvSpPr txBox="1"/>
          <p:nvPr/>
        </p:nvSpPr>
        <p:spPr>
          <a:xfrm>
            <a:off x="594360" y="3529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A4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43814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Help through the app is faster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80390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Not validated: interview pending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Dependencies and fallbacks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754880" y="1408176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PT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830" y="1509126"/>
            <a:ext cx="218724" cy="218724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5303520" y="137160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Porto Digital bus API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→ WireMock with recorded responses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754880" y="2002536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PT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830" y="2103486"/>
            <a:ext cx="218724" cy="218724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5303520" y="196596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Local AI model (Ollama)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→ Manual triage, nothing lost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754880" y="2596896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PT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5830" y="2697846"/>
            <a:ext cx="218724" cy="21872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5303520" y="256032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Organisers' venue maps (A5)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→ Image or PDF upload, 20 MB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4754880" y="3191256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PT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5830" y="3292206"/>
            <a:ext cx="218724" cy="218724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5303520" y="315468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Access to an organiser and a volunteer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→ Public data; limitation stated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4754880" y="3785616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PT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5830" y="3886566"/>
            <a:ext cx="218724" cy="218724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5303520" y="374904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One laptop for the demo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→ Local delivery, backup laptop</a:t>
            </a:r>
            <a:endParaRPr lang="en-US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457200" y="46451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A1, A5–A9 and the full risk list: Problem and Opportunity Report §5</a:t>
            </a:r>
            <a:endParaRPr lang="en-US" sz="11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</a:rPr>
              <a:t>Operating costs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596896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4" name="Text 2"/>
          <p:cNvSpPr txBox="1"/>
          <p:nvPr/>
        </p:nvSpPr>
        <p:spPr>
          <a:xfrm>
            <a:off x="640080" y="11430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58,511 €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556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Development, whole project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6 roles full time, 3.35 months; salaries 58,170 €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73552" y="1005840"/>
            <a:ext cx="2596896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8" name="Text 6"/>
          <p:cNvSpPr txBox="1"/>
          <p:nvPr/>
        </p:nvSpPr>
        <p:spPr>
          <a:xfrm>
            <a:off x="3456432" y="11430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3,406 €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456432" y="17556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Maintenance, per month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56432" y="2103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1 FTE + 377 € a month of infrastructure (358 € cloud)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9904" y="1005840"/>
            <a:ext cx="2596896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2" name="Text 10"/>
          <p:cNvSpPr txBox="1"/>
          <p:nvPr/>
        </p:nvSpPr>
        <p:spPr>
          <a:xfrm>
            <a:off x="6272784" y="11430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≈ 99,380 €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272784" y="17556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Development + first year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72784" y="2103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the order of magnitude for an organiser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150876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6" name="Text 14"/>
          <p:cNvSpPr txBox="1"/>
          <p:nvPr/>
        </p:nvSpPr>
        <p:spPr>
          <a:xfrm>
            <a:off x="685800" y="3017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Why the delivery is local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401568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Local: 0 € beyond Copilot (notional 102 €/month), from Sprint B the five services and six databases on a laptop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Cloud demo ≈ 301 € and continuous operation 358 €/month, against a one-off student credit of 89 €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Authorised by the professor; the cloud evaluation is kept (ADR-011)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6451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Euros without VAT · junior 1,816 € and middle 2,380 € gross, 14 payments (Teamlyzer, Oct 2026)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</a:rPr>
              <a:t>Non-functional requirements: 34, each measurable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596896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P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1309421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25272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Performance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288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Help request in the backoffice p95 ≤ 5 s · AI suggestion ≤ 30 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73552" y="1005840"/>
            <a:ext cx="2596896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9" name="Shape 6"/>
          <p:cNvSpPr/>
          <p:nvPr/>
        </p:nvSpPr>
        <p:spPr>
          <a:xfrm>
            <a:off x="3456432" y="118872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PT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7133" y="130942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96512" y="125272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Load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56432" y="18288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1,300 read req/s for 10 min: errors &lt; 1 %, p95 &lt; 500 ms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089904" y="1005840"/>
            <a:ext cx="2596896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4" name="Shape 10"/>
          <p:cNvSpPr/>
          <p:nvPr/>
        </p:nvSpPr>
        <p:spPr>
          <a:xfrm>
            <a:off x="6272784" y="118872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PT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3485" y="1309421"/>
            <a:ext cx="261518" cy="26151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12864" y="125272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Reliability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272784" y="18288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AI down: 100 % of requests shown, “Not triaged” · 0 lost messages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57200" y="2743200"/>
            <a:ext cx="2596896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9" name="Shape 14"/>
          <p:cNvSpPr/>
          <p:nvPr/>
        </p:nvSpPr>
        <p:spPr>
          <a:xfrm>
            <a:off x="640080" y="292608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PT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781" y="3046781"/>
            <a:ext cx="261518" cy="26151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80160" y="299008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Security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5661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0 cross-event access; FarolAdmin sees no event data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3273552" y="2743200"/>
            <a:ext cx="2596896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24" name="Shape 18"/>
          <p:cNvSpPr/>
          <p:nvPr/>
        </p:nvSpPr>
        <p:spPr>
          <a:xfrm>
            <a:off x="3456432" y="292608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PT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7133" y="3046781"/>
            <a:ext cx="261518" cy="26151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96512" y="299008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Privacy (RGPD)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3456432" y="35661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Location only with a request · no personal data in telemetry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089904" y="2743200"/>
            <a:ext cx="2596896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29" name="Shape 22"/>
          <p:cNvSpPr/>
          <p:nvPr/>
        </p:nvSpPr>
        <p:spPr>
          <a:xfrm>
            <a:off x="6272784" y="292608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PT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3485" y="3046781"/>
            <a:ext cx="261518" cy="26151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912864" y="299008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Usability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6272784" y="35661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WCAG 2.1 AA on Ask for help, the map and the request list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457200" y="46451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ISO/IEC 25010 categories · each with a target and how it is verified · validated with the team on 26 Oct 2026</a:t>
            </a:r>
            <a:endParaRPr lang="en-US" sz="11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</a:rPr>
              <a:t>People and responsibilities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4" name="Text 2"/>
          <p:cNvSpPr txBox="1"/>
          <p:nvPr/>
        </p:nvSpPr>
        <p:spPr>
          <a:xfrm>
            <a:off x="685800" y="11155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Tiago Teixeira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1155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00" b="1" dirty="0">
                <a:solidFill>
                  <a:schemeClr val="accent2"/>
                </a:solidFill>
              </a:rPr>
              <a:t>Product and backlog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0876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Problem report and survey · backlog and sprint plan · NFRs · resilience and degraded modes · venue map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0233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8" name="Text 6"/>
          <p:cNvSpPr txBox="1"/>
          <p:nvPr/>
        </p:nvSpPr>
        <p:spPr>
          <a:xfrm>
            <a:off x="4892040" y="11155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Tomás Oliveira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11155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00" b="1" dirty="0">
                <a:solidFill>
                  <a:schemeClr val="accent2"/>
                </a:solidFill>
              </a:rPr>
              <a:t>Platform and AI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50876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chemeClr val="tx1"/>
                </a:solidFill>
              </a:rPr>
              <a:t>Repository owner · walking skeleton · AI integration and evaluation · </a:t>
            </a:r>
            <a:r>
              <a:rPr lang="en-US" sz="1200" dirty="0"/>
              <a:t>observability · Domain Model · Static Analysis</a:t>
            </a:r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40233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2" name="Text 10"/>
          <p:cNvSpPr txBox="1"/>
          <p:nvPr/>
        </p:nvSpPr>
        <p:spPr>
          <a:xfrm>
            <a:off x="685800" y="25328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Bruno Lopes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560320" y="25328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Design and delivery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292608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Market analysis · architecture diagrams · CI/CD and local delivery · API outline · cost estimate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423160"/>
            <a:ext cx="40233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6" name="Text 14"/>
          <p:cNvSpPr txBox="1"/>
          <p:nvPr/>
        </p:nvSpPr>
        <p:spPr>
          <a:xfrm>
            <a:off x="4892040" y="25328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António Guerra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25328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Security and integration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292608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chemeClr val="tx1"/>
                </a:solidFill>
              </a:rPr>
              <a:t>Security and privacy assessment · Keycloak and API gateway · Porto </a:t>
            </a:r>
            <a:r>
              <a:rPr lang="en-US" sz="1200">
                <a:solidFill>
                  <a:schemeClr val="tx1"/>
                </a:solidFill>
              </a:rPr>
              <a:t>Digital </a:t>
            </a:r>
            <a:r>
              <a:rPr lang="en-US" sz="1200"/>
              <a:t>simulator · Domain Model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chemeClr val="accent3"/>
                </a:solidFill>
              </a:rPr>
              <a:t>Roles are taken per task, not per person; everyone codes and reviews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224528"/>
            <a:ext cx="1280160" cy="347472"/>
          </a:xfrm>
          <a:prstGeom prst="roundRect">
            <a:avLst>
              <a:gd name="adj" fmla="val 2105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21" name="Text 19"/>
          <p:cNvSpPr txBox="1"/>
          <p:nvPr/>
        </p:nvSpPr>
        <p:spPr>
          <a:xfrm>
            <a:off x="457200" y="42245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Product Owner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847088" y="4224528"/>
            <a:ext cx="1280160" cy="347472"/>
          </a:xfrm>
          <a:prstGeom prst="roundRect">
            <a:avLst>
              <a:gd name="adj" fmla="val 2105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23" name="Text 21"/>
          <p:cNvSpPr txBox="1"/>
          <p:nvPr/>
        </p:nvSpPr>
        <p:spPr>
          <a:xfrm>
            <a:off x="1847088" y="42245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Scrum Master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36976" y="4224528"/>
            <a:ext cx="1280160" cy="347472"/>
          </a:xfrm>
          <a:prstGeom prst="roundRect">
            <a:avLst>
              <a:gd name="adj" fmla="val 2105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25" name="Text 23"/>
          <p:cNvSpPr txBox="1"/>
          <p:nvPr/>
        </p:nvSpPr>
        <p:spPr>
          <a:xfrm>
            <a:off x="3236976" y="42245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Tech lead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26864" y="4224528"/>
            <a:ext cx="1280160" cy="347472"/>
          </a:xfrm>
          <a:prstGeom prst="roundRect">
            <a:avLst>
              <a:gd name="adj" fmla="val 2105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27" name="Text 25"/>
          <p:cNvSpPr txBox="1"/>
          <p:nvPr/>
        </p:nvSpPr>
        <p:spPr>
          <a:xfrm>
            <a:off x="4626864" y="42245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QA lead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16752" y="4224528"/>
            <a:ext cx="1280160" cy="347472"/>
          </a:xfrm>
          <a:prstGeom prst="roundRect">
            <a:avLst>
              <a:gd name="adj" fmla="val 2105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29" name="Text 27"/>
          <p:cNvSpPr txBox="1"/>
          <p:nvPr/>
        </p:nvSpPr>
        <p:spPr>
          <a:xfrm>
            <a:off x="6016752" y="42245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DevOps lead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406640" y="4224528"/>
            <a:ext cx="1280160" cy="347472"/>
          </a:xfrm>
          <a:prstGeom prst="roundRect">
            <a:avLst>
              <a:gd name="adj" fmla="val 2105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31" name="Text 29"/>
          <p:cNvSpPr txBox="1"/>
          <p:nvPr/>
        </p:nvSpPr>
        <p:spPr>
          <a:xfrm>
            <a:off x="7406640" y="42245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AI lead</a:t>
            </a:r>
            <a:endParaRPr lang="en-US" sz="11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</a:rPr>
              <a:t>How we 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517904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4" name="Shape 2"/>
          <p:cNvSpPr/>
          <p:nvPr/>
        </p:nvSpPr>
        <p:spPr>
          <a:xfrm>
            <a:off x="941832" y="109728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P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506" y="122895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173736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Issue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956816" y="13258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3"/>
                </a:solidFill>
              </a:rPr>
              <a:t>›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139696" y="1005840"/>
            <a:ext cx="1517904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9" name="Shape 6"/>
          <p:cNvSpPr/>
          <p:nvPr/>
        </p:nvSpPr>
        <p:spPr>
          <a:xfrm>
            <a:off x="2624328" y="109728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PT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6002" y="122895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39696" y="173736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Branch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639312" y="13258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3"/>
                </a:solidFill>
              </a:rPr>
              <a:t>›</a:t>
            </a:r>
            <a:endParaRPr lang="en-US" sz="2400" dirty="0"/>
          </a:p>
        </p:txBody>
      </p:sp>
      <p:sp>
        <p:nvSpPr>
          <p:cNvPr id="13" name="Shape 9"/>
          <p:cNvSpPr/>
          <p:nvPr/>
        </p:nvSpPr>
        <p:spPr>
          <a:xfrm>
            <a:off x="3822192" y="1005840"/>
            <a:ext cx="1517904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4" name="Shape 10"/>
          <p:cNvSpPr/>
          <p:nvPr/>
        </p:nvSpPr>
        <p:spPr>
          <a:xfrm>
            <a:off x="4306824" y="109728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PT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8498" y="122895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822192" y="173736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Pull request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5321808" y="13258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3"/>
                </a:solidFill>
              </a:rPr>
              <a:t>›</a:t>
            </a:r>
            <a:endParaRPr lang="en-US" sz="2400" dirty="0"/>
          </a:p>
        </p:txBody>
      </p:sp>
      <p:sp>
        <p:nvSpPr>
          <p:cNvPr id="18" name="Shape 13"/>
          <p:cNvSpPr/>
          <p:nvPr/>
        </p:nvSpPr>
        <p:spPr>
          <a:xfrm>
            <a:off x="5504688" y="1005840"/>
            <a:ext cx="1517904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9" name="Shape 14"/>
          <p:cNvSpPr/>
          <p:nvPr/>
        </p:nvSpPr>
        <p:spPr>
          <a:xfrm>
            <a:off x="5989320" y="109728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PT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0994" y="122895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504688" y="173736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Review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7004304" y="13258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3"/>
                </a:solidFill>
              </a:rPr>
              <a:t>›</a:t>
            </a:r>
            <a:endParaRPr lang="en-US" sz="2400" dirty="0"/>
          </a:p>
        </p:txBody>
      </p:sp>
      <p:sp>
        <p:nvSpPr>
          <p:cNvPr id="23" name="Shape 17"/>
          <p:cNvSpPr/>
          <p:nvPr/>
        </p:nvSpPr>
        <p:spPr>
          <a:xfrm>
            <a:off x="7187184" y="1005840"/>
            <a:ext cx="1517904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24" name="Shape 18"/>
          <p:cNvSpPr/>
          <p:nvPr/>
        </p:nvSpPr>
        <p:spPr>
          <a:xfrm>
            <a:off x="7671816" y="109728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PT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03490" y="1228954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187184" y="173736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Squash merge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457200" y="2377440"/>
            <a:ext cx="2596896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28" name="Text 21"/>
          <p:cNvSpPr txBox="1"/>
          <p:nvPr/>
        </p:nvSpPr>
        <p:spPr>
          <a:xfrm>
            <a:off x="640080" y="24871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GitHub Flow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640080" y="28803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One story = one issue = one PR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Conventions check on every PR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main always deployable, no direct pushes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3273552" y="2377440"/>
            <a:ext cx="2596896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31" name="Text 24"/>
          <p:cNvSpPr txBox="1"/>
          <p:nvPr/>
        </p:nvSpPr>
        <p:spPr>
          <a:xfrm>
            <a:off x="3456432" y="24871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Quality gates</a:t>
            </a:r>
            <a:endParaRPr lang="en-US" sz="1600" dirty="0"/>
          </a:p>
        </p:txBody>
      </p:sp>
      <p:sp>
        <p:nvSpPr>
          <p:cNvPr id="32" name="Text 25"/>
          <p:cNvSpPr txBox="1"/>
          <p:nvPr/>
        </p:nvSpPr>
        <p:spPr>
          <a:xfrm>
            <a:off x="3456432" y="28803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Required on main: one team approval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DoD: CI green (build, tests, image, smoke test)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DoD: all conversations resolved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6089904" y="2377440"/>
            <a:ext cx="2596896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34" name="Text 27"/>
          <p:cNvSpPr txBox="1"/>
          <p:nvPr/>
        </p:nvSpPr>
        <p:spPr>
          <a:xfrm>
            <a:off x="6272784" y="24871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Rhythm</a:t>
            </a:r>
            <a:endParaRPr lang="en-US" sz="1600" dirty="0"/>
          </a:p>
        </p:txBody>
      </p:sp>
      <p:sp>
        <p:nvSpPr>
          <p:cNvPr id="35" name="Text 28"/>
          <p:cNvSpPr txBox="1"/>
          <p:nvPr/>
        </p:nvSpPr>
        <p:spPr>
          <a:xfrm>
            <a:off x="6272784" y="28803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Planning every week, in class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Stand-up every weekend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Sprint review with investors</a:t>
            </a:r>
            <a:endParaRPr lang="en-US" sz="1300" dirty="0"/>
          </a:p>
        </p:txBody>
      </p:sp>
      <p:sp>
        <p:nvSpPr>
          <p:cNvPr id="36" name="Text 29"/>
          <p:cNvSpPr txBox="1"/>
          <p:nvPr/>
        </p:nvSpPr>
        <p:spPr>
          <a:xfrm>
            <a:off x="457200" y="46451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Board: GitHub Projects (Backlog → Ready → In progress → In review → Done) · everything in English, notes in Portuguese</a:t>
            </a:r>
            <a:endParaRPr lang="en-US" sz="11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</a:rPr>
              <a:t>Definition of Ready and Done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P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4" y="127467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188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Ready (to enter a sprint)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92024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User story with a persona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Given / When / Then criteria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Dependencies known, none blocking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Issue on the board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AI: fallback described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663440" y="100584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9" name="Shape 6"/>
          <p:cNvSpPr/>
          <p:nvPr/>
        </p:nvSpPr>
        <p:spPr>
          <a:xfrm>
            <a:off x="4892040" y="114300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PT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3714" y="127467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77840" y="1188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Done (story merged and)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192024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All acceptance criteria pass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Automated tests cover them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Cross-event access tested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Structured logs with correlation ID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main green, accepted by the PO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46451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Agreed on 8 Oct 2026 · built into the issue forms and the PR template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rol">
  <a:themeElements>
    <a:clrScheme name="Farol">
      <a:dk1>
        <a:srgbClr val="1B2430"/>
      </a:dk1>
      <a:lt1>
        <a:srgbClr val="FFFFFF"/>
      </a:lt1>
      <a:dk2>
        <a:srgbClr val="0B1F3A"/>
      </a:dk2>
      <a:lt2>
        <a:srgbClr val="EEF2F7"/>
      </a:lt2>
      <a:accent1>
        <a:srgbClr val="F5B301"/>
      </a:accent1>
      <a:accent2>
        <a:srgbClr val="1F4E79"/>
      </a:accent2>
      <a:accent3>
        <a:srgbClr val="5B6B7F"/>
      </a:accent3>
      <a:accent4>
        <a:srgbClr val="2E8B57"/>
      </a:accent4>
      <a:accent5>
        <a:srgbClr val="C0392B"/>
      </a:accent5>
      <a:accent6>
        <a:srgbClr val="8FA9B8"/>
      </a:accent6>
      <a:hlink>
        <a:srgbClr val="1F4E79"/>
      </a:hlink>
      <a:folHlink>
        <a:srgbClr val="5B6B7F"/>
      </a:folHlink>
    </a:clrScheme>
    <a:fontScheme name="Faro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2571</Words>
  <Application>Microsoft Macintosh PowerPoint</Application>
  <PresentationFormat>On-screen Show (16:9)</PresentationFormat>
  <Paragraphs>232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Farol</vt:lpstr>
      <vt:lpstr>PowerPoint Presentation</vt:lpstr>
      <vt:lpstr>Domain model</vt:lpstr>
      <vt:lpstr>Architecture: five services, events in between</vt:lpstr>
      <vt:lpstr>Technology and key decisions</vt:lpstr>
      <vt:lpstr>Assumptions and dependencies</vt:lpstr>
      <vt:lpstr>Operating costs</vt:lpstr>
      <vt:lpstr>Non-functional requirements: 34, each measurable</vt:lpstr>
      <vt:lpstr>People and responsibilities</vt:lpstr>
      <vt:lpstr>How we work</vt:lpstr>
      <vt:lpstr>Definition of Ready and Done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Farol · Sprint A</dc:title>
  <dc:subject>PptxGenJS Presentation</dc:subject>
  <dc:creator>Farol team (LABDSOF 2026/27)</dc:creator>
  <cp:lastModifiedBy>Tomás Afonso Soares De Oliveira</cp:lastModifiedBy>
  <cp:revision>2</cp:revision>
  <dcterms:created xsi:type="dcterms:W3CDTF">2026-10-31T17:46:06Z</dcterms:created>
  <dcterms:modified xsi:type="dcterms:W3CDTF">2026-11-01T22:05:41Z</dcterms:modified>
</cp:coreProperties>
</file>