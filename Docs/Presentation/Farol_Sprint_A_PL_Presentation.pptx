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8"/>
    <p:sldId id="263" r:id="rId9"/>
    <p:sldId id="264" r:id="rId10"/>
    <p:sldId id="265" r:id="rId11"/>
    <p:sldId id="266" r:id="rId12"/>
    <p:sldId id="268" r:id="rId14"/>
    <p:sldId id="270" r:id="rId16"/>
    <p:sldId id="271" r:id="rId17"/>
    <p:sldId id="272" r:id="rId18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caf8f23-3048-a462-1b6b-8852486b0395}">
          <p14:sldIdLst>
            <p14:sldId id="256"/>
          </p14:sldIdLst>
        </p14:section>
        <p14:section name="Design" id="{27800aa2-b1a1-0314-9798-b1adda926b5e}">
          <p14:sldIdLst>
            <p14:sldId id="262"/>
            <p14:sldId id="263"/>
            <p14:sldId id="264"/>
            <p14:sldId id="265"/>
          </p14:sldIdLst>
        </p14:section>
        <p14:section name="Plan" id="{a51a2b36-4e5f-146a-4e98-265bd08e512f}">
          <p14:sldIdLst>
            <p14:sldId id="266"/>
            <p14:sldId id="268"/>
          </p14:sldIdLst>
        </p14:section>
        <p14:section name="Team" id="{bbf90b3d-cc83-282f-dbf8-9d0d27506586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modelo de domínio está dividido pelos cinco serviços, e cada um é dono dos seus dados. Auth &amp; Users tem as contas, o único papel global, FarolAdmin, e a pertença de cada pessoa a cada evento e às suas equipas. Events tem o evento, as equipas e as suas permissões, as versões da planta, os pontos de interesse e os avisos. Reports tem os pedidos de ajuda, a sugestão de triagem, os reports da comunidade e as tarefas enviadas às equipas no terreno, com histórico de auditoria. Transports tem as opções de transporte e as observações dos autocarros. Badges calcula o progresso. A regra mais importante: o evento é a fronteira de isolamento. Todas as tabelas de um evento têm event_id, e o que cada pessoa pode fazer vem das equipas onde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A arquitetura. Há uma única aplicação web em React, com páginas pensadas para o telemóvel ou para o portátil. Tudo entra pelo API gateway, que valida o token do Keycloak, aplica CORS e limites por conta. Atrás há cinco microserviços em Spring Boot, cada um com a sua base de dados PostgreSQL e o seu Dockerfile. Esta é a arquitetura alvo: hoje corre só o Reports, o walking skeleton, e o resto chega nos Sprints B e C. Os serviços não chamam a API uns dos outros: comunicam só por eventos no RabbitMQ, com tabela de outbox, consumidores idempotentes e filas de dead letter, por isso nenhum pedido se perde. A triagem é o fluxo assíncrono: o Reports publica o pedido e o worker chama o modelo local, Ollama com qwen3 de 4 mil milhões de parâmetros, através do WireMock, que também serve para simular falhas. A integração externa é a API de autocarros do Porto Digital, com o WireMock para testes e para a demo. Os dois modos degradados: sem IA, o pedido aparece como Não triado; sem transportes, mostramos os últimos dados válidos com aviso. Tudo corre localmente com Docker Compose, com autorização do professor por causa dos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 stack: Java 21 com Spring Boot 4 no backend, uma aplicação React no frontend, PostgreSQL com Flyway, RabbitMQ para mensagens, Keycloak para identidade e Spring Cloud Gateway à entrada. A entrega usa GitHub Actions, com análise de qualidade no SonarQube Cloud, e Docker Compose, e os testes de carga usam k6. Todas as decisões estão em 13 ADRs, cada um com a escolha, as alternativas e o porquê. Estão todos aceites; nos da IA e da observabilidade falta ainda a evidência a correr, que chega com o Sprint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pressupostos críticos são três. A2: os estudantes usam a aplicação durante a noite. O inquérito apoia, 87 % diz que sim, mas é intenção, não comportamento. A3: uma aplicação para vários eventos, aberta por link ou QR. Em parte: 39 % diz que instalar mais uma app os afastaria, o que confirma a decisão de não exigir instalação. A4: pedir ajuda pela app é mais rápido. Ainda não está validado, depende da entrevista ao voluntário de segurança. À direita, as dependências, cada uma com o seu plano B: a API do Porto Digital tem o WireMock; a IA local tem a triagem manual; as plantas vêm das organizações em imagem ou PDF; o acesso à organização é limitado e está documentado; e a demo corre num portátil, com outro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custos, com salários e infraestrutura, como o professor pediu. O desenvolvimento do projeto inteiro, com seis papéis a tempo inteiro durante 3,35 meses, custa cerca de 58 500 euros, quase tudo salários. A manutenção, com uma pessoa e produção na cloud, custa cerca de 3 400 euros por mês. Desenvolvimento mais o primeiro ano dá perto de 100 mil euros, a ordem de grandeza para uma organização. A entrega é local por causa do custo: localmente só pagamos o Copilot, enquanto a demo na cloud custaria cerca de 300 euros e a operação contínua 358 euros por mês, contra um crédito único de estudante de 89 euros. O professor autorizou a entrega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Temos 34 requisitos não funcionais, organizados pelas categorias da ISO 25010, cada um com uma meta e a forma de o verificar. Alguns exemplos. Desempenho: um pedido de ajuda aparece no backoffice em 5 segundos no percentil 95, e a sugestão da IA chega em 30 segundos. Carga: o fim de um concerto, cerca de 1 300 pedidos de leitura por segundo durante 10 minutos, com menos de 1 % de erros. Fiabilidade: com a IA em baixo, 100 % dos pedidos continuam a aparecer, e nenhuma mensagem se perde. Segurança: zero acessos entre eventos. Privacidade: a localização só vai com o pedido e não há dados pessoais na telemetria. Usabilidade: WCAG 2.1 AA nas páginas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Cada um de nós é responsável por áreas, mesmo que os papéis não estejam presos a pessoas. Eu, Tiago, fiquei com o produto e o backlog: o relatório do problema, o inquérito, o plano dos sprints, os NFRs e a resiliência. O Tomás é o dono do repositório e trata do walking skeleton, da IA e da observabilidade. O Bruno fez a análise de mercado, os diagramas, a estratégia de CI/CD e entrega local, o API outline e a estimativa de custos. O Guerra trata da segurança e privacidade, do Keycloak e do gateway, e do simulador do Porto Digital. Temos seis papéis definidos, de Product Owner a AI lead, assumidos por tarefa: todos programam e todos fazem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Trabalhamos com GitHub Flow. Todo o trabalho começa numa issue; a regra é uma user story, uma issue, um pull request. O branch é curto, o PR passa pela verificação automática das convenções, pelo pipeline de CI e pela aprovação de outro membro, e entra com squash merge. A revisão do Copilot é pedida em todos os PRs, mas até agora falhou sempre por falta de quota. O main está sempre pronto a entregar. Temos duas reuniões por semana: o planeamento na aula e o stand-up ao fim de semana, mais a review com os investidores no fim de cada sprint. O board do GitHub Projects segue o estado de cada item, de Backlog a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s) A Definition of Ready: uma story só entra num sprint se estiver escrita como user story com a persona, tiver critérios Given When Then testáveis, dependências conhecidas e nenhuma bloqueante, estiver no board e, se usar IA, descrever o comportamento de fallback. A Definition of Done: depois do merge, todos os critérios passam, estão cobertos por testes automáticos, o acesso entre eventos está testado, os logs são estruturados com correlation ID, o main fica verde e o Product Owner aceita. As duas estão nos formulários das issues e no template do PR, não só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Domain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214323"/>
            <a:ext cx="213970" cy="2139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 &amp; Users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UserAccount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GlobalRoleGrant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EventMembership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TeamAssignment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39696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2276856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611" y="1214323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761488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Events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249424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249424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249424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249424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Team, Permission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249424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9424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VenueMapVersion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9424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249424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PointOfInterest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49424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49424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Announcement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822192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3959352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107" y="1214323"/>
            <a:ext cx="213970" cy="21397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443984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3931920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HelpRequest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3931920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931920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TriageSuggestion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3931920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931920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CommunityReport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3931920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31920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FieldTask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3931920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931920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AuditEntry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5504688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4" name="Shape 39"/>
          <p:cNvSpPr/>
          <p:nvPr/>
        </p:nvSpPr>
        <p:spPr>
          <a:xfrm>
            <a:off x="5641848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603" y="1214323"/>
            <a:ext cx="213970" cy="21397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126480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Transports</a:t>
            </a:r>
            <a:endParaRPr lang="en-US" sz="1400" dirty="0"/>
          </a:p>
        </p:txBody>
      </p:sp>
      <p:sp>
        <p:nvSpPr>
          <p:cNvPr id="47" name="Shape 41"/>
          <p:cNvSpPr/>
          <p:nvPr/>
        </p:nvSpPr>
        <p:spPr>
          <a:xfrm>
            <a:off x="5614416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614416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TransportOption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5614416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614416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TransportDeparture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5614416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614416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BusVehicle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5614416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5614416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BusObservation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187184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6" name="Shape 50"/>
          <p:cNvSpPr/>
          <p:nvPr/>
        </p:nvSpPr>
        <p:spPr>
          <a:xfrm>
            <a:off x="7324344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1214323"/>
            <a:ext cx="213970" cy="213970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7808976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Badges</a:t>
            </a:r>
            <a:endParaRPr lang="en-US" sz="1400" dirty="0"/>
          </a:p>
        </p:txBody>
      </p:sp>
      <p:sp>
        <p:nvSpPr>
          <p:cNvPr id="59" name="Shape 52"/>
          <p:cNvSpPr/>
          <p:nvPr/>
        </p:nvSpPr>
        <p:spPr>
          <a:xfrm>
            <a:off x="7296912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7296912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BadgeProgress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Event is the isolation boundary: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event table has event_id · a user's rights come from the teams they are in, not from a global role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Architecture: five services, events in between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544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Web app (React)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phone · laptop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0" y="1440180"/>
            <a:ext cx="41148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23160" y="1051560"/>
            <a:ext cx="1371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23160" y="10515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 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JWT · CORS · rate limit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Keycloak (OIDC)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94760" y="1440180"/>
            <a:ext cx="32004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Auth &amp;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68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068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212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12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Reports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356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356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Transports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00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500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Badges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644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644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0" y="2606040"/>
            <a:ext cx="4498848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14800" y="2606040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RabbitMQ · outbox + idempotent consumers · dead-letter queues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External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493008"/>
            <a:ext cx="128016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9320" y="349300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Ollama · qwen3:4b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called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3493008"/>
            <a:ext cx="1325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60920" y="34930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Porto Digital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read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Transports / 30 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24612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Microservices: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 Maven project, Dockerfile and database each (ADR-001, 003)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Only events between 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service calls another's API; local copies (ADR-004)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Degraded modes: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down → “Not triaged”; transport down → last data + warning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C4 inside 4+1 views, drawn in draw.io (ADR-009) · local delivery with Docker Compose, authorised by the professor (ADR-011)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and key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4" y="13661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Java 21 · Spring Boot 4 · Maven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718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1089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634" y="13661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Frontend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React web app, no install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2509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per service · Flyway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718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31089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34" y="2509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947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Messaging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7947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RabbitMQ · Spring AMQP · polling to UI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4" y="365211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801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Keycloak · Spring Cloud Gateway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9718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1089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634" y="36521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947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Delivery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7947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Actions · SonarQube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Compose · k6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623560" y="1005840"/>
            <a:ext cx="3063240" cy="32918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585216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ADRs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5852160" y="16002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001 Microservices from Sprint 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002 Java + Spring · React web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003 One database per 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004 Events only, outbox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005 AI triage: local Ollama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006 Keycloak, roles in Auth &amp; Users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007 Map: image + SVG overlay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008 Porto Digital, every 30 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009 C4 inside 4+1 views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010 CI/CD with GitHub Actions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011 Local delivery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012 Observability: Prometheus, Grafana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013 API gateway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ADR records the choice, the alternatives and why · architecture.md §12–13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Assumptions and dependencies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Critical assumptions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63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Students use the app during the night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Supported: 87 % say they would (intention)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5420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505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app for many events, link or 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16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Partly: 39 % name installing as a barrier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52958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3814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Help through the app is faster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0390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Not validated: interview pending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Dependencies and fallbacks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754880" y="140817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5830" y="1509126"/>
            <a:ext cx="218724" cy="2187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03520" y="137160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Porto Digital bus API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WireMock with recorded responses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54880" y="200253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30" y="2103486"/>
            <a:ext cx="218724" cy="2187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03520" y="196596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 AI model (Ollama)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Manual triage, nothing lost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754880" y="259689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30" y="2697846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303520" y="256032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Organisers' venue maps (A5)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Image or PDF upload, 20 MB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754880" y="31912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830" y="3292206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303520" y="315468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Access to an organiser and a volunteer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Public data; limitation stated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4754880" y="378561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830" y="3886566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03520" y="374904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laptop for the demo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Local delivery, backup laptop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A1, A5–A9 and the full risk list: Problem and Opportunity Report §5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Operating costs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58,511 €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Development, whole project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6 roles full time, 3.35 months; salaries 58,170 €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6432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3,406 €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Maintenance, per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FTE + 377 € a month of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 99,380 €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 + first year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order of magnitude for an organiser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Why the delivery is local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015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Local: 0 € beyond Copilot (notional 102 €/month), same five services and databases on a laptop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Cloud demo ≈ 301 € and continuous operation 358 €/month, against a one-off student credit of 89 €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Authorised by the professor; the cloud evaluation is kept (ADR-011)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Euros without VAT · junior 1,816 € and middle 2,380 € gross, 14 payments (Teamlyzer, Oct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Non-functional requirements: 34, each measurable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Help request in the backoffice p95 ≤ 5 s · AI suggestion ≤ 30 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56432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133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Load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1,300 read req/s for 10 min: errors &lt; 1 %, p95 &lt; 500 ms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72784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12864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Reliability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down: 100 % of requests shown, “Not triaged” · 0 lost messages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0467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 cross-event access; FarolAdmin sees no event data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3552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3456432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133" y="30467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Privacy (RGPD)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Location only with a request · no personal data in telemetry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89904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272784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5" y="30467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12864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Usability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72784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WCAG 2.1 AA on Ask for help, the map and the request list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ISO/IEC 25010 categories · each with a target and how it is verified · validated with the team on 26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People and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Tiago Teixeira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Product and backlog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 report and survey · backlog and sprint plan · NFRs · resilience and degraded modes · venue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Tomás Oliveira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 and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 owner · walking skeleton · AI integration and evaluation · observability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Bruno Lopes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Design and delivery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Market analysis · architecture diagrams · CI/CD and local delivery · API outline · cost estimate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António Guerra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Security and integration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Security and privacy assessment · Keycloak and API gateway · Porto Digital simulator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Roles are taken per task, not per person; everyone codes and reviews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 Owner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4708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Scrum Master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36976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36976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Tech lead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26864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6864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QA lead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16752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16752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DevOps lead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 lead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41832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12289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Issue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39696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2624328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002" y="12289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Branch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822192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4306824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98" y="12289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321808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3"/>
          <p:cNvSpPr/>
          <p:nvPr/>
        </p:nvSpPr>
        <p:spPr>
          <a:xfrm>
            <a:off x="5504688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5989320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94" y="12289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04304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Shape 17"/>
          <p:cNvSpPr/>
          <p:nvPr/>
        </p:nvSpPr>
        <p:spPr>
          <a:xfrm>
            <a:off x="7187184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671816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490" y="12289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87184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merge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57200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008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Flow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story = one issue = one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Conventions check on every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always deployable, no direct pushes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273552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56432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3456432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CI green: build, tests, image, smoke test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team approval (Copilot also requested)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All conversations resolved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089904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72784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Rhythm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6272784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Planning every week, in class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Stand-up every weekend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Sprint review with investors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Board: GitHub Projects (Backlog → Ready → In progress → In review → Done) · everything in English, notes in Portuguese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Definition of Ready and Done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430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2746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(to enter a sprint)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story with a persona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Given / When / Then criteria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Dependencies known, none blocking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on the board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AI: fallback described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143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714" y="12746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Done (story merged and)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acceptance criteria pass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tests cover them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Cross-event access tested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Structured logs with correlation ID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 green, accepted by the PO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Agreed on 8 Oct 2026 · built into the issue forms and the PR template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2026-10-31T17:46:06Z</dcterms:created>
  <dcterms:modified xsi:type="dcterms:W3CDTF">2026-10-31T17:46:06Z</dcterms:modified>
</cp:coreProperties>
</file>