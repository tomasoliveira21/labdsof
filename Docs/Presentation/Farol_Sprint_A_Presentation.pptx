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18a03a8-203b-e953-6ae5-78fab7fdbd35}">
          <p14:sldIdLst>
            <p14:sldId id="256"/>
          </p14:sldIdLst>
        </p14:section>
        <p14:section name="Product" id="{1e8b1d06-d22e-02f5-7898-d6a2675f3c62}">
          <p14:sldIdLst>
            <p14:sldId id="257"/>
            <p14:sldId id="258"/>
            <p14:sldId id="259"/>
            <p14:sldId id="260"/>
            <p14:sldId id="261"/>
          </p14:sldIdLst>
        </p14:section>
        <p14:section name="Design" id="{251047b5-e642-31be-a66e-6ebf8800e96c}">
          <p14:sldIdLst>
            <p14:sldId id="262"/>
            <p14:sldId id="263"/>
            <p14:sldId id="264"/>
            <p14:sldId id="265"/>
          </p14:sldIdLst>
        </p14:section>
        <p14:section name="Plan" id="{439c860b-81d8-b573-8ec7-0afdb6a645b3}">
          <p14:sldIdLst>
            <p14:sldId id="266"/>
            <p14:sldId id="267"/>
            <p14:sldId id="268"/>
            <p14:sldId id="269"/>
          </p14:sldIdLst>
        </p14:section>
        <p14:section name="Team" id="{a1bb1ef4-437e-3bac-b9a7-75a259ffba5d}">
          <p14:sldIdLst>
            <p14:sldId id="270"/>
            <p14:sldId id="271"/>
            <p14:sldId id="272"/>
          </p14:sldIdLst>
        </p14:section>
        <p14:section name="Closing" id="{e5664093-db36-aefc-0dc2-2f322c4fef6a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F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F3A"/>
                </a:solidFill>
                <a:latin typeface="+mn-lt"/>
              </a:rPr>
              <a:t>Most useful features (% of 31, up to 3 each)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Most useful (up to 3)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Venue map</c:v>
                  </c:pt>
                  <c:pt idx="1">
                    <c:v>Help button</c:v>
                  </c:pt>
                  <c:pt idx="2">
                    <c:v>Transport home</c:v>
                  </c:pt>
                  <c:pt idx="3">
                    <c:v>Wait time at entrances</c:v>
                  </c:pt>
                  <c:pt idx="4">
                    <c:v>Live announcements</c:v>
                  </c:pt>
                  <c:pt idx="5">
                    <c:v>Ticket in the app</c:v>
                  </c:pt>
                  <c:pt idx="6">
                    <c:v>Q&amp;A assistant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</c:v>
                </c:pt>
                <c:pt idx="1">
                  <c:v>48</c:v>
                </c:pt>
                <c:pt idx="2">
                  <c:v>45</c:v>
                </c:pt>
                <c:pt idx="3">
                  <c:v>39</c:v>
                </c:pt>
                <c:pt idx="4">
                  <c:v>39</c:v>
                </c:pt>
                <c:pt idx="5">
                  <c:v>32</c:v>
                </c:pt>
                <c:pt idx="6">
                  <c:v>10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(~15 s) Somos o Farol. Hoje mostramos o âmbito do projeto no fim do Sprint A: o produto, o que aprendemos com os estudantes, o desenho técnico, os custos e como vamos trabalhar no Sprint B. A equipa: Bruno Lopes, Tiago Teixeira, Tomás Oliveira e António Guerra.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A visão do Farol: para as equipas que organizam grandes festivais académicos e para os estudantes que lá vão, o Farol junta numa só plataforma a planta do recinto, a informação ao vivo e os pedidos de ajuda. Abre-se por link ou QR e há uma conta para todos os eventos. O participante encontra a planta, as entradas e o transporte para casa, e pede ajuda marcando o sítio na planta. A equipa configura o evento uma vez, vê cada pedido em tempo real, com uma sugestão de triagem da IA, e encaminha-o para a equipa certa. Cada organização só vê o seu evento. O caso piloto é a Queima do Porto, com cerca de 250 mil entradas em 8 noites. A capacidade física das portas fica fora: é infraestrutura, não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Fizemos um inquérito no Google Forms entre 3 e 6 de outubro e a 30 de outubro, com 32 respostas válidas. Ficam 30 pessoas que já foram a um festival académico, a maioria à Queima do Porto. É pouco, o objetivo eram 100, e é uma amostra de conveniência, por isso os números mostram direção, não valores exatos. Três coisas: primeiro, 80 % esperou mais de meia hora para entrar, é de longe o problema mais comum. Segundo, 87 % diz que usaria a aplicação durante a noite, acima da meta de 60 %. Terceiro, a facilidade de encontrar informação teve média 2,97 em 5, mesmo no limite da meta de 3, e o resultado depende das respostas de 30 de outubro; por isso vamos confirmá-lo com um teste em condições de noite, com ruído e rede lenta. No gráfico, a planta do recinto é a funcionalidade mais escolhida, 52 %, logo seguida do botão de ajuda, 48 %; o assistente de perguntas é a última, 10 %. A barreira mais citada foi a bateria, 48 %.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Do inquérito tirámos cinco decisões. Duas confirmam o que já tínhamos: a planta é o centro da aplicação, e a IA fica na triagem dos pedidos de ajuda e não num chatbot para participantes, que quase ninguém escolheu. Três mudam o backlog: o estado das entradas por porta sobe de Could para Should, porque a espera é o problema mais comum; a bateria e a rede fraca passam a ser restrições de desenho, com páginas leves, e o modo de rede fraca volta a ser discutido; e no pedido de ajuda a aplicação pede a localização do telemóvel, que 71 % aceita partilhar, e quem recusar marca o sítio na planta. O pressuposto de que pedir ajuda pela app é mais rápido ainda não está validado: falta 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Desenhamos para cinco pessoas. A Rita é a estudante: quer encontrar a casa de banho, os primeiros socorros e o caminho para casa depressa; o inquérito já confirmou parte das hipóteses dela, por exemplo que a informação vem do Instagram e dos grupos de WhatsApp. Do lado da equipa há três trabalhos diferentes: o Miguel, na sala de controlo, vê todos os pedidos e decide a prioridade; a Inês está no terreno, recebe no telemóvel o que é encaminhado para a sua equipa e diz que vai a caminho; a Sofia configura o evento e publica alterações. O Daniel é da equipa Farol: cria eventos só para organizações verificadas e nunca vê os pedidos de ajuda. São proto-personas: o Miguel e a Inês ainda dependem da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O percurso central é o pedido de ajuda. A Rita toca em Pedir ajuda; primeiro aparece o 112 e, se não for emergência, escolhe a categoria e partilha a localização do telemóvel; se recusar, marca o sítio na planta. O pedido fica guardado logo e aparece na sala de controlo em menos de 5 segundos. Em paralelo, a IA sugere categoria, prioridade e equipa em menos de 30 segundos; se a IA falhar, o pedido aparece como Não triado, e nada se perde. O Miguel confirma ou altera e encaminha para uma equipa. A Inês aceita no telemóvel, vai ao sítio indicado e fecha o pedido. A Rita acompanha o estado ao vivo. Em baixo estão os outros percursos: encontrar informação, criar e configurar um evento, publicar um aviso, reportar um problema e ganhar um badge, e o check-in.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modelo de domínio está dividido pelos cinco serviços, e cada um é dono dos seus dados. Auth &amp; Users tem as contas, o único papel global, FarolAdmin, e a pertença de cada pessoa a cada evento e às suas equipas. Events tem o evento, as equipas e as suas permissões, as versões da planta, os pontos de interesse e os avisos. Reports tem os pedidos de ajuda, a sugestão de triagem, os reports da comunidade e as tarefas enviadas às equipas no terreno, com histórico de auditoria. Transports tem as opções de transporte e as observações dos autocarros. Badges calcula o progresso. A regra mais importante: o evento é a fronteira de isolamento. Todas as tabelas de um evento têm event_id, e o que cada pessoa pode fazer vem das equipas onde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A arquitetura. Há uma única aplicação web em React, com páginas pensadas para o telemóvel ou para o portátil. Tudo entra pelo API gateway, que valida o token do Keycloak, aplica CORS e limites por conta. Atrás há cinco microserviços em Spring Boot, cada um com a sua base de dados PostgreSQL e o seu Dockerfile, desde o Sprint A. Os serviços não chamam a API uns dos outros: comunicam só por eventos no RabbitMQ, com tabela de outbox, consumidores idempotentes e filas de dead letter, por isso nenhum pedido se perde. A triagem é o fluxo assíncrono: o Reports publica o pedido e o worker chama o modelo local, Ollama com qwen3 de 4 mil milhões de parâmetros, através do WireMock, que também serve para simular falhas. A integração externa é a API de autocarros do Porto Digital, com o WireMock para testes e para a demo. Os dois modos degradados: sem IA, o pedido aparece como Não triado; sem transportes, mostramos os últimos dados válidos com aviso. Tudo corre localmente com Docker Compose, com autorização do professor por causa dos custos.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A stack: Java 21 com Spring Boot 4 no backend, uma aplicação React no frontend, PostgreSQL com Flyway, RabbitMQ para mensagens, Keycloak para identidade e Spring Cloud Gateway à entrada. A entrega usa GitHub Actions, com análise de qualidade no SonarQube Cloud, e Docker Compose, e os testes de carga usam k6. Todas as decisões estão em 13 ADRs, cada um com a escolha, as alternativas e o porquê. Estão todos aceites; nos da IA e da observabilidade falta ainda a evidência a correr, que chega com o Sprint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pressupostos críticos são três. A2: os estudantes usam a aplicação durante a noite. O inquérito apoia, 87 % diz que sim, mas é intenção, não comportamento. A3: uma aplicação para vários eventos, aberta por link ou QR. Em parte: 39 % diz que instalar mais uma app os afastaria, o que confirma a decisão de não exigir instalação. A4: pedir ajuda pela app é mais rápido. Ainda não está validado, depende da entrevista ao voluntário de segurança. À direita, as dependências, cada uma com o seu plano B: a API do Porto Digital tem o WireMock; a IA local tem a triagem manual; as plantas vêm das organizações em imagem ou PDF; o acesso à organização é limitado e está documentado; e a demo corre num portátil, com outro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custos, com salários e infraestrutura, como o professor pediu. O desenvolvimento do projeto inteiro, com seis papéis a tempo inteiro durante 3,35 meses, custa cerca de 58 500 euros, quase tudo salários. A manutenção, com uma pessoa e produção na cloud, custa cerca de 3 400 euros por mês. Desenvolvimento mais o primeiro ano dá perto de 100 mil euros, a ordem de grandeza para uma organização. A entrega é local por causa do custo: localmente só pagamos o Copilot, enquanto a demo na cloud custaria cerca de 300 euros e a operação contínua 358 euros por mês, contra um crédito único de estudante de 89 euros. O professor autorizou a entrega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backlog tem 20 funcionalidades, priorizadas com MoSCoW, e 62 user stories no board do GitHub Projects, com prioridade P0 a P2 e tamanho. As Must cobrem o percurso principal: login, eventos, papéis e equipas, a planta, o pedido de ajuda, o backoffice de incidentes, a triagem com IA, os transportes do Porto Digital, os avisos, e os reports com confirmação e badges, que são o nosso mecanismo de envolvimento ético. Should: badges de presença, check-in e, depois do inquérito, o estado das entradas, porque a espera é o problema mais comum. Could: modo de rede fraca e amigos; o modo de rede fraca, com asterisco, volta a ser discutido no planeamento como candidato a Should. Won't nesta versão: chat e ligação ao bilhete.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Temos 34 requisitos não funcionais, organizados pelas categorias da ISO 25010, cada um com uma meta e a forma de o verificar. Alguns exemplos. Desempenho: um pedido de ajuda aparece no backoffice em 5 segundos no percentil 95, e a sugestão da IA chega em 30 segundos. Carga: o fim de um concerto, cerca de 1 300 pedidos de leitura por segundo durante 10 minutos, com menos de 1 % de erros. Fiabilidade: com a IA em baixo, 100 % dos pedidos continuam a aparecer, e nenhuma mensagem se perde. Segurança: zero acessos entre eventos. Privacidade: a localização só vai com o pedido e não há dados pessoais na telemetria. Usabilidade: WCAG 2.1 AA nas páginas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plano de entregas. O walking skeleton já está feito, a 31 de outubro: o serviço Reports cria e lê pedidos de ajuda sintéticos, com health check, testes HTTP, Dockerfile, Docker Compose e um smoke test no CI. O Sprint B, de 2 de novembro a 6 de dezembro, entrega a fatia vertical: um participante pede ajuda na planta, a sala de controlo vê o pedido com a sugestão da IA, ou sem ela se a IA falhar, e encaminha para uma equipa que o aceita e resolve. São 27 stories. O Sprint C, até 3 de janeiro, completa o MVP: contas, transportes com shuttles e o aviso do modo degradado, avisos, reports e badges, e a avaliação da IA contra a alternativa sem IA. Se o tempo apertar, já temos definido o que cai primeiro.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Cada um de nós é responsável por áreas, mesmo que os papéis não estejam presos a pessoas. Eu, Tiago, fiquei com o produto e o backlog: o relatório do problema, o inquérito, o plano dos sprints, os NFRs e a resiliência. O Tomás é o dono do repositório e trata do walking skeleton, da IA e da observabilidade. O Bruno fez a análise de mercado, os diagramas, a estratégia de CI/CD e entrega local, o API outline e a estimativa de custos. O Guerra trata da segurança e privacidade, do Keycloak e do gateway, e do simulador do Porto Digital. Temos seis papéis definidos, de Product Owner a AI lead, assumidos por tarefa: todos programam e todos fazem revisões.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Trabalhamos com GitHub Flow. Todo o trabalho começa numa issue; a regra é uma user story, uma issue, um pull request. O branch é curto, o PR passa pela verificação automática das convenções, pelo pipeline de CI, pela revisão do Copilot e pela aprovação de outro membro, e entra com squash merge. O main está sempre pronto a entregar. Temos duas reuniões por semana: o planeamento na aula e o stand-up ao fim de semana, mais a review com os investidores no fim de cada sprint. O board do GitHub Projects segue o estado de cada item, de Backlog a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(~40 s) A Definition of Ready: uma story só entra num sprint se estiver escrita como user story com a persona, tiver critérios Given When Then testáveis, dependências conhecidas e nenhuma bloqueante, estiver no board e, se usar IA, descrever o comportamento de fallback. A Definition of Done: depois do merge, todos os critérios passam, estão cobertos por testes automáticos, o acesso entre eventos está testado, os logs são estruturados com correlation ID, o main fica verde e o Product Owner aceita. As duas estão nos formulários das issues e no template do PR, não só no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(~30 s) Próximos passos: o Sprint B começa a 2 de novembro, a partir do walking skeleton que já está a correr; fazer a entrevista ao voluntário de segurança para validar o pressuposto A4 e as personas do Miguel e da Inês; decidir no próximo planeamento se o modo de rede fraca sobe para Should, como o inquérito sugere; e entregar a fatia vertical a 6 de dezembro. Obrigado, ficamos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23444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246120" y="8686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Farol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324612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Sprint A · product, design and plan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4688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One map, one source of truth, one tap to get help, for every academic festival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Bruno Lopes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1240441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Tiago Teixeira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1240493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Tomás Oliveira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1230213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António Guerra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1190409</a:t>
            </a:r>
            <a:endParaRPr lang="en-US" sz="15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Product vision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097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For the teams that organise large academic festivals and the students who attend them, 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Farol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is a multi-event platform that links a shared venue map, live event information and help requests in one place, opened by link or QR, with one account for every event.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60055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participants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 the map, entrances and transport home; ask for help with their location, or a spot marked on the map.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73552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502152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826" y="26005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02152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the event team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02152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Configure the event once; see every request live, triage it with AI and route it to a team.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089904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6318504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178" y="26005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18504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every festival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18504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organiser runs its own event; one event never sees another's data.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Pilot: Queima das Fitas do Porto · ≈ 250,000 entries over 8 nights · out of scope: physical capacity of the gates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students told us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1556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80 %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waited more than 30 min to get 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87 %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7797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would use the app during the night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346704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4564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2.97 / 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50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ease of finding information (1–5)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023360" y="960120"/>
          <a:ext cx="46634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Google Forms, 3–6 and 30 Oct 2026 · 32 valid answers, n = 30 who have been to a festival · convenience sample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we change because of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0789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310" y="1179942"/>
            <a:ext cx="218724" cy="2187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06070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Venue map stays the centre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166360" y="10607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Most chosen feature: 16 of 31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1143000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589520" y="114300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700784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594360" y="179222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10" y="1893174"/>
            <a:ext cx="218724" cy="2187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88720" y="17739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Entrance status per gate: Could → Should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166360" y="1773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24 of 30 waited &gt; 30 min to get in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589520" y="18562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89520" y="18562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2414016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594360" y="25054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10" y="2606406"/>
            <a:ext cx="218724" cy="2187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24871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Light pages; weak-network mode reopened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166360" y="2487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Battery 15 of 31, network 10 of 31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589520" y="2569464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7589520" y="2569464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57200" y="3127248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4360" y="321868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10" y="3319638"/>
            <a:ext cx="218724" cy="21872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188720" y="3200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Help: phone location first, map as fallback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166360" y="3200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22 of 31 share GPS, 8 only the map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7589520" y="3282696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758952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3840480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594360" y="393192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10" y="4032870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88720" y="39136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on triage, not a participant chatbot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5166360" y="39136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Assistant chosen by 3 of 31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7589520" y="3995928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7589520" y="39959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Backlog changes applied in features.md on 30 Oct · A4 (help is faster) waits for the security-volunteer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Who we design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1324051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Rita, 21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Student · participant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Find WC, first aid and the way home fast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Survey ✓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578608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227" y="1324051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12848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Miguel, 24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212848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Control room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258568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See every request: what, where, priority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2212848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85616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242816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435" y="1324051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877056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Inês, 22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3877056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Field responder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3922776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 where to go and say “on my way”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877056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449824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07024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0643" y="1324051"/>
            <a:ext cx="332842" cy="33284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5541264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Sofia, 23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5541264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Event admin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5586984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Configure once, publish changes live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541264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Organiser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7114032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571232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4851" y="1324051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205472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Daniel, 27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7205472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FarolAdmin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7251192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 events for verified organisers only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7205472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Team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Proto-personas from the report and public evidence · Rita now checked against the survey; Miguel and Inês wait for the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Core journey: a help request, end to end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3" y="1327709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72184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Rita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Asks for help: category and her phone location, or a spot on the map (112 first)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956816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139696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304288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989" y="1327709"/>
            <a:ext cx="261518" cy="26151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154680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2304288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304288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Saves it at once; the control room sees it in ≤ 5 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639312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3822192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986784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485" y="1327709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37176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3986784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 AI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3986784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Suggests category, priority and team in ≤ 30 s, or “Not triaged”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5321808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4" name="Shape 19"/>
          <p:cNvSpPr/>
          <p:nvPr/>
        </p:nvSpPr>
        <p:spPr>
          <a:xfrm>
            <a:off x="5504688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669280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981" y="1327709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519672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2"/>
          <p:cNvSpPr txBox="1"/>
          <p:nvPr/>
        </p:nvSpPr>
        <p:spPr>
          <a:xfrm>
            <a:off x="5669280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Miguel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5669280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Confirms or changes, routes it to a team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004304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7187184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351776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2477" y="1327709"/>
            <a:ext cx="261518" cy="26151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202168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5</a:t>
            </a:r>
            <a:endParaRPr lang="en-US" sz="2400" dirty="0"/>
          </a:p>
        </p:txBody>
      </p:sp>
      <p:sp>
        <p:nvSpPr>
          <p:cNvPr id="35" name="Text 28"/>
          <p:cNvSpPr txBox="1"/>
          <p:nvPr/>
        </p:nvSpPr>
        <p:spPr>
          <a:xfrm>
            <a:off x="7351776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Inês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7351776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Accepts on her phone, goes to the spot, resolves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Rita follows the status live: “Help is on the way”</a:t>
            </a:r>
            <a:endParaRPr lang="en-US" sz="1400" dirty="0"/>
          </a:p>
        </p:txBody>
      </p:sp>
      <p:sp>
        <p:nvSpPr>
          <p:cNvPr id="38" name="Shape 31"/>
          <p:cNvSpPr/>
          <p:nvPr/>
        </p:nvSpPr>
        <p:spPr>
          <a:xfrm>
            <a:off x="457200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530352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W1 Find information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2139696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2212848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W4 Create and set up an event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3822192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3895344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W5 Publish a live update</a:t>
            </a:r>
            <a:endParaRPr lang="en-US" sz="1100" dirty="0"/>
          </a:p>
        </p:txBody>
      </p:sp>
      <p:sp>
        <p:nvSpPr>
          <p:cNvPr id="44" name="Shape 37"/>
          <p:cNvSpPr/>
          <p:nvPr/>
        </p:nvSpPr>
        <p:spPr>
          <a:xfrm>
            <a:off x="5504688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5577840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W7 Report a problem, earn a badge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7187184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260336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W8 Check in (Should)</a:t>
            </a:r>
            <a:endParaRPr lang="en-US" sz="1100" dirty="0"/>
          </a:p>
        </p:txBody>
      </p:sp>
      <p:sp>
        <p:nvSpPr>
          <p:cNvPr id="48" name="Text 4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Eight workflows (W1–W8) with BPMN for the two complete journeys · user-workflows.md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Domain model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115" y="1214323"/>
            <a:ext cx="213970" cy="2139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Auth &amp; Users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UserAccount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GlobalRoleGrant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6928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EventMembership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TeamAssignment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139696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6" name="Shape 13"/>
          <p:cNvSpPr/>
          <p:nvPr/>
        </p:nvSpPr>
        <p:spPr>
          <a:xfrm>
            <a:off x="2276856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611" y="1214323"/>
            <a:ext cx="213970" cy="2139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761488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Events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2249424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249424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249424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249424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Team, Permission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2249424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249424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VenueMapVersion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9424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249424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PointOfInterest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49424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249424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Announcement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3822192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0" name="Shape 26"/>
          <p:cNvSpPr/>
          <p:nvPr/>
        </p:nvSpPr>
        <p:spPr>
          <a:xfrm>
            <a:off x="3959352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8107" y="1214323"/>
            <a:ext cx="213970" cy="21397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443984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Reports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3931920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931920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HelpRequest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3931920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931920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TriageSuggestion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3931920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3931920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CommunityReport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3931920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3931920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FieldTask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3931920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931920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AuditEntry</a:t>
            </a:r>
            <a:endParaRPr lang="en-US" sz="1100" dirty="0"/>
          </a:p>
        </p:txBody>
      </p:sp>
      <p:sp>
        <p:nvSpPr>
          <p:cNvPr id="43" name="Shape 38"/>
          <p:cNvSpPr/>
          <p:nvPr/>
        </p:nvSpPr>
        <p:spPr>
          <a:xfrm>
            <a:off x="5504688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4" name="Shape 39"/>
          <p:cNvSpPr/>
          <p:nvPr/>
        </p:nvSpPr>
        <p:spPr>
          <a:xfrm>
            <a:off x="5641848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603" y="1214323"/>
            <a:ext cx="213970" cy="213970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6126480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Transports</a:t>
            </a:r>
            <a:endParaRPr lang="en-US" sz="1400" dirty="0"/>
          </a:p>
        </p:txBody>
      </p:sp>
      <p:sp>
        <p:nvSpPr>
          <p:cNvPr id="47" name="Shape 41"/>
          <p:cNvSpPr/>
          <p:nvPr/>
        </p:nvSpPr>
        <p:spPr>
          <a:xfrm>
            <a:off x="5614416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5614416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TransportOption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5614416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5614416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TransportDeparture</a:t>
            </a:r>
            <a:endParaRPr lang="en-US" sz="1100" dirty="0"/>
          </a:p>
        </p:txBody>
      </p:sp>
      <p:sp>
        <p:nvSpPr>
          <p:cNvPr id="51" name="Shape 45"/>
          <p:cNvSpPr/>
          <p:nvPr/>
        </p:nvSpPr>
        <p:spPr>
          <a:xfrm>
            <a:off x="5614416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5614416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BusVehicle</a:t>
            </a:r>
            <a:endParaRPr lang="en-US" sz="1100" dirty="0"/>
          </a:p>
        </p:txBody>
      </p:sp>
      <p:sp>
        <p:nvSpPr>
          <p:cNvPr id="53" name="Shape 47"/>
          <p:cNvSpPr/>
          <p:nvPr/>
        </p:nvSpPr>
        <p:spPr>
          <a:xfrm>
            <a:off x="5614416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5614416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BusObservation</a:t>
            </a:r>
            <a:endParaRPr lang="en-US" sz="1100" dirty="0"/>
          </a:p>
        </p:txBody>
      </p:sp>
      <p:sp>
        <p:nvSpPr>
          <p:cNvPr id="55" name="Shape 49"/>
          <p:cNvSpPr/>
          <p:nvPr/>
        </p:nvSpPr>
        <p:spPr>
          <a:xfrm>
            <a:off x="7187184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6" name="Shape 50"/>
          <p:cNvSpPr/>
          <p:nvPr/>
        </p:nvSpPr>
        <p:spPr>
          <a:xfrm>
            <a:off x="7324344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099" y="1214323"/>
            <a:ext cx="213970" cy="213970"/>
          </a:xfrm>
          <a:prstGeom prst="rect">
            <a:avLst/>
          </a:prstGeom>
        </p:spPr>
      </p:pic>
      <p:sp>
        <p:nvSpPr>
          <p:cNvPr id="58" name="Text 51"/>
          <p:cNvSpPr txBox="1"/>
          <p:nvPr/>
        </p:nvSpPr>
        <p:spPr>
          <a:xfrm>
            <a:off x="7808976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Badges</a:t>
            </a:r>
            <a:endParaRPr lang="en-US" sz="1400" dirty="0"/>
          </a:p>
        </p:txBody>
      </p:sp>
      <p:sp>
        <p:nvSpPr>
          <p:cNvPr id="59" name="Shape 52"/>
          <p:cNvSpPr/>
          <p:nvPr/>
        </p:nvSpPr>
        <p:spPr>
          <a:xfrm>
            <a:off x="7296912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7296912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BadgeProgress</a:t>
            </a:r>
            <a:endParaRPr lang="en-US" sz="1100" dirty="0"/>
          </a:p>
        </p:txBody>
      </p:sp>
      <p:sp>
        <p:nvSpPr>
          <p:cNvPr id="61" name="Shape 54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21818"/>
            </a:avLst>
          </a:prstGeom>
          <a:solidFill>
            <a:schemeClr val="tx2"/>
          </a:solidFill>
          <a:ln/>
        </p:spPr>
      </p:sp>
      <p:sp>
        <p:nvSpPr>
          <p:cNvPr id="62" name="Text 55"/>
          <p:cNvSpPr txBox="1"/>
          <p:nvPr/>
        </p:nvSpPr>
        <p:spPr>
          <a:xfrm>
            <a:off x="640080" y="4069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Event is the isolation boundary: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event table has event_id · a user's rights come from the teams they are in, not from a global role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Architecture: five services, events in between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5448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Web app (React)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phone · laptop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011680" y="1440180"/>
            <a:ext cx="41148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423160" y="1051560"/>
            <a:ext cx="1371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423160" y="10515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API gateway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JWT · CORS · rate limit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057400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23160" y="2057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Keycloak (OIDC)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94760" y="1440180"/>
            <a:ext cx="32004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148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148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Auth &amp; Users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68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068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Events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212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212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Reports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356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356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Transports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500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0500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Badges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644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644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0" y="2606040"/>
            <a:ext cx="4498848" cy="4389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114800" y="2606040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RabbitMQ · outbox + idempotent consumers · dead-letter queues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External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989320" y="3493008"/>
            <a:ext cx="128016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89320" y="349300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Ollama · qwen3:4b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called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Reports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0920" y="3493008"/>
            <a:ext cx="13258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60920" y="3493008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Porto Digital 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read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Transports / 30 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324612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Microservices: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own Maven project, Dockerfile and database each (ADR-001, 003)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65760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Only events between 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service calls another's API; local copies (ADR-004)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06908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Degraded modes: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 down → “Not triaged”; transport down → last data + warning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C4 inside 4+1 views, drawn in draw.io (ADR-009) · local delivery with Docker Compose, authorised by the professor (ADR-011)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Technology and key decisions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034" y="13661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Backend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Java 21 · Spring Boot 4 · Maven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9718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1089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634" y="13661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947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Frontend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947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React web app, no install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5943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4" y="25091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801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PostgreSQL per service · Flyway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9718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31089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634" y="250911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947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Messaging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37947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RabbitMQ · Spring AMQP · polling to UI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572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5943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4" y="365211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801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Identity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2801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Keycloak · Spring Cloud Gateway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29718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31089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634" y="365211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7947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Delivery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37947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Actions · SonarQube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Compose · k6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623560" y="1005840"/>
            <a:ext cx="3063240" cy="3291840"/>
          </a:xfrm>
          <a:prstGeom prst="roundRect">
            <a:avLst>
              <a:gd name="adj" fmla="val 3582"/>
            </a:avLst>
          </a:prstGeom>
          <a:solidFill>
            <a:schemeClr val="tx2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5852160" y="1143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13 ADRs</a:t>
            </a:r>
            <a:endParaRPr lang="en-US" sz="2200" dirty="0"/>
          </a:p>
        </p:txBody>
      </p:sp>
      <p:sp>
        <p:nvSpPr>
          <p:cNvPr id="35" name="Text 27"/>
          <p:cNvSpPr txBox="1"/>
          <p:nvPr/>
        </p:nvSpPr>
        <p:spPr>
          <a:xfrm>
            <a:off x="5852160" y="160020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001 Microservices from Sprint 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002 Java + Spring · React web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003 One database per service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004 Events only, outbox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005 AI triage: local Ollama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006 Keycloak, roles in Auth &amp; Users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007 Map: image + SVG overlay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008 Porto Digital, every 30 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009 C4 inside 4+1 views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010 CI/CD with GitHub Actions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011 Local delivery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012 Observability: Prometheus, Grafana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013 API gateway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Every ADR records the choice, the alternatives and why · architecture.md §12–13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Assumptions and dependencies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Critical assumptions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55448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63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Students use the app during the night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Supported: 87 % say they would (intention)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5420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5059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One app for many events, link or QR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1635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Partly: 39 % name installing as a barrier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3529584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43814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Help through the app is faster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0390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Not validated: interview pending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Dependencies and fallbacks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754880" y="140817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5830" y="1509126"/>
            <a:ext cx="218724" cy="21872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03520" y="137160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Porto Digital bus API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WireMock with recorded responses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754880" y="200253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30" y="2103486"/>
            <a:ext cx="218724" cy="21872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303520" y="196596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Local AI model (Ollama)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Manual triage, nothing lost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754880" y="259689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830" y="2697846"/>
            <a:ext cx="218724" cy="21872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5303520" y="256032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Organisers' venue maps (A5)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Image or PDF upload, 20 MB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4754880" y="31912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830" y="3292206"/>
            <a:ext cx="218724" cy="21872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303520" y="315468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Access to an organiser and a volunteer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Public data; limitation stated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4754880" y="378561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830" y="3886566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303520" y="374904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One laptop for the demo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Local delivery, backup laptop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A1, A5–A9 and the full risk list: Problem and Opportunity Report §5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Operating costs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58,511 €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Development, whole project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6 roles full time, 3.35 months; salaries 58,170 €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56432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3,406 €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Maintenance, per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FTE + 377 € a month of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9904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72784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≈ 99,380 €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72784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 + first year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the order of magnitude for an organiser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Why the delivery is local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401568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Local: 0 € beyond Copilot (notional 102 €/month), same five services and databases on a laptop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Cloud demo ≈ 301 € and continuous operation 358 €/month, against a one-off student credit of 89 €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Authorised by the professor; the cloud evaluation is kept (ADR-011)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Euros without VAT · junior 1,816 € and middle 2,380 € gross, 14 payments (Teamlyzer, Oct 2026)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Prioritised backlog: 20 features, 62 stories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01752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Must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017520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 Login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 Account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F3 Events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F4 Roles and teams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F5 Venue map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F6 Help request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F7 Incident backoffice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F8 AI triage + fallback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F9 Transport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F10 Announcements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F12 Map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F13 Confirm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F14 Report badges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005840"/>
            <a:ext cx="1600200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11880" y="10058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Should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11880" y="1508760"/>
            <a:ext cx="1600200" cy="29718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21608" y="1627632"/>
            <a:ext cx="1380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F15 Attendance badges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F16 Check-in at the venue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F17 Entrance status *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1005840"/>
            <a:ext cx="1691640" cy="411480"/>
          </a:xfrm>
          <a:prstGeom prst="roundRect">
            <a:avLst>
              <a:gd name="adj" fmla="val 17778"/>
            </a:avLst>
          </a:prstGeom>
          <a:solidFill>
            <a:schemeClr val="accent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49240" y="1005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Could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349240" y="1508760"/>
            <a:ext cx="1691640" cy="29718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58968" y="1627632"/>
            <a:ext cx="147218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F11 Weak-network mode *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F18 Friends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005840"/>
            <a:ext cx="1508760" cy="411480"/>
          </a:xfrm>
          <a:prstGeom prst="roundRect">
            <a:avLst>
              <a:gd name="adj" fmla="val 17778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1005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Won't (now)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178040" y="1508760"/>
            <a:ext cx="1508760" cy="297180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87768" y="1627632"/>
            <a:ext cx="12893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F19 Chat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F20 Ticket link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* changed after the survey: F17 up to Should; F11 a candidate for Should · MoSCoW, then P0–P2 and XS–XL on the board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Non-functional requirements: 34, each measurable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0942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Performance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Help request in the backoffice p95 ≤ 5 s · AI suggestion ≤ 30 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456432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133" y="130942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96512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Load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56432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1,300 read req/s for 10 min: errors &lt; 1 %, p95 &lt; 500 ms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6272784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485" y="13094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12864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Reliability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72784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down: 100 % of requests shown, “Not triaged” · 0 lost messages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304678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Security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0 cross-event access; FarolAdmin sees no event data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273552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3456432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7133" y="304678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96512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Privacy (RGPD)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456432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Location only with a request · no personal data in telemetry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89904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6272784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485" y="304678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12864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Usability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6272784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WCAG 2.1 AA on Ask for help, the map and the request list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ISO/IEC 25010 categories · each with a target and how it is verified · validated with the team on 26 Oct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Scope of the next sprints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7498080" cy="0"/>
          </a:xfrm>
          <a:prstGeom prst="line">
            <a:avLst/>
          </a:prstGeom>
          <a:noFill/>
          <a:ln w="25400">
            <a:solidFill>
              <a:srgbClr val="8FA9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9728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Walking skeleton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done 31 Oct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Reports service: creates and reads synthetic help requests, with health check, HTTP tests, Dockerfile, Compose and CI smoke test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4992" y="10972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64992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73552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56432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B · vertical slice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56432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 Nov – 6 Dec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56432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participant asks for help on the map; the control room sees it with an AI suggestion, or without when the AI is down, and routes it to a team · 27 stories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81344" y="109728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81344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9904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72784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C · MVP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7 Dec – 3 Jan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Accounts, transport with shuttles and the D2 warning, announcements, reports and badges; AI evaluated against the non-AI baseline · 28 stories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 release is a git tag built and run locally · cut line for Sprint C defined in features.md §8.2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People and responsibilities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Tiago Teixeira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Product and backlog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Problem report and survey · backlog and sprint plan · NFRs · resilience and degraded modes · venue map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Tomás Oliveira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Platform and AI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Repository owner · walking skeleton · AI integration and evaluation · observability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Bruno Lopes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Design and delivery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Market analysis · architecture diagrams · CI/CD and local delivery · API outline · cost estimate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António Guerra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Security and integration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Security and privacy assessment · Keycloak and API gateway · Porto Digital simulator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Roles are taken per task, not per person; everyone codes and reviews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Product Owner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47088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4708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Scrum Master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36976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36976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Tech lead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26864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26864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QA lead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16752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16752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DevOps lead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664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0664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AI lead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we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41832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506" y="12289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Issue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956816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39696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2624328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002" y="12289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Branch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3822192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4306824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498" y="12289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Pull request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321808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8" name="Shape 13"/>
          <p:cNvSpPr/>
          <p:nvPr/>
        </p:nvSpPr>
        <p:spPr>
          <a:xfrm>
            <a:off x="5504688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5989320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994" y="122895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Review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004304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Shape 17"/>
          <p:cNvSpPr/>
          <p:nvPr/>
        </p:nvSpPr>
        <p:spPr>
          <a:xfrm>
            <a:off x="7187184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7671816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3490" y="12289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187184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Squash merge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57200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640080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 Flow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story = one issue = one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Conventions check on every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main always deployable, no direct pushes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3273552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3456432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 gates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3456432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CI green: build, tests, image, smoke test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Copilot review + one team approval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All conversations resolved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089904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272784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Rhythm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6272784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Planning every week, in class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Stand-up every weekend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Sprint review with investors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Board: GitHub Projects (Backlog → Ready → In progress → In review → Done) · everything in English, notes in Portuguese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Definition of Ready and Done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1430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2746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Ready (to enter a sprint)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User story with a persona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Given / When / Then criteria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Dependencies known, none blocking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 on the board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AI: fallback described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66344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892040" y="11430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714" y="12746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Done (story merged and)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acceptance criteria pass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Automated tests cover them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Cross-event access tested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Structured logs with correlation ID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 green, accepted by the PO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Agreed on 8 Oct 2026 · built into the issue forms and the PR template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</a:t>
            </a:r>
            <a:endParaRPr lang="en-US" sz="4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57200"/>
            <a:ext cx="1097280" cy="1097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254203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14400" y="246888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Sprint B starts from the walking skeleton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24688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 Nov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9067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30175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Interview with a security volunteer: validate A4, Miguel and Inês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0175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B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63931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356616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Decide on weak-network mode (F11) after the survey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56616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next planning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418795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" y="411480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Vertical slice: help request with AI triage and fallback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11480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 Dec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Sprint A</dc:title>
  <dc:subject>PptxGenJS Presentation</dc:subject>
  <dc:creator>Farol team (LABDSOF 2026/27)</dc:creator>
  <cp:lastModifiedBy>Farol team (LABDSOF 2026/27)</cp:lastModifiedBy>
  <cp:revision>1</cp:revision>
  <dcterms:created xsi:type="dcterms:W3CDTF">2026-10-31T13:29:51Z</dcterms:created>
  <dcterms:modified xsi:type="dcterms:W3CDTF">2026-10-31T13:29:51Z</dcterms:modified>
</cp:coreProperties>
</file>