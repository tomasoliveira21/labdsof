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13"/>
    <p:sldId id="269" r:id="rId15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caf8f23-3048-a462-1b6b-8852486b0395}">
          <p14:sldIdLst>
            <p14:sldId id="256"/>
          </p14:sldIdLst>
        </p14:section>
        <p14:section name="Product" id="{0ed65b43-ed74-7b4d-ba5a-185f421e25bf}">
          <p14:sldIdLst>
            <p14:sldId id="257"/>
            <p14:sldId id="258"/>
            <p14:sldId id="259"/>
            <p14:sldId id="260"/>
            <p14:sldId id="261"/>
          </p14:sldIdLst>
        </p14:section>
        <p14:section name="Plan" id="{a51a2b36-4e5f-146a-4e98-265bd08e512f}">
          <p14:sldIdLst>
            <p14:sldId id="267"/>
            <p14:sldId id="269"/>
          </p14:sldIdLst>
        </p14:section>
        <p14:section name="Closing" id="{63f182c1-69f6-ecb0-3588-b1b205717527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B1F3A"/>
                </a:solidFill>
                <a:latin typeface="+mn-lt"/>
              </a:rPr>
              <a:t>Most useful features (% of 31, up to 3 each)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Most useful (up to 3)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Venue map</c:v>
                  </c:pt>
                  <c:pt idx="1">
                    <c:v>Help button</c:v>
                  </c:pt>
                  <c:pt idx="2">
                    <c:v>Transport home</c:v>
                  </c:pt>
                  <c:pt idx="3">
                    <c:v>Wait time at entrances</c:v>
                  </c:pt>
                  <c:pt idx="4">
                    <c:v>Live announcements</c:v>
                  </c:pt>
                  <c:pt idx="5">
                    <c:v>Ticket in the app</c:v>
                  </c:pt>
                  <c:pt idx="6">
                    <c:v>Q&amp;A assistant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</c:v>
                </c:pt>
                <c:pt idx="1">
                  <c:v>48</c:v>
                </c:pt>
                <c:pt idx="2">
                  <c:v>45</c:v>
                </c:pt>
                <c:pt idx="3">
                  <c:v>39</c:v>
                </c:pt>
                <c:pt idx="4">
                  <c:v>39</c:v>
                </c:pt>
                <c:pt idx="5">
                  <c:v>32</c:v>
                </c:pt>
                <c:pt idx="6">
                  <c:v>10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(~15 s) Somos o Farol. Hoje mostramos o âmbito do projeto no fim do Sprint A: o produto, o que aprendemos com os estudantes, o desenho técnico, os custos e como vamos trabalhar no Sprint B. A equipa: Bruno Lopes, Tiago Teixeira, Tomás Oliveira e António Guerra.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A visão do Farol: para as equipas que organizam grandes festivais académicos e para os estudantes que lá vão, o Farol junta numa só plataforma a planta do recinto, a informação ao vivo e os pedidos de ajuda. Abre-se por link ou QR e há uma conta para todos os eventos. O participante encontra a planta, as entradas e o transporte para casa, e pede ajuda marcando o sítio na planta. A equipa configura o evento uma vez, vê cada pedido em tempo real, com uma sugestão de triagem da IA, e encaminha-o para a equipa certa. Cada organização só vê o seu evento. O caso piloto é a Queima do Porto, com cerca de 250 mil entradas em 8 noites. A capacidade física das portas fica fora: é infraestrutura, não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(~75 s) Fizemos um inquérito no Google Forms entre 3 e 6 de outubro e a 30 de outubro, com 32 respostas válidas. Ficam 30 pessoas que já foram a um festival académico, a maioria à Queima do Porto. É pouco, o objetivo eram 100, e é uma amostra de conveniência, por isso os números mostram direção, não valores exatos. Três coisas: primeiro, 80 % esperou mais de meia hora para entrar, é de longe o problema mais comum. Segundo, 87 % diz que usaria a aplicação durante a noite, acima da meta de 60 %. Terceiro, a facilidade de encontrar informação teve média 2,97 em 5, mesmo no limite da meta de 3, e o resultado depende das respostas de 30 de outubro; por isso vamos confirmá-lo com um teste em condições de noite, com ruído e rede lenta. No gráfico, a planta do recinto é a funcionalidade mais escolhida, 52 %, logo seguida do botão de ajuda, 48 %; o assistente de perguntas é a última, 10 %. A barreira mais citada foi a bateria, 48 %.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Do inquérito tirámos cinco decisões. Duas confirmam o que já tínhamos: a planta é o centro da aplicação, e a IA fica na triagem dos pedidos de ajuda e não num chatbot para participantes, que quase ninguém escolheu. Três mudam o backlog: o estado das entradas por porta sobe de Could para Should, porque a espera é o problema mais comum; a bateria e a rede fraca passam a ser restrições de desenho, com páginas leves, e o modo de rede fraca volta a ser discutido; e no pedido de ajuda a aplicação pede a localização do telemóvel, que 71 % aceita partilhar, e quem recusar marca o sítio na planta. O pressuposto de que pedir ajuda pela app é mais rápido ainda não está validado: falta a entrevista ao voluntário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Desenhamos para cinco pessoas. A Rita é a estudante: quer encontrar a casa de banho, os primeiros socorros e o caminho para casa depressa; o inquérito já confirmou parte das hipóteses dela, por exemplo que a informação vem do Instagram e dos grupos de WhatsApp. Do lado da equipa há três trabalhos diferentes: o Miguel, na sala de controlo, vê todos os pedidos e decide a prioridade; a Inês está no terreno, recebe no telemóvel o que é encaminhado para a sua equipa e diz que vai a caminho; a Sofia configura o evento e publica alterações. O Daniel é da equipa Farol: cria eventos só para organizações verificadas e nunca vê os pedidos de ajuda. São proto-personas: o Miguel e a Inês ainda dependem da entrevista ao voluntário de segurança.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(~60 s) O percurso central é o pedido de ajuda. A Rita toca em Pedir ajuda, escolhe a categoria e partilha a localização do telemóvel; se recusar, marca o sítio na planta. O pedido fica guardado logo e aparece na sala de controlo em menos de 5 segundos. Em paralelo, a IA sugere categoria, prioridade e equipa em menos de 30 segundos; se a IA falhar, o pedido aparece como Não triado, e nada se perde. O Miguel confirma ou altera e encaminha para uma equipa. A Inês aceita no telemóvel, vai ao sítio indicado e fecha o pedido. A Rita acompanha o estado ao vivo. Em baixo estão os outros percursos: encontrar informação, criar e configurar um evento, publicar um aviso, reportar um problema e ganhar um badge, e o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 backlog tem 20 funcionalidades, priorizadas com MoSCoW, e 62 user stories no board do GitHub Projects, com prioridade P0 a P2 e tamanho. As Must cobrem o percurso principal: login, eventos, papéis e equipas, a planta, o pedido de ajuda, o backoffice de incidentes, a triagem com IA, os transportes do Porto Digital, os avisos, e os reports com confirmação e badges, que são o nosso mecanismo de envolvimento ético. Should: badges de presença, check-in e, depois do inquérito, o estado das entradas, porque a espera é o problema mais comum. Could: modo de rede fraca e amigos; o modo de rede fraca, com asterisco, volta a ser discutido no planeamento como candidato a Should. Won't nesta versão: chat e ligação ao bilhete.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(~50 s) O plano de entregas. O walking skeleton já está feito, a 31 de outubro: o serviço Reports cria e lê pedidos de ajuda sintéticos, em memória, ainda sem base de dados, com health check, testes HTTP, Dockerfile, Docker Compose e um smoke test no CI. O Sprint B, de 2 de novembro a 6 de dezembro, entrega a fatia vertical: um participante pede ajuda na planta, a sala de controlo vê o pedido com a sugestão da IA, ou sem ela se a IA falhar, e encaminha para uma equipa que o aceita e resolve. São 27 stories. O Sprint C, até 3 de janeiro, completa o MVP: contas, transportes com shuttles e o aviso do modo degradado, avisos, reports e badges, e a avaliação da IA contra a alternativa sem IA. Se o tempo apertar, já temos definido o que cai primeiro.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(~30 s) Próximos passos: o Sprint B começa a 2 de novembro, a partir do walking skeleton que já está a correr; fazer a entrevista ao voluntário de segurança para validar o pressuposto A4 e as personas do Miguel e da Inês; decidir no próximo planeamento se o modo de rede fraca sobe para Should, como o inquérito sugere; e entregar a fatia vertical a 6 de dezembro. Obrigado, ficamos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L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AROL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2377440" cy="23774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246120" y="8686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Farol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Sprint A · product, design and plan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246120" y="2468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One map, one source of truth, one tap to get help, for every academic festival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Bruno Lopes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1240441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Tiago Teixeira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1240493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Tomás Oliveira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1230213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38862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António Guerra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1"/>
                </a:solidFill>
              </a:rPr>
              <a:t>1190409</a:t>
            </a:r>
            <a:endParaRPr lang="en-US" sz="15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Product 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10435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0972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For the teams that organise large academic festivals and the students who attend them, </a:t>
            </a:r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Farol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 is a multi-event platform that links a shared venue map, live event information and help requests in one place, opened by link or QR, with one account for every event.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5968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260055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participants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Find the map, entrances and transport home; ask for help with their location, or a spot marked on the map.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73552" y="2286000"/>
            <a:ext cx="25968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02152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826" y="260055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02152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the event team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02152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Configure the event once; see every request live, triage it with AI and route it to a team.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89904" y="2286000"/>
            <a:ext cx="2596896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318504" y="24688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26005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18504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every festival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18504" y="3474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organiser runs its own event; one event never sees another's data.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Pilot: Queima das Fitas do Porto · ≈ 250,000 entries over 8 nights · out of scope: physical capacity of the gates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students told us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918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</a:rPr>
              <a:t>80 %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93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waited more than 30 min to get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76272"/>
            <a:ext cx="32918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</a:rPr>
              <a:t>87 %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7977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would use the app during the night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46704"/>
            <a:ext cx="329184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4564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2.97 / 5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9502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ease of finding information (1–5)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023360" y="960120"/>
          <a:ext cx="46634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Google Forms, 3–6 and 30 Oct 2026 · 32 valid answers, n = 30 who have been to a festival · convenience sample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we change because of it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078992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10" y="1179942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0607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Venue map stays the centre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166360" y="10607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Most chosen feature: 16 of 31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1143000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589520" y="114300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Confirmed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1700784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792224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10" y="1893174"/>
            <a:ext cx="218724" cy="2187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177393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Entrance status per gate: Could → Should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166360" y="17739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24 of 30 waited &gt; 30 min to get in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589520" y="1856232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589520" y="1856232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Decided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57200" y="2414016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594360" y="2505456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10" y="2606406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24871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Light pages; weak-network mode reopened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16636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Battery 15 of 31, network 10 of 31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589520" y="2569464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589520" y="256946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Decided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57200" y="3127248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25" name="Shape 20"/>
          <p:cNvSpPr/>
          <p:nvPr/>
        </p:nvSpPr>
        <p:spPr>
          <a:xfrm>
            <a:off x="594360" y="3218688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10" y="3319638"/>
            <a:ext cx="218724" cy="21872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188720" y="32004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Help: phone location first, map as fallback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5166360" y="32004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22 of 31 share GPS, 8 only the map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7589520" y="3282696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7589520" y="3282696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Decided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457200" y="3840480"/>
            <a:ext cx="8229600" cy="603504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/>
        </p:spPr>
      </p:sp>
      <p:sp>
        <p:nvSpPr>
          <p:cNvPr id="32" name="Shape 26"/>
          <p:cNvSpPr/>
          <p:nvPr/>
        </p:nvSpPr>
        <p:spPr>
          <a:xfrm>
            <a:off x="594360" y="3931920"/>
            <a:ext cx="420624" cy="42062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10" y="4032870"/>
            <a:ext cx="218724" cy="21872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88720" y="391363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AI on triage, not a participant chatbot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5166360" y="3913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Assistant chosen by 3 of 31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7589520" y="3995928"/>
            <a:ext cx="960120" cy="292608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589520" y="3995928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Confirmed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Backlog changes applied in features.md on 30 Oct · A4 (help is faster) waits for the security-volunteer interview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Who we design for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1324051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Rita, 21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Student · participant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Find WC, first aid and the way home fast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Survey ✓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121408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2578608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227" y="1324051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12848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Miguel, 24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212848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Control room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2258568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See every request: what, where, priority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2212848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Interview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785616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4242816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435" y="1324051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877056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Inês, 22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3877056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Field responder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922776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Know where to go and say “on my way”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877056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Interview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449824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5" name="Shape 20"/>
          <p:cNvSpPr/>
          <p:nvPr/>
        </p:nvSpPr>
        <p:spPr>
          <a:xfrm>
            <a:off x="5907024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643" y="1324051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541264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Sofia, 23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541264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Event admin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5586984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Configure once, publish changes live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541264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Organiser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114032" y="1005840"/>
            <a:ext cx="1554480" cy="342900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32" name="Shape 26"/>
          <p:cNvSpPr/>
          <p:nvPr/>
        </p:nvSpPr>
        <p:spPr>
          <a:xfrm>
            <a:off x="7571232" y="1170432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851" y="1324051"/>
            <a:ext cx="332842" cy="332842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05472" y="19019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Daniel, 27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205472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FarolAdmin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7251192" y="27432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Create events for verified organisers only</a:t>
            </a:r>
            <a:endParaRPr lang="en-US" sz="1300" dirty="0"/>
          </a:p>
        </p:txBody>
      </p:sp>
      <p:sp>
        <p:nvSpPr>
          <p:cNvPr id="37" name="Text 30"/>
          <p:cNvSpPr txBox="1"/>
          <p:nvPr/>
        </p:nvSpPr>
        <p:spPr>
          <a:xfrm>
            <a:off x="7205472" y="3977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Validated by: Team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Proto-personas from the report and public evidence · Rita now checked against the survey; Miguel and Inês wait for the interview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Core journey: a help request, end to end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493" y="132770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72184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Rita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Asks for help: category and her phone location, or a spot on the map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56816" y="1965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2139696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2304288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989" y="1327709"/>
            <a:ext cx="261518" cy="26151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54680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2304288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Farol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2304288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Saves it at once; the control room sees it in ≤ 5 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639312" y="1965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3822192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18" name="Shape 14"/>
          <p:cNvSpPr/>
          <p:nvPr/>
        </p:nvSpPr>
        <p:spPr>
          <a:xfrm>
            <a:off x="3986784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485" y="1327709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37176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3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3986784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Farol AI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3986784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Suggests category, priority and team in ≤ 30 s, or “Not triaged”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321808" y="1965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5504688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25" name="Shape 20"/>
          <p:cNvSpPr/>
          <p:nvPr/>
        </p:nvSpPr>
        <p:spPr>
          <a:xfrm>
            <a:off x="5669280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1" y="1327709"/>
            <a:ext cx="261518" cy="261518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19672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4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5669280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Miguel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5669280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Confirms or changes, routes it to a team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7004304" y="19659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›</a:t>
            </a:r>
            <a:endParaRPr lang="en-US" sz="2400" dirty="0"/>
          </a:p>
        </p:txBody>
      </p:sp>
      <p:sp>
        <p:nvSpPr>
          <p:cNvPr id="31" name="Shape 25"/>
          <p:cNvSpPr/>
          <p:nvPr/>
        </p:nvSpPr>
        <p:spPr>
          <a:xfrm>
            <a:off x="7187184" y="1051560"/>
            <a:ext cx="1517904" cy="2331720"/>
          </a:xfrm>
          <a:prstGeom prst="roundRect">
            <a:avLst>
              <a:gd name="adj" fmla="val 7229"/>
            </a:avLst>
          </a:prstGeom>
          <a:solidFill>
            <a:schemeClr val="bg2"/>
          </a:solidFill>
          <a:ln/>
        </p:spPr>
      </p:sp>
      <p:sp>
        <p:nvSpPr>
          <p:cNvPr id="32" name="Shape 26"/>
          <p:cNvSpPr/>
          <p:nvPr/>
        </p:nvSpPr>
        <p:spPr>
          <a:xfrm>
            <a:off x="7351776" y="1207008"/>
            <a:ext cx="502920" cy="5029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477" y="1327709"/>
            <a:ext cx="261518" cy="261518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202168" y="1234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</a:t>
            </a:r>
            <a:endParaRPr lang="en-US" sz="2400" dirty="0"/>
          </a:p>
        </p:txBody>
      </p:sp>
      <p:sp>
        <p:nvSpPr>
          <p:cNvPr id="35" name="Text 28"/>
          <p:cNvSpPr txBox="1"/>
          <p:nvPr/>
        </p:nvSpPr>
        <p:spPr>
          <a:xfrm>
            <a:off x="7351776" y="1828800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Inês</a:t>
            </a:r>
            <a:endParaRPr lang="en-US" sz="1500" dirty="0"/>
          </a:p>
        </p:txBody>
      </p:sp>
      <p:sp>
        <p:nvSpPr>
          <p:cNvPr id="36" name="Text 29"/>
          <p:cNvSpPr txBox="1"/>
          <p:nvPr/>
        </p:nvSpPr>
        <p:spPr>
          <a:xfrm>
            <a:off x="7351776" y="2176272"/>
            <a:ext cx="1243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Accepts on her phone, goes to the spot, resolves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Rita follows the status live: “Help is on the way”</a:t>
            </a:r>
            <a:endParaRPr lang="en-US" sz="1400" dirty="0"/>
          </a:p>
        </p:txBody>
      </p:sp>
      <p:sp>
        <p:nvSpPr>
          <p:cNvPr id="38" name="Shape 31"/>
          <p:cNvSpPr/>
          <p:nvPr/>
        </p:nvSpPr>
        <p:spPr>
          <a:xfrm>
            <a:off x="457200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530352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W1 Find information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2139696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2212848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W4 Create and set up an event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3822192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3895344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W5 Publish a live update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5504688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57784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W7 Report a problem, earn a badge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7187184" y="3931920"/>
            <a:ext cx="1517904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7" name="Text 40"/>
          <p:cNvSpPr txBox="1"/>
          <p:nvPr/>
        </p:nvSpPr>
        <p:spPr>
          <a:xfrm>
            <a:off x="7260336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W8 Check in (Should)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Eight workflows (W1–W8) with BPMN for the two complete journeys · user-workflows.md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Prioritised backlog: 20 features, 62 stories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017520" cy="411480"/>
          </a:xfrm>
          <a:prstGeom prst="roundRect">
            <a:avLst>
              <a:gd name="adj" fmla="val 1777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Must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017520" cy="2971800"/>
          </a:xfrm>
          <a:prstGeom prst="roundRect">
            <a:avLst>
              <a:gd name="adj" fmla="val 3692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66928" y="1627632"/>
            <a:ext cx="1417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 Login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F2 Account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F3 Events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F4 Roles and teams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F5 Venue map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F6 Help request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F7 Incident backoffice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29968" y="1627632"/>
            <a:ext cx="1417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F8 AI triage + fallback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F9 Transport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F10 Announcements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F12 Map reports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F13 Confirm reports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F14 Report badges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005840"/>
            <a:ext cx="160020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0058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Should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11880" y="1508760"/>
            <a:ext cx="1600200" cy="29718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21608" y="1627632"/>
            <a:ext cx="13807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F15 Attendance badges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F16 Check-in at the venue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F17 Entrance status *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49240" y="1005840"/>
            <a:ext cx="1691640" cy="411480"/>
          </a:xfrm>
          <a:prstGeom prst="roundRect">
            <a:avLst>
              <a:gd name="adj" fmla="val 17778"/>
            </a:avLst>
          </a:prstGeom>
          <a:solidFill>
            <a:schemeClr val="accent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49240" y="10058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Could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349240" y="1508760"/>
            <a:ext cx="1691640" cy="297180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58968" y="1627632"/>
            <a:ext cx="14721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F11 Weak-network mode *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F18 Friends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1005840"/>
            <a:ext cx="1508760" cy="411480"/>
          </a:xfrm>
          <a:prstGeom prst="roundRect">
            <a:avLst>
              <a:gd name="adj" fmla="val 17778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178040" y="10058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Won't (now)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78040" y="1508760"/>
            <a:ext cx="1508760" cy="297180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87768" y="1627632"/>
            <a:ext cx="12893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F19 Chat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F20 Ticket link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* changed after the survey: F17 up to Should; F11 a candidate for Should · MoSCoW, then P0–P2 and XS–XL on the board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Scope of the next sprints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7498080" cy="0"/>
          </a:xfrm>
          <a:prstGeom prst="line">
            <a:avLst/>
          </a:prstGeom>
          <a:noFill/>
          <a:ln w="25400">
            <a:solidFill>
              <a:srgbClr val="8FA9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968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Walking skeleton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done 31 Oct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Reports service: creates and reads synthetic help requests in memory, with health check, HTTP tests, Dockerfile, Compose and CI smoke test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4992" y="10972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64992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3552" y="1920240"/>
            <a:ext cx="25968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56432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Sprint B · vertical slice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56432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 Nov – 6 Dec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56432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participant asks for help on the map; the control room sees it with an AI suggestion, or without when the AI is down, and routes it to a team · 27 stories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0972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81344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89904" y="1920240"/>
            <a:ext cx="2596896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72784" y="2029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Sprint C · MVP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72784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7 Dec – 3 Jan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272784" y="274320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Accounts, transport with shuttles and the D2 warning, announcements, reports and badges; AI evaluated against the non-AI baseline · 28 stories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45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 release is a git tag built and run locally · cut line for Sprint C defined in features.md §8.2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Next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54203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14400" y="246888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Sprint B starts from the walking skeleton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46888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Nov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09067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01752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Interview with a security volunteer: validate A4, Miguel and Inês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30175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Sprint 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363931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14400" y="356616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Decide on weak-network mode (F11) after the survey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5661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next planning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8795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14400" y="4114800"/>
            <a:ext cx="6035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Vertical slice: help request with AI triage and fallback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411480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 Dec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rol">
  <a:themeElements>
    <a:clrScheme name="Farol">
      <a:dk1>
        <a:srgbClr val="1B2430"/>
      </a:dk1>
      <a:lt1>
        <a:srgbClr val="FFFFFF"/>
      </a:lt1>
      <a:dk2>
        <a:srgbClr val="0B1F3A"/>
      </a:dk2>
      <a:lt2>
        <a:srgbClr val="EEF2F7"/>
      </a:lt2>
      <a:accent1>
        <a:srgbClr val="F5B301"/>
      </a:accent1>
      <a:accent2>
        <a:srgbClr val="1F4E79"/>
      </a:accent2>
      <a:accent3>
        <a:srgbClr val="5B6B7F"/>
      </a:accent3>
      <a:accent4>
        <a:srgbClr val="2E8B57"/>
      </a:accent4>
      <a:accent5>
        <a:srgbClr val="C0392B"/>
      </a:accent5>
      <a:accent6>
        <a:srgbClr val="8FA9B8"/>
      </a:accent6>
      <a:hlink>
        <a:srgbClr val="1F4E79"/>
      </a:hlink>
      <a:folHlink>
        <a:srgbClr val="5B6B7F"/>
      </a:folHlink>
    </a:clrScheme>
    <a:fontScheme name="Faro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Farol · Sprint A</dc:title>
  <dc:subject>PptxGenJS Presentation</dc:subject>
  <dc:creator>Farol team (LABDSOF 2026/27)</dc:creator>
  <cp:lastModifiedBy>Farol team (LABDSOF 2026/27)</cp:lastModifiedBy>
  <cp:revision>1</cp:revision>
  <dcterms:created xsi:type="dcterms:W3CDTF">2026-10-31T17:46:06Z</dcterms:created>
  <dcterms:modified xsi:type="dcterms:W3CDTF">2026-10-31T17:46:06Z</dcterms:modified>
</cp:coreProperties>
</file>