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9" r:id="rId3"/>
    <p:sldId id="257" r:id="rId4"/>
    <p:sldId id="258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(Bruno Lopes)" id="{3C1F5A2E-6D4B-4E8A-9B71-2F0C8D9E4A10}">
          <p14:sldIdLst>
            <p14:sldId id="256"/>
          </p14:sldIdLst>
        </p14:section>
        <p14:section name="Personas (Tiago Teixeira)" id="{7A9E2B44-1C3D-4F6A-8E25-5B0D7C1F9E32}">
          <p14:sldIdLst>
            <p14:sldId id="259"/>
          </p14:sldIdLst>
        </p14:section>
        <p14:section name="Main features (Bruno Lopes)" id="{B2EF1337-627E-81AE-C510-0D08FB5C3D36}">
          <p14:sldIdLst>
            <p14:sldId id="257"/>
            <p14:sldId id="258"/>
          </p14:sldIdLst>
        </p14:section>
        <p14:section name="User workflows (António Guerra)" id="{5D2A7C18-9E41-4B6F-A3D0-8C7E1F24B9A6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1334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António Guerra.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(~70 s) Desenhámos o Farol para quatro pessoas. O relatório tem dois grupos de utilizadores, os participantes e a equipa do evento, mas dentro da equipa há dois trabalhos diferentes: quem configura o evento e quem trata os pedidos de ajuda durante a noite. A Rita é estudante: está no recinto à noite, com pouca bateria e muito barulho, e quer encontrar a casa de banho, os primeiros socorros e o caminho para casa. Hoje a informação fica desatualizada e a planta é uma imagem nas redes sociais. Para ela, sucesso é pedir ajuda para uma amiga em menos de 30 segundos. O Miguel é voluntário da PCR: recebe muitos pedidos ao mesmo tempo, por rádio e telefone, sem localização nem prioridade. Precisa de ver cada pedido em segundos, já com a triagem da IA. A Sofia é da organização: configura o evento e publica alterações durante as noites, mas só gere o seu evento. Como o Farol tem vários festivais, a Queima do Porto, de Braga, de Coimbra, alguém tem de os criar: é o Daniel, da equipa Farol. Confirma que quem pede o evento é mesmo a organização, cria-o e nomeia o responsável, e transfere esse papel quando a direção muda. Nunca vê os pedidos de ajuda nem os dados dos eventos. Importante: são proto-personas, construídas a partir do relatório e de dados públicos, com nomes fictícios. Vamos validá-las com o inquérito aos estudantes, a entrevista ao voluntário de segurança e uma conversa com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primeiro aparece o Ligar 112; se não for uma emergência,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(~60 s) No Farol há duas formas de levantar a mão, e são diferentes de propósito. Se é urgente, ou se é sobre uma pessoa, é um pedido de ajuda. A Rita toca em Pedir ajuda: primeiro aparece o Ligar 112; se não for uma emergência, marca o local na planta. A IA sugere prioridade e equipa em menos de 30 segundos, mas quem decide é o Miguel, que confirma e encaminha para a equipa médica, de segurança ou da PCR. A Rita acompanha o estado em tempo real. Se é sobre um sítio, por exemplo uma fila longa na porta 2, é um report. A equipa responsável, aqui a segurança, vê-o logo e confirma-o. Só então aparece na planta de todos, com a hora, até expirar. E só os reports confirmados contam para os badges da Rita: os falsos expiram e não valem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" name="Lighthouse icon" descr="Lighthous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ó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António Guerra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</a:rPr>
              <a:t>Who we design for</a:t>
            </a:r>
            <a:endParaRPr lang="en-US" sz="3200" dirty="0"/>
          </a:p>
        </p:txBody>
      </p:sp>
      <p:sp>
        <p:nvSpPr>
          <p:cNvPr id="3" name="Rita card"/>
          <p:cNvSpPr/>
          <p:nvPr/>
        </p:nvSpPr>
        <p:spPr>
          <a:xfrm>
            <a:off x="45720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Rita icon circle"/>
          <p:cNvSpPr/>
          <p:nvPr/>
        </p:nvSpPr>
        <p:spPr>
          <a:xfrm>
            <a:off x="62179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Rita icon" descr="Rita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261872"/>
            <a:ext cx="201168" cy="201168"/>
          </a:xfrm>
          <a:prstGeom prst="rect">
            <a:avLst/>
          </a:prstGeom>
        </p:spPr>
      </p:pic>
      <p:sp>
        <p:nvSpPr>
          <p:cNvPr id="6" name="Rita name"/>
          <p:cNvSpPr txBox="1"/>
          <p:nvPr/>
        </p:nvSpPr>
        <p:spPr>
          <a:xfrm>
            <a:off x="111556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Rita role"/>
          <p:cNvSpPr txBox="1"/>
          <p:nvPr/>
        </p:nvSpPr>
        <p:spPr>
          <a:xfrm>
            <a:off x="62179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Student · participant app</a:t>
            </a:r>
            <a:endParaRPr lang="en-US" sz="1100" dirty="0"/>
          </a:p>
        </p:txBody>
      </p:sp>
      <p:pic>
        <p:nvPicPr>
          <p:cNvPr id="8" name="Rit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943100"/>
            <a:ext cx="146304" cy="146304"/>
          </a:xfrm>
          <a:prstGeom prst="rect">
            <a:avLst/>
          </a:prstGeom>
        </p:spPr>
      </p:pic>
      <p:sp>
        <p:nvSpPr>
          <p:cNvPr id="9" name="Rita Goal label"/>
          <p:cNvSpPr txBox="1"/>
          <p:nvPr/>
        </p:nvSpPr>
        <p:spPr>
          <a:xfrm>
            <a:off x="84124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10" name="Rita Goal"/>
          <p:cNvSpPr txBox="1"/>
          <p:nvPr/>
        </p:nvSpPr>
        <p:spPr>
          <a:xfrm>
            <a:off x="62179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find WC, first aid and the way home, fast</a:t>
            </a:r>
            <a:endParaRPr lang="en-US" sz="1200" dirty="0"/>
          </a:p>
        </p:txBody>
      </p:sp>
      <p:pic>
        <p:nvPicPr>
          <p:cNvPr id="11" name="Rit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546604"/>
            <a:ext cx="146304" cy="146304"/>
          </a:xfrm>
          <a:prstGeom prst="rect">
            <a:avLst/>
          </a:prstGeom>
        </p:spPr>
      </p:pic>
      <p:sp>
        <p:nvSpPr>
          <p:cNvPr id="12" name="Rita Pain label"/>
          <p:cNvSpPr txBox="1"/>
          <p:nvPr/>
        </p:nvSpPr>
        <p:spPr>
          <a:xfrm>
            <a:off x="84124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13" name="Rita Pain"/>
          <p:cNvSpPr txBox="1"/>
          <p:nvPr/>
        </p:nvSpPr>
        <p:spPr>
          <a:xfrm>
            <a:off x="62179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info goes stale; the map is an image</a:t>
            </a:r>
            <a:endParaRPr lang="en-US" sz="1200" dirty="0"/>
          </a:p>
        </p:txBody>
      </p:sp>
      <p:pic>
        <p:nvPicPr>
          <p:cNvPr id="14" name="Rit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150108"/>
            <a:ext cx="146304" cy="146304"/>
          </a:xfrm>
          <a:prstGeom prst="rect">
            <a:avLst/>
          </a:prstGeom>
        </p:spPr>
      </p:pic>
      <p:sp>
        <p:nvSpPr>
          <p:cNvPr id="15" name="Rita Success label"/>
          <p:cNvSpPr txBox="1"/>
          <p:nvPr/>
        </p:nvSpPr>
        <p:spPr>
          <a:xfrm>
            <a:off x="84124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16" name="Rita Success"/>
          <p:cNvSpPr txBox="1"/>
          <p:nvPr/>
        </p:nvSpPr>
        <p:spPr>
          <a:xfrm>
            <a:off x="62179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asks help for a friend in under 30 s</a:t>
            </a:r>
            <a:endParaRPr lang="en-US" sz="1200" dirty="0"/>
          </a:p>
        </p:txBody>
      </p:sp>
      <p:sp>
        <p:nvSpPr>
          <p:cNvPr id="17" name="Miguel card"/>
          <p:cNvSpPr/>
          <p:nvPr/>
        </p:nvSpPr>
        <p:spPr>
          <a:xfrm>
            <a:off x="256032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Miguel icon circle"/>
          <p:cNvSpPr/>
          <p:nvPr/>
        </p:nvSpPr>
        <p:spPr>
          <a:xfrm>
            <a:off x="272491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Miguel icon" descr="Miguel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261872"/>
            <a:ext cx="201168" cy="201168"/>
          </a:xfrm>
          <a:prstGeom prst="rect">
            <a:avLst/>
          </a:prstGeom>
        </p:spPr>
      </p:pic>
      <p:sp>
        <p:nvSpPr>
          <p:cNvPr id="20" name="Miguel name"/>
          <p:cNvSpPr txBox="1"/>
          <p:nvPr/>
        </p:nvSpPr>
        <p:spPr>
          <a:xfrm>
            <a:off x="321868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21" name="Miguel role"/>
          <p:cNvSpPr txBox="1"/>
          <p:nvPr/>
        </p:nvSpPr>
        <p:spPr>
          <a:xfrm>
            <a:off x="272491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PCR volunteer · operator</a:t>
            </a:r>
            <a:endParaRPr lang="en-US" sz="1100" dirty="0"/>
          </a:p>
        </p:txBody>
      </p:sp>
      <p:pic>
        <p:nvPicPr>
          <p:cNvPr id="22" name="Migu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4912" y="1943100"/>
            <a:ext cx="146304" cy="146304"/>
          </a:xfrm>
          <a:prstGeom prst="rect">
            <a:avLst/>
          </a:prstGeom>
        </p:spPr>
      </p:pic>
      <p:sp>
        <p:nvSpPr>
          <p:cNvPr id="23" name="Miguel Goal label"/>
          <p:cNvSpPr txBox="1"/>
          <p:nvPr/>
        </p:nvSpPr>
        <p:spPr>
          <a:xfrm>
            <a:off x="294436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24" name="Miguel Goal"/>
          <p:cNvSpPr txBox="1"/>
          <p:nvPr/>
        </p:nvSpPr>
        <p:spPr>
          <a:xfrm>
            <a:off x="272491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see every request: what, where, status</a:t>
            </a:r>
            <a:endParaRPr lang="en-US" sz="1200" dirty="0"/>
          </a:p>
        </p:txBody>
      </p:sp>
      <p:pic>
        <p:nvPicPr>
          <p:cNvPr id="25" name="Migu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2546604"/>
            <a:ext cx="146304" cy="146304"/>
          </a:xfrm>
          <a:prstGeom prst="rect">
            <a:avLst/>
          </a:prstGeom>
        </p:spPr>
      </p:pic>
      <p:sp>
        <p:nvSpPr>
          <p:cNvPr id="26" name="Miguel Pain label"/>
          <p:cNvSpPr txBox="1"/>
          <p:nvPr/>
        </p:nvSpPr>
        <p:spPr>
          <a:xfrm>
            <a:off x="294436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27" name="Miguel Pain"/>
          <p:cNvSpPr txBox="1"/>
          <p:nvPr/>
        </p:nvSpPr>
        <p:spPr>
          <a:xfrm>
            <a:off x="272491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radio and phone, no location or priority</a:t>
            </a:r>
            <a:endParaRPr lang="en-US" sz="1200" dirty="0"/>
          </a:p>
        </p:txBody>
      </p:sp>
      <p:pic>
        <p:nvPicPr>
          <p:cNvPr id="28" name="Migu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3150108"/>
            <a:ext cx="146304" cy="146304"/>
          </a:xfrm>
          <a:prstGeom prst="rect">
            <a:avLst/>
          </a:prstGeom>
        </p:spPr>
      </p:pic>
      <p:sp>
        <p:nvSpPr>
          <p:cNvPr id="29" name="Miguel Success label"/>
          <p:cNvSpPr txBox="1"/>
          <p:nvPr/>
        </p:nvSpPr>
        <p:spPr>
          <a:xfrm>
            <a:off x="294436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30" name="Miguel Success"/>
          <p:cNvSpPr txBox="1"/>
          <p:nvPr/>
        </p:nvSpPr>
        <p:spPr>
          <a:xfrm>
            <a:off x="272491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request in seconds, triaged in ≤ 30 s</a:t>
            </a:r>
            <a:endParaRPr lang="en-US" sz="1200" dirty="0"/>
          </a:p>
        </p:txBody>
      </p:sp>
      <p:sp>
        <p:nvSpPr>
          <p:cNvPr id="31" name="Sofia card"/>
          <p:cNvSpPr/>
          <p:nvPr/>
        </p:nvSpPr>
        <p:spPr>
          <a:xfrm>
            <a:off x="466344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2" name="Sofia icon circle"/>
          <p:cNvSpPr/>
          <p:nvPr/>
        </p:nvSpPr>
        <p:spPr>
          <a:xfrm>
            <a:off x="482803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Sofia icon" descr="Sofia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616" y="1261872"/>
            <a:ext cx="201168" cy="201168"/>
          </a:xfrm>
          <a:prstGeom prst="rect">
            <a:avLst/>
          </a:prstGeom>
        </p:spPr>
      </p:pic>
      <p:sp>
        <p:nvSpPr>
          <p:cNvPr id="34" name="Sofia name"/>
          <p:cNvSpPr txBox="1"/>
          <p:nvPr/>
        </p:nvSpPr>
        <p:spPr>
          <a:xfrm>
            <a:off x="532180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35" name="Sofia role"/>
          <p:cNvSpPr txBox="1"/>
          <p:nvPr/>
        </p:nvSpPr>
        <p:spPr>
          <a:xfrm>
            <a:off x="482803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Organiser · her event only</a:t>
            </a:r>
            <a:endParaRPr lang="en-US" sz="1100" dirty="0"/>
          </a:p>
        </p:txBody>
      </p:sp>
      <p:pic>
        <p:nvPicPr>
          <p:cNvPr id="36" name="Sofi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943100"/>
            <a:ext cx="146304" cy="146304"/>
          </a:xfrm>
          <a:prstGeom prst="rect">
            <a:avLst/>
          </a:prstGeom>
        </p:spPr>
      </p:pic>
      <p:sp>
        <p:nvSpPr>
          <p:cNvPr id="37" name="Sofia Goal label"/>
          <p:cNvSpPr txBox="1"/>
          <p:nvPr/>
        </p:nvSpPr>
        <p:spPr>
          <a:xfrm>
            <a:off x="504748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38" name="Sofia Goal"/>
          <p:cNvSpPr txBox="1"/>
          <p:nvPr/>
        </p:nvSpPr>
        <p:spPr>
          <a:xfrm>
            <a:off x="482803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configure once, publish changes live</a:t>
            </a:r>
            <a:endParaRPr lang="en-US" sz="1200" dirty="0"/>
          </a:p>
        </p:txBody>
      </p:sp>
      <p:pic>
        <p:nvPicPr>
          <p:cNvPr id="39" name="Sofi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2546604"/>
            <a:ext cx="146304" cy="146304"/>
          </a:xfrm>
          <a:prstGeom prst="rect">
            <a:avLst/>
          </a:prstGeom>
        </p:spPr>
      </p:pic>
      <p:sp>
        <p:nvSpPr>
          <p:cNvPr id="40" name="Sofia Pain label"/>
          <p:cNvSpPr txBox="1"/>
          <p:nvPr/>
        </p:nvSpPr>
        <p:spPr>
          <a:xfrm>
            <a:off x="504748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41" name="Sofia Pain"/>
          <p:cNvSpPr txBox="1"/>
          <p:nvPr/>
        </p:nvSpPr>
        <p:spPr>
          <a:xfrm>
            <a:off x="482803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partner talks on its own channel</a:t>
            </a:r>
            <a:endParaRPr lang="en-US" sz="1200" dirty="0"/>
          </a:p>
        </p:txBody>
      </p:sp>
      <p:pic>
        <p:nvPicPr>
          <p:cNvPr id="42" name="Sofi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150108"/>
            <a:ext cx="146304" cy="146304"/>
          </a:xfrm>
          <a:prstGeom prst="rect">
            <a:avLst/>
          </a:prstGeom>
        </p:spPr>
      </p:pic>
      <p:sp>
        <p:nvSpPr>
          <p:cNvPr id="43" name="Sofia Success label"/>
          <p:cNvSpPr txBox="1"/>
          <p:nvPr/>
        </p:nvSpPr>
        <p:spPr>
          <a:xfrm>
            <a:off x="504748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44" name="Sofia Success"/>
          <p:cNvSpPr txBox="1"/>
          <p:nvPr/>
        </p:nvSpPr>
        <p:spPr>
          <a:xfrm>
            <a:off x="482803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next night ready with configuration only</a:t>
            </a:r>
            <a:endParaRPr lang="en-US" sz="1200" dirty="0"/>
          </a:p>
        </p:txBody>
      </p:sp>
      <p:sp>
        <p:nvSpPr>
          <p:cNvPr id="45" name="Daniel card"/>
          <p:cNvSpPr/>
          <p:nvPr/>
        </p:nvSpPr>
        <p:spPr>
          <a:xfrm>
            <a:off x="676656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6" name="Daniel icon circle"/>
          <p:cNvSpPr/>
          <p:nvPr/>
        </p:nvSpPr>
        <p:spPr>
          <a:xfrm>
            <a:off x="693115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7" name="Daniel icon" descr="Daniel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6" y="1261872"/>
            <a:ext cx="201168" cy="201168"/>
          </a:xfrm>
          <a:prstGeom prst="rect">
            <a:avLst/>
          </a:prstGeom>
        </p:spPr>
      </p:pic>
      <p:sp>
        <p:nvSpPr>
          <p:cNvPr id="48" name="Daniel name"/>
          <p:cNvSpPr txBox="1"/>
          <p:nvPr/>
        </p:nvSpPr>
        <p:spPr>
          <a:xfrm>
            <a:off x="742492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49" name="Daniel role"/>
          <p:cNvSpPr txBox="1"/>
          <p:nvPr/>
        </p:nvSpPr>
        <p:spPr>
          <a:xfrm>
            <a:off x="693115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Farol team · all events</a:t>
            </a:r>
            <a:endParaRPr lang="en-US" sz="1100" dirty="0"/>
          </a:p>
        </p:txBody>
      </p:sp>
      <p:pic>
        <p:nvPicPr>
          <p:cNvPr id="50" name="Dani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1943100"/>
            <a:ext cx="146304" cy="146304"/>
          </a:xfrm>
          <a:prstGeom prst="rect">
            <a:avLst/>
          </a:prstGeom>
        </p:spPr>
      </p:pic>
      <p:sp>
        <p:nvSpPr>
          <p:cNvPr id="51" name="Daniel Goal label"/>
          <p:cNvSpPr txBox="1"/>
          <p:nvPr/>
        </p:nvSpPr>
        <p:spPr>
          <a:xfrm>
            <a:off x="71506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52" name="Daniel Goal"/>
          <p:cNvSpPr txBox="1"/>
          <p:nvPr/>
        </p:nvSpPr>
        <p:spPr>
          <a:xfrm>
            <a:off x="693115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onboard real festivals, no new code</a:t>
            </a:r>
            <a:endParaRPr lang="en-US" sz="1200" dirty="0"/>
          </a:p>
        </p:txBody>
      </p:sp>
      <p:pic>
        <p:nvPicPr>
          <p:cNvPr id="53" name="Dani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546604"/>
            <a:ext cx="146304" cy="146304"/>
          </a:xfrm>
          <a:prstGeom prst="rect">
            <a:avLst/>
          </a:prstGeom>
        </p:spPr>
      </p:pic>
      <p:sp>
        <p:nvSpPr>
          <p:cNvPr id="54" name="Daniel Pain label"/>
          <p:cNvSpPr txBox="1"/>
          <p:nvPr/>
        </p:nvSpPr>
        <p:spPr>
          <a:xfrm>
            <a:off x="715060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55" name="Daniel Pain"/>
          <p:cNvSpPr txBox="1"/>
          <p:nvPr/>
        </p:nvSpPr>
        <p:spPr>
          <a:xfrm>
            <a:off x="693115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fake events; owners change every year</a:t>
            </a:r>
            <a:endParaRPr lang="en-US" sz="1200" dirty="0"/>
          </a:p>
        </p:txBody>
      </p:sp>
      <p:pic>
        <p:nvPicPr>
          <p:cNvPr id="56" name="Dani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3150108"/>
            <a:ext cx="146304" cy="146304"/>
          </a:xfrm>
          <a:prstGeom prst="rect">
            <a:avLst/>
          </a:prstGeom>
        </p:spPr>
      </p:pic>
      <p:sp>
        <p:nvSpPr>
          <p:cNvPr id="57" name="Daniel Success label"/>
          <p:cNvSpPr txBox="1"/>
          <p:nvPr/>
        </p:nvSpPr>
        <p:spPr>
          <a:xfrm>
            <a:off x="715060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58" name="Daniel Success"/>
          <p:cNvSpPr txBox="1"/>
          <p:nvPr/>
        </p:nvSpPr>
        <p:spPr>
          <a:xfrm>
            <a:off x="693115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new festival live, its data never seen</a:t>
            </a:r>
            <a:endParaRPr lang="en-US" sz="1200" dirty="0"/>
          </a:p>
        </p:txBody>
      </p:sp>
      <p:sp>
        <p:nvSpPr>
          <p:cNvPr id="59" name="Validation band"/>
          <p:cNvSpPr/>
          <p:nvPr/>
        </p:nvSpPr>
        <p:spPr>
          <a:xfrm>
            <a:off x="457200" y="3904488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0" name="Proto-personas icon" descr="Proto-persona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1" name="Proto-personas heading"/>
          <p:cNvSpPr txBox="1"/>
          <p:nvPr/>
        </p:nvSpPr>
        <p:spPr>
          <a:xfrm>
            <a:off x="1024128" y="3995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Proto-personas</a:t>
            </a:r>
            <a:endParaRPr lang="en-US" sz="1600" dirty="0"/>
          </a:p>
        </p:txBody>
      </p:sp>
      <p:sp>
        <p:nvSpPr>
          <p:cNvPr id="62" name="Proto-personas text"/>
          <p:cNvSpPr txBox="1"/>
          <p:nvPr/>
        </p:nvSpPr>
        <p:spPr>
          <a:xfrm>
            <a:off x="658368" y="43708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From the report and public evidence. Names are fictional; no user data yet.</a:t>
            </a:r>
            <a:endParaRPr lang="en-US" sz="1050" dirty="0"/>
          </a:p>
        </p:txBody>
      </p:sp>
      <p:sp>
        <p:nvSpPr>
          <p:cNvPr id="63" name="Student survey circle"/>
          <p:cNvSpPr/>
          <p:nvPr/>
        </p:nvSpPr>
        <p:spPr>
          <a:xfrm>
            <a:off x="333756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4" name="Student survey icon" descr="Student surve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19856" y="4224528"/>
            <a:ext cx="201168" cy="201168"/>
          </a:xfrm>
          <a:prstGeom prst="rect">
            <a:avLst/>
          </a:prstGeom>
        </p:spPr>
      </p:pic>
      <p:sp>
        <p:nvSpPr>
          <p:cNvPr id="65" name="Student survey label"/>
          <p:cNvSpPr txBox="1"/>
          <p:nvPr/>
        </p:nvSpPr>
        <p:spPr>
          <a:xfrm>
            <a:off x="379476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Student survey</a:t>
            </a:r>
            <a:endParaRPr lang="en-US" sz="1200" dirty="0"/>
          </a:p>
        </p:txBody>
      </p:sp>
      <p:sp>
        <p:nvSpPr>
          <p:cNvPr id="66" name="Student survey target"/>
          <p:cNvSpPr txBox="1"/>
          <p:nvPr/>
        </p:nvSpPr>
        <p:spPr>
          <a:xfrm>
            <a:off x="379476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Rita</a:t>
            </a:r>
            <a:endParaRPr lang="en-US" sz="1100" dirty="0"/>
          </a:p>
        </p:txBody>
      </p:sp>
      <p:sp>
        <p:nvSpPr>
          <p:cNvPr id="67" name="Security interview circle"/>
          <p:cNvSpPr/>
          <p:nvPr/>
        </p:nvSpPr>
        <p:spPr>
          <a:xfrm>
            <a:off x="512064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8" name="Security interview icon" descr="Security interview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2936" y="4224528"/>
            <a:ext cx="201168" cy="201168"/>
          </a:xfrm>
          <a:prstGeom prst="rect">
            <a:avLst/>
          </a:prstGeom>
        </p:spPr>
      </p:pic>
      <p:sp>
        <p:nvSpPr>
          <p:cNvPr id="69" name="Security interview label"/>
          <p:cNvSpPr txBox="1"/>
          <p:nvPr/>
        </p:nvSpPr>
        <p:spPr>
          <a:xfrm>
            <a:off x="557784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Security interview</a:t>
            </a:r>
            <a:endParaRPr lang="en-US" sz="1200" dirty="0"/>
          </a:p>
        </p:txBody>
      </p:sp>
      <p:sp>
        <p:nvSpPr>
          <p:cNvPr id="70" name="Security interview target"/>
          <p:cNvSpPr txBox="1"/>
          <p:nvPr/>
        </p:nvSpPr>
        <p:spPr>
          <a:xfrm>
            <a:off x="557784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Miguel</a:t>
            </a:r>
            <a:endParaRPr lang="en-US" sz="1100" dirty="0"/>
          </a:p>
        </p:txBody>
      </p:sp>
      <p:sp>
        <p:nvSpPr>
          <p:cNvPr id="71" name="Organiser talk circle"/>
          <p:cNvSpPr/>
          <p:nvPr/>
        </p:nvSpPr>
        <p:spPr>
          <a:xfrm>
            <a:off x="690372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2" name="Organiser talk icon" descr="Organiser tal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6016" y="4224528"/>
            <a:ext cx="201168" cy="201168"/>
          </a:xfrm>
          <a:prstGeom prst="rect">
            <a:avLst/>
          </a:prstGeom>
        </p:spPr>
      </p:pic>
      <p:sp>
        <p:nvSpPr>
          <p:cNvPr id="73" name="Organiser talk label"/>
          <p:cNvSpPr txBox="1"/>
          <p:nvPr/>
        </p:nvSpPr>
        <p:spPr>
          <a:xfrm>
            <a:off x="736092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Organiser talk</a:t>
            </a:r>
            <a:endParaRPr lang="en-US" sz="1200" dirty="0"/>
          </a:p>
        </p:txBody>
      </p:sp>
      <p:sp>
        <p:nvSpPr>
          <p:cNvPr id="74" name="Organiser talk target"/>
          <p:cNvSpPr txBox="1"/>
          <p:nvPr/>
        </p:nvSpPr>
        <p:spPr>
          <a:xfrm>
            <a:off x="736092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Sofia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/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Participant app icon" descr="Participant ap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/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/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" name="Icon: Venue map with points of interest" descr="Venue map with points of inter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/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Icon: Ask for help, 112 shown first" descr="Ask for help, 112 shown fir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, 112 shown first"/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help, 112 shown first</a:t>
            </a:r>
            <a:endParaRPr lang="en-US" sz="1400" dirty="0"/>
          </a:p>
        </p:txBody>
      </p:sp>
      <p:sp>
        <p:nvSpPr>
          <p:cNvPr id="12" name="Icon circle: Transport home: STCP + shuttles"/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con: Transport home: STCP + shuttles" descr="Transport home: STCP + shuttl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/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/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6" name="Icon: Live announcements, timestamped" descr="Live announcements, timestamp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/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/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Icon: Report problems on the map" descr="Report problems on the ma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/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/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2" name="Event team backoffice icon" descr="Event team backoffice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/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/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5" name="Icon: Events, roles and response teams" descr="Events, roles and response team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/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8" name="Icon: Live help requests on the map" descr="Live help requests on the 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/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/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1" name="Icon: Prioritise and route requests" descr="Prioritise and route request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/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/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4" name="Icon: Confirm or reject reports" descr="Confirm or reject report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/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/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7" name="Icon: Publish news and shuttles" descr="Publish news and shuttl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/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/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0" name="Shared map icon" descr="Lighthouse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/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/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3" name="Link right"/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4" name="Footnote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/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I triage icon circle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I triage icon" descr="AI tria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/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/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/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Map reports icon circle"/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Map reports icon" descr="Map report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/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/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/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Live transport icon circle"/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5" name="Live transport icon" descr="Live transpor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/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/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/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Badges icon" descr="Medal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/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/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/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Wood tier label"/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/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Bronze tier label"/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/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Silver tier label"/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/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Gold tier label"/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/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Platinum tier label"/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/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Diamond tier label"/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ser workfl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Help for people, reports for places</a:t>
            </a:r>
            <a:endParaRPr lang="en-US" sz="3200" dirty="0"/>
          </a:p>
        </p:txBody>
      </p:sp>
      <p:sp>
        <p:nvSpPr>
          <p:cNvPr id="3" name="Ask for help card"/>
          <p:cNvSpPr/>
          <p:nvPr/>
        </p:nvSpPr>
        <p:spPr>
          <a:xfrm>
            <a:off x="457200" y="1005840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sk for help icon circle"/>
          <p:cNvSpPr/>
          <p:nvPr/>
        </p:nvSpPr>
        <p:spPr>
          <a:xfrm>
            <a:off x="685800" y="122529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sk for help icon" descr="Ask for hel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" y="1328166"/>
            <a:ext cx="251460" cy="251460"/>
          </a:xfrm>
          <a:prstGeom prst="rect">
            <a:avLst/>
          </a:prstGeom>
        </p:spPr>
      </p:pic>
      <p:sp>
        <p:nvSpPr>
          <p:cNvPr id="6" name="Ask for help heading"/>
          <p:cNvSpPr txBox="1"/>
          <p:nvPr/>
        </p:nvSpPr>
        <p:spPr>
          <a:xfrm>
            <a:off x="685800" y="179222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Ask for help</a:t>
            </a:r>
            <a:endParaRPr lang="en-US" sz="1600" dirty="0"/>
          </a:p>
        </p:txBody>
      </p:sp>
      <p:sp>
        <p:nvSpPr>
          <p:cNvPr id="7" name="Ask for help subtitle"/>
          <p:cNvSpPr txBox="1"/>
          <p:nvPr/>
        </p:nvSpPr>
        <p:spPr>
          <a:xfrm>
            <a:off x="685800" y="21031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Urgent, or about a person</a:t>
            </a:r>
            <a:endParaRPr lang="en-US" sz="1100" dirty="0"/>
          </a:p>
        </p:txBody>
      </p:sp>
      <p:sp>
        <p:nvSpPr>
          <p:cNvPr id="8" name="Ask for help step 1 icon circle"/>
          <p:cNvSpPr/>
          <p:nvPr/>
        </p:nvSpPr>
        <p:spPr>
          <a:xfrm>
            <a:off x="2560320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Ask for help step 1 icon" descr="Ask for help step 1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731" y="1311707"/>
            <a:ext cx="211226" cy="211226"/>
          </a:xfrm>
          <a:prstGeom prst="rect">
            <a:avLst/>
          </a:prstGeom>
        </p:spPr>
      </p:pic>
      <p:sp>
        <p:nvSpPr>
          <p:cNvPr id="10" name="Ask for help step 1 actor"/>
          <p:cNvSpPr txBox="1"/>
          <p:nvPr/>
        </p:nvSpPr>
        <p:spPr>
          <a:xfrm>
            <a:off x="3017520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11" name="Ask for help step 1 text"/>
          <p:cNvSpPr txBox="1"/>
          <p:nvPr/>
        </p:nvSpPr>
        <p:spPr>
          <a:xfrm>
            <a:off x="2560320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112 shown first; marks the spot on the map</a:t>
            </a:r>
            <a:endParaRPr lang="en-US" sz="1200" dirty="0"/>
          </a:p>
        </p:txBody>
      </p:sp>
      <p:cxnSp>
        <p:nvCxnSpPr>
          <p:cNvPr id="12" name="Ask for help arrow 1"/>
          <p:cNvCxnSpPr/>
          <p:nvPr/>
        </p:nvCxnSpPr>
        <p:spPr>
          <a:xfrm>
            <a:off x="3867912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3" name="Ask for help step 2 icon circle"/>
          <p:cNvSpPr/>
          <p:nvPr/>
        </p:nvSpPr>
        <p:spPr>
          <a:xfrm>
            <a:off x="4096512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4" name="Ask for help step 2 icon" descr="Ask for help step 2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923" y="1311707"/>
            <a:ext cx="211226" cy="211226"/>
          </a:xfrm>
          <a:prstGeom prst="rect">
            <a:avLst/>
          </a:prstGeom>
        </p:spPr>
      </p:pic>
      <p:sp>
        <p:nvSpPr>
          <p:cNvPr id="15" name="Ask for help step 2 actor"/>
          <p:cNvSpPr txBox="1"/>
          <p:nvPr/>
        </p:nvSpPr>
        <p:spPr>
          <a:xfrm>
            <a:off x="4553712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Farol AI</a:t>
            </a:r>
            <a:endParaRPr lang="en-US" sz="1200" dirty="0"/>
          </a:p>
        </p:txBody>
      </p:sp>
      <p:sp>
        <p:nvSpPr>
          <p:cNvPr id="16" name="Ask for help step 2 text"/>
          <p:cNvSpPr txBox="1"/>
          <p:nvPr/>
        </p:nvSpPr>
        <p:spPr>
          <a:xfrm>
            <a:off x="4096512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Suggests priority and team in ≤ 30 s</a:t>
            </a:r>
            <a:endParaRPr lang="en-US" sz="1200" dirty="0"/>
          </a:p>
        </p:txBody>
      </p:sp>
      <p:cxnSp>
        <p:nvCxnSpPr>
          <p:cNvPr id="17" name="Ask for help arrow 2"/>
          <p:cNvCxnSpPr/>
          <p:nvPr/>
        </p:nvCxnSpPr>
        <p:spPr>
          <a:xfrm>
            <a:off x="5404104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8" name="Ask for help step 3 icon circle"/>
          <p:cNvSpPr/>
          <p:nvPr/>
        </p:nvSpPr>
        <p:spPr>
          <a:xfrm>
            <a:off x="5632704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Ask for help step 3 icon" descr="Ask for help step 3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9115" y="1311707"/>
            <a:ext cx="211226" cy="211226"/>
          </a:xfrm>
          <a:prstGeom prst="rect">
            <a:avLst/>
          </a:prstGeom>
        </p:spPr>
      </p:pic>
      <p:sp>
        <p:nvSpPr>
          <p:cNvPr id="20" name="Ask for help step 3 actor"/>
          <p:cNvSpPr txBox="1"/>
          <p:nvPr/>
        </p:nvSpPr>
        <p:spPr>
          <a:xfrm>
            <a:off x="6089904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sp>
        <p:nvSpPr>
          <p:cNvPr id="21" name="Ask for help step 3 text"/>
          <p:cNvSpPr txBox="1"/>
          <p:nvPr/>
        </p:nvSpPr>
        <p:spPr>
          <a:xfrm>
            <a:off x="5632704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Confirms, routes to Medical, Security or PCR</a:t>
            </a:r>
            <a:endParaRPr lang="en-US" sz="1200" dirty="0"/>
          </a:p>
        </p:txBody>
      </p:sp>
      <p:cxnSp>
        <p:nvCxnSpPr>
          <p:cNvPr id="22" name="Ask for help arrow 3"/>
          <p:cNvCxnSpPr/>
          <p:nvPr/>
        </p:nvCxnSpPr>
        <p:spPr>
          <a:xfrm>
            <a:off x="6940296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23" name="Ask for help step 4 icon circle"/>
          <p:cNvSpPr/>
          <p:nvPr/>
        </p:nvSpPr>
        <p:spPr>
          <a:xfrm>
            <a:off x="7168896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4" name="Ask for help step 4 icon" descr="Ask for help step 4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5307" y="1311707"/>
            <a:ext cx="211226" cy="211226"/>
          </a:xfrm>
          <a:prstGeom prst="rect">
            <a:avLst/>
          </a:prstGeom>
        </p:spPr>
      </p:pic>
      <p:sp>
        <p:nvSpPr>
          <p:cNvPr id="25" name="Ask for help step 4 actor"/>
          <p:cNvSpPr txBox="1"/>
          <p:nvPr/>
        </p:nvSpPr>
        <p:spPr>
          <a:xfrm>
            <a:off x="7626096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26" name="Ask for help step 4 text"/>
          <p:cNvSpPr txBox="1"/>
          <p:nvPr/>
        </p:nvSpPr>
        <p:spPr>
          <a:xfrm>
            <a:off x="7168896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Follows it live: “Help is on the way”</a:t>
            </a:r>
            <a:endParaRPr lang="en-US" sz="1200" dirty="0"/>
          </a:p>
        </p:txBody>
      </p:sp>
      <p:sp>
        <p:nvSpPr>
          <p:cNvPr id="27" name="Report a problem card"/>
          <p:cNvSpPr/>
          <p:nvPr/>
        </p:nvSpPr>
        <p:spPr>
          <a:xfrm>
            <a:off x="457200" y="2715768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Report a problem icon circle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9" name="Report a problem icon" descr="Report a problem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670" y="3038094"/>
            <a:ext cx="251460" cy="251460"/>
          </a:xfrm>
          <a:prstGeom prst="rect">
            <a:avLst/>
          </a:prstGeom>
        </p:spPr>
      </p:pic>
      <p:sp>
        <p:nvSpPr>
          <p:cNvPr id="30" name="Report a problem heading"/>
          <p:cNvSpPr txBox="1"/>
          <p:nvPr/>
        </p:nvSpPr>
        <p:spPr>
          <a:xfrm>
            <a:off x="685800" y="35021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 a problem</a:t>
            </a:r>
            <a:endParaRPr lang="en-US" sz="1600" dirty="0"/>
          </a:p>
        </p:txBody>
      </p:sp>
      <p:sp>
        <p:nvSpPr>
          <p:cNvPr id="31" name="Report a problem subtitle"/>
          <p:cNvSpPr txBox="1"/>
          <p:nvPr/>
        </p:nvSpPr>
        <p:spPr>
          <a:xfrm>
            <a:off x="685800" y="3813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About a place: queues, WC, hazards</a:t>
            </a:r>
            <a:endParaRPr lang="en-US" sz="1100" dirty="0"/>
          </a:p>
        </p:txBody>
      </p:sp>
      <p:sp>
        <p:nvSpPr>
          <p:cNvPr id="32" name="Report a problem step 1 icon circle"/>
          <p:cNvSpPr/>
          <p:nvPr/>
        </p:nvSpPr>
        <p:spPr>
          <a:xfrm>
            <a:off x="2560320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Report a problem step 1 icon" descr="Report a problem step 1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6731" y="3021635"/>
            <a:ext cx="211226" cy="211226"/>
          </a:xfrm>
          <a:prstGeom prst="rect">
            <a:avLst/>
          </a:prstGeom>
        </p:spPr>
      </p:pic>
      <p:sp>
        <p:nvSpPr>
          <p:cNvPr id="34" name="Report a problem step 1 actor"/>
          <p:cNvSpPr txBox="1"/>
          <p:nvPr/>
        </p:nvSpPr>
        <p:spPr>
          <a:xfrm>
            <a:off x="3017520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35" name="Report a problem step 1 text"/>
          <p:cNvSpPr txBox="1"/>
          <p:nvPr/>
        </p:nvSpPr>
        <p:spPr>
          <a:xfrm>
            <a:off x="256032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Pins “long queue at Gate 2” on the map</a:t>
            </a:r>
            <a:endParaRPr lang="en-US" sz="1200" dirty="0"/>
          </a:p>
        </p:txBody>
      </p:sp>
      <p:cxnSp>
        <p:nvCxnSpPr>
          <p:cNvPr id="36" name="Report a problem arrow 1"/>
          <p:cNvCxnSpPr/>
          <p:nvPr/>
        </p:nvCxnSpPr>
        <p:spPr>
          <a:xfrm>
            <a:off x="3867912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37" name="Report a problem step 2 icon circle"/>
          <p:cNvSpPr/>
          <p:nvPr/>
        </p:nvSpPr>
        <p:spPr>
          <a:xfrm>
            <a:off x="4096512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8" name="Report a problem step 2 icon" descr="Report a problem step 2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82923" y="3021635"/>
            <a:ext cx="211226" cy="211226"/>
          </a:xfrm>
          <a:prstGeom prst="rect">
            <a:avLst/>
          </a:prstGeom>
        </p:spPr>
      </p:pic>
      <p:sp>
        <p:nvSpPr>
          <p:cNvPr id="39" name="Report a problem step 2 actor"/>
          <p:cNvSpPr txBox="1"/>
          <p:nvPr/>
        </p:nvSpPr>
        <p:spPr>
          <a:xfrm>
            <a:off x="4553712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Security</a:t>
            </a:r>
            <a:endParaRPr lang="en-US" sz="1200" dirty="0"/>
          </a:p>
        </p:txBody>
      </p:sp>
      <p:sp>
        <p:nvSpPr>
          <p:cNvPr id="40" name="Report a problem step 2 text"/>
          <p:cNvSpPr txBox="1"/>
          <p:nvPr/>
        </p:nvSpPr>
        <p:spPr>
          <a:xfrm>
            <a:off x="4096512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Sees it at once and confirms it</a:t>
            </a:r>
            <a:endParaRPr lang="en-US" sz="1200" dirty="0"/>
          </a:p>
        </p:txBody>
      </p:sp>
      <p:cxnSp>
        <p:nvCxnSpPr>
          <p:cNvPr id="41" name="Report a problem arrow 2"/>
          <p:cNvCxnSpPr/>
          <p:nvPr/>
        </p:nvCxnSpPr>
        <p:spPr>
          <a:xfrm>
            <a:off x="5404104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2" name="Report a problem step 3 icon circle"/>
          <p:cNvSpPr/>
          <p:nvPr/>
        </p:nvSpPr>
        <p:spPr>
          <a:xfrm>
            <a:off x="5632704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3" name="Report a problem step 3 icon" descr="Report a problem step 3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9115" y="3021635"/>
            <a:ext cx="211226" cy="211226"/>
          </a:xfrm>
          <a:prstGeom prst="rect">
            <a:avLst/>
          </a:prstGeom>
        </p:spPr>
      </p:pic>
      <p:sp>
        <p:nvSpPr>
          <p:cNvPr id="44" name="Report a problem step 3 actor"/>
          <p:cNvSpPr txBox="1"/>
          <p:nvPr/>
        </p:nvSpPr>
        <p:spPr>
          <a:xfrm>
            <a:off x="6089904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Everyone</a:t>
            </a:r>
            <a:endParaRPr lang="en-US" sz="1200" dirty="0"/>
          </a:p>
        </p:txBody>
      </p:sp>
      <p:sp>
        <p:nvSpPr>
          <p:cNvPr id="45" name="Report a problem step 3 text"/>
          <p:cNvSpPr txBox="1"/>
          <p:nvPr/>
        </p:nvSpPr>
        <p:spPr>
          <a:xfrm>
            <a:off x="5632704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 it on the map, with its time, until it expires</a:t>
            </a:r>
            <a:endParaRPr lang="en-US" sz="1200" dirty="0"/>
          </a:p>
        </p:txBody>
      </p:sp>
      <p:cxnSp>
        <p:nvCxnSpPr>
          <p:cNvPr id="46" name="Report a problem arrow 3"/>
          <p:cNvCxnSpPr/>
          <p:nvPr/>
        </p:nvCxnSpPr>
        <p:spPr>
          <a:xfrm>
            <a:off x="6940296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7" name="Report a problem step 4 icon circle"/>
          <p:cNvSpPr/>
          <p:nvPr/>
        </p:nvSpPr>
        <p:spPr>
          <a:xfrm>
            <a:off x="7168896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8" name="Report a problem step 4 icon" descr="Report a problem step 4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5307" y="3021635"/>
            <a:ext cx="211226" cy="211226"/>
          </a:xfrm>
          <a:prstGeom prst="rect">
            <a:avLst/>
          </a:prstGeom>
        </p:spPr>
      </p:pic>
      <p:sp>
        <p:nvSpPr>
          <p:cNvPr id="49" name="Report a problem step 4 actor"/>
          <p:cNvSpPr txBox="1"/>
          <p:nvPr/>
        </p:nvSpPr>
        <p:spPr>
          <a:xfrm>
            <a:off x="7626096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50" name="Report a problem step 4 text"/>
          <p:cNvSpPr txBox="1"/>
          <p:nvPr/>
        </p:nvSpPr>
        <p:spPr>
          <a:xfrm>
            <a:off x="7168896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The confirmed report counts toward her badges</a:t>
            </a:r>
            <a:endParaRPr lang="en-US" sz="12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accent3"/>
                </a:solidFill>
              </a:rPr>
              <a:t>AI only suggests, the operator decides · unconfirmed reports expire and earn nothing · no badges for help requests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On-screen Show (16:9)</PresentationFormat>
  <Paragraphs>121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Farol</vt:lpstr>
      <vt:lpstr>PowerPoint Presentation</vt:lpstr>
      <vt:lpstr>Who we design for</vt:lpstr>
      <vt:lpstr>One map, two sides</vt:lpstr>
      <vt:lpstr>Smart, fair and connected</vt:lpstr>
      <vt:lpstr>Help for people, reports for places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António Guerra (1190409)</cp:lastModifiedBy>
  <cp:revision>2</cp:revision>
  <dcterms:created xsi:type="dcterms:W3CDTF">2026-10-09T11:01:38Z</dcterms:created>
  <dcterms:modified xsi:type="dcterms:W3CDTF">2026-10-11T13:29:33Z</dcterms:modified>
</cp:coreProperties>
</file>