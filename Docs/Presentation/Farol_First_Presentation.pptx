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12"/>
    <p:sldId id="259" r:id="rId3"/>
    <p:sldId id="257" r:id="rId4"/>
    <p:sldId id="258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(Bruno Lopes)" id="{3C1F5A2E-6D4B-4E8A-9B71-2F0C8D9E4A10}">
          <p14:sldIdLst>
            <p14:sldId id="256"/>
          </p14:sldIdLst>
        </p14:section>
        <p14:section name="Product Vision (Tomás Oliveira)" id="{771975C7-DD32-4345-BD10-F5E181073B3C}">
          <p14:sldIdLst>
            <p14:sldId id="261"/>
          </p14:sldIdLst>
        </p14:section>
        <p14:section name="Personas (Tiago Teixeira)" id="{7A9E2B44-1C3D-4F6A-8E25-5B0D7C1F9E32}">
          <p14:sldIdLst>
            <p14:sldId id="259"/>
          </p14:sldIdLst>
        </p14:section>
        <p14:section name="Main features (Bruno Lopes)" id="{B2EF1337-627E-81AE-C510-0D08FB5C3D36}">
          <p14:sldIdLst>
            <p14:sldId id="257"/>
            <p14:sldId id="258"/>
          </p14:sldIdLst>
        </p14:section>
        <p14:section name="User workflows (António Guerra)" id="{5D2A7C18-9E41-4B6F-A3D0-8C7E1F24B9A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33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(~10 s) O nosso produto chama-se Farol: tal como um farol, orienta as pessoas no caminho para casa e mostra onde está a ajuda. A equipa: Bruno Lopes, Tiago Teixeira, Tomás Oliveira e António Guerra.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(~70 s) Desenhámos o Farol para quatro pessoas. O relatório tem dois grupos de utilizadores, os participantes e a equipa do evento, mas dentro da equipa há dois trabalhos diferentes: quem configura o evento e quem trata os pedidos de ajuda durante a noite. A Rita é estudante: está no recinto à noite, com pouca bateria e muito barulho, e quer encontrar a casa de banho, os primeiros socorros e o caminho para casa. Hoje a informação fica desatualizada e a planta é uma imagem nas redes sociais. Para ela, sucesso é pedir ajuda para uma amiga em menos de 30 segundos. O Miguel é voluntário da PCR: recebe muitos pedidos ao mesmo tempo, por rádio e telefone, sem localização nem prioridade. Precisa de ver cada pedido em segundos, já com a triagem da IA. A Sofia é da organização: configura o evento e publica alterações durante as noites, mas só gere o seu evento. Como o Farol tem vários festivais, a Queima do Porto, de Braga, de Coimbra, alguém tem de os criar: é o Daniel, da equipa Farol. Confirma que quem pede o evento é mesmo a organização, cria-o e nomeia o responsável, e transfere esse papel quando a direção muda. Nunca vê os pedidos de ajuda nem os dados dos eventos. Importante: são proto-personas, construídas a partir do relatório e de dados públicos, com nomes fictícios. Vamos validá-las com o inquérito aos estudantes, a entrevista ao voluntário de segurança e uma conversa com a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(~55 s) O Farol tem dois lados, ligados pela planta do recinto. O participante, depois de fazer login, vê a planta com entradas, casas de banho, primeiros socorros e paragens. O mais importante é o Pedir ajuda: primeiro aparece o Ligar 112; se não for uma emergência, escolhe uma categoria e marca na planta onde está. Vê também como voltar para casa, com as linhas da STCP e os shuttles do evento, recebe avisos em tempo real e pode reportar problemas na planta. Do lado da equipa, a organização cria o evento e gere os papéis e as equipas de resposta: médica, segurança, PCR e logística. Durante a noite, os operadores veem os pedidos chegar em tempo real, na lista e na planta, priorizam, encaminham para a equipa certa e confirmam os reports. Cada organização só vê os dados do seu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Três coisas fazem do Farol mais do que uma planta. Primeiro, a triagem com IA: quando chega um pedido, a IA sugere categoria, prioridade e equipa de resposta em menos de 30 segundos. Quem decide é sempre o operador, e a IA nunca baixa uma prioridade. Segundo, os reports na planta, ao estilo do Waze: filas, casas de banho avariadas, perigos. Só a equipa responsável os confirma, por isso reports falsos não contam. Os reports confirmados e a presença nos eventos dão badges, de Madeira até Diamante. São privados, sem ranking, e nunca há badges por pedidos de ajuda: emergências não são um jogo. Terceiro, a integração externa: as linhas da STCP vêm do feed público GTFS, junto com os shuttles da organização, para os estudantes voltarem para casa em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(~60 s) No Farol há duas formas de levantar a mão, e são diferentes de propósito. Se é urgente, ou se é sobre uma pessoa, é um pedido de ajuda. A Rita toca em Pedir ajuda: primeiro aparece o Ligar 112; se não for uma emergência, marca o local na planta. A IA sugere prioridade e equipa em menos de 30 segundos, mas quem decide é o Miguel, que confirma e encaminha para a equipa médica, de segurança ou da PCR. A Rita acompanha o estado em tempo real. Se é sobre um sítio, por exemplo uma fila longa na porta 2, é um report. A equipa responsável, aqui a segurança, vê-o logo e confirma-o. Só então aparece na planta de todos, com a hora, até expirar. E só os reports confirmados contam para os badges da Rita: os falsos expiram e não valem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visao do Farol liga os participantes e a equipa do evento atraves de informacao fiavel e pedidos de ajuda com contexto e localizacao. Os estudantes acedem por link ou QR, escolhem o evento e encontram a planta, informacao essencial e transportes. A equipa configura o evento, mantem a informacao atualizada, avalia prioridades e encaminha pedidos para a equipa operacional adequada.</a:t>
            </a:r>
          </a:p>
          <a:p>
            <a:endParaRPr/>
          </a:p>
          <a:p>
            <a:r>
              <a:t>O MVP inclui a aplicacao web para participantes e o backoffice de cada equipa. O sucesso deve ser avaliado pelo tempo de acesso a informacao, pela facilidade de submeter e gerir pedidos, pela resposta operacional, pela adocao e pelo feedback. A visao ainda nao fixa metas numericas.</a:t>
            </a:r>
          </a:p>
          <a:p>
            <a:endParaRPr/>
          </a:p>
          <a:p>
            <a:r>
              <a:t>Integracoes pesadas, previsao avancada de multidoes e automacao completa ficam fora da primeira versao, salvo necessidade de validacao. A capacidade fisica das entradas fica fora do ambito.</a:t>
            </a:r>
          </a:p>
          <a:p>
            <a:endParaRPr/>
          </a:p>
          <a:p>
            <a:r>
              <a:t>Fonte: /Users/tomasoliveira21/Desktop/ISEP/2627/LABDSOF/Docs/Deliverables/problem-opportunity-report-queima.md, seccao "Visao de produto" (Personas, Proposta de valor, Principais jornadas do utilizador, Criterios de sucesso e Definicao do MVP).</a:t>
            </a:r>
          </a:p>
          <a:p>
            <a:endParaRPr/>
          </a:p>
          <a:p>
            <a:r>
              <a:t>Identidade visual: logotipo original da apresentacao fornecida.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acon halo"/>
          <p:cNvSpPr/>
          <p:nvPr/>
        </p:nvSpPr>
        <p:spPr>
          <a:xfrm>
            <a:off x="502920" y="6858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Lighthouse icon" descr="Lighthou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43000"/>
            <a:ext cx="1280160" cy="1280160"/>
          </a:xfrm>
          <a:prstGeom prst="rect">
            <a:avLst/>
          </a:prstGeom>
        </p:spPr>
      </p:pic>
      <p:sp>
        <p:nvSpPr>
          <p:cNvPr id="4" name="Product name"/>
          <p:cNvSpPr txBox="1"/>
          <p:nvPr/>
        </p:nvSpPr>
        <p:spPr>
          <a:xfrm>
            <a:off x="3200400" y="1005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</a:rPr>
              <a:t>Farol</a:t>
            </a:r>
            <a:endParaRPr lang="en-US" sz="8000" dirty="0"/>
          </a:p>
        </p:txBody>
      </p:sp>
      <p:sp>
        <p:nvSpPr>
          <p:cNvPr id="5" name="Member Bruno Lopes"/>
          <p:cNvSpPr txBox="1"/>
          <p:nvPr/>
        </p:nvSpPr>
        <p:spPr>
          <a:xfrm>
            <a:off x="45720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Bruno Lopes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1240441</a:t>
            </a:r>
            <a:endParaRPr lang="en-US" sz="1600" dirty="0"/>
          </a:p>
        </p:txBody>
      </p:sp>
      <p:sp>
        <p:nvSpPr>
          <p:cNvPr id="6" name="Member Tiago Teixeira"/>
          <p:cNvSpPr txBox="1"/>
          <p:nvPr/>
        </p:nvSpPr>
        <p:spPr>
          <a:xfrm>
            <a:off x="256032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Tiago Teixeira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1240493</a:t>
            </a:r>
            <a:endParaRPr lang="en-US" sz="1600" dirty="0"/>
          </a:p>
        </p:txBody>
      </p:sp>
      <p:sp>
        <p:nvSpPr>
          <p:cNvPr id="7" name="Member Tomás Oliveira"/>
          <p:cNvSpPr txBox="1"/>
          <p:nvPr/>
        </p:nvSpPr>
        <p:spPr>
          <a:xfrm>
            <a:off x="466344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Tomás Oliveira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1230213</a:t>
            </a:r>
            <a:endParaRPr lang="en-US" sz="1600" dirty="0"/>
          </a:p>
        </p:txBody>
      </p:sp>
      <p:sp>
        <p:nvSpPr>
          <p:cNvPr id="8" name="Member António Guerra"/>
          <p:cNvSpPr txBox="1"/>
          <p:nvPr/>
        </p:nvSpPr>
        <p:spPr>
          <a:xfrm>
            <a:off x="676656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António Guerra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1190409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Who we design for</a:t>
            </a:r>
            <a:endParaRPr lang="en-US" sz="3200" dirty="0"/>
          </a:p>
        </p:txBody>
      </p:sp>
      <p:sp>
        <p:nvSpPr>
          <p:cNvPr id="3" name="Rita card"/>
          <p:cNvSpPr/>
          <p:nvPr/>
        </p:nvSpPr>
        <p:spPr>
          <a:xfrm>
            <a:off x="457200" y="1005840"/>
            <a:ext cx="1920240" cy="2761488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Rita icon circle"/>
          <p:cNvSpPr/>
          <p:nvPr/>
        </p:nvSpPr>
        <p:spPr>
          <a:xfrm>
            <a:off x="621792" y="116128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5" name="Rita icon" descr="Rita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261872"/>
            <a:ext cx="201168" cy="201168"/>
          </a:xfrm>
          <a:prstGeom prst="rect">
            <a:avLst/>
          </a:prstGeom>
        </p:spPr>
      </p:pic>
      <p:sp>
        <p:nvSpPr>
          <p:cNvPr id="6" name="Rita name"/>
          <p:cNvSpPr txBox="1"/>
          <p:nvPr/>
        </p:nvSpPr>
        <p:spPr>
          <a:xfrm>
            <a:off x="1115568" y="1161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Rita, 21</a:t>
            </a:r>
            <a:endParaRPr lang="en-US" sz="1600" dirty="0"/>
          </a:p>
        </p:txBody>
      </p:sp>
      <p:sp>
        <p:nvSpPr>
          <p:cNvPr id="7" name="Rita role"/>
          <p:cNvSpPr txBox="1"/>
          <p:nvPr/>
        </p:nvSpPr>
        <p:spPr>
          <a:xfrm>
            <a:off x="62179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Student · participant app</a:t>
            </a:r>
            <a:endParaRPr lang="en-US" sz="1100" dirty="0"/>
          </a:p>
        </p:txBody>
      </p:sp>
      <p:pic>
        <p:nvPicPr>
          <p:cNvPr id="8" name="Rita Goal icon" descr="Go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43100"/>
            <a:ext cx="146304" cy="146304"/>
          </a:xfrm>
          <a:prstGeom prst="rect">
            <a:avLst/>
          </a:prstGeom>
        </p:spPr>
      </p:pic>
      <p:sp>
        <p:nvSpPr>
          <p:cNvPr id="9" name="Rita Goal label"/>
          <p:cNvSpPr txBox="1"/>
          <p:nvPr/>
        </p:nvSpPr>
        <p:spPr>
          <a:xfrm>
            <a:off x="841248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Goal</a:t>
            </a:r>
            <a:endParaRPr lang="en-US" sz="1100" dirty="0"/>
          </a:p>
        </p:txBody>
      </p:sp>
      <p:sp>
        <p:nvSpPr>
          <p:cNvPr id="10" name="Rita Goal"/>
          <p:cNvSpPr txBox="1"/>
          <p:nvPr/>
        </p:nvSpPr>
        <p:spPr>
          <a:xfrm>
            <a:off x="621792" y="2112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find WC, first aid and the way home, fast</a:t>
            </a:r>
            <a:endParaRPr lang="en-US" sz="1200" dirty="0"/>
          </a:p>
        </p:txBody>
      </p:sp>
      <p:pic>
        <p:nvPicPr>
          <p:cNvPr id="11" name="Rita Pain icon" descr="P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546604"/>
            <a:ext cx="146304" cy="146304"/>
          </a:xfrm>
          <a:prstGeom prst="rect">
            <a:avLst/>
          </a:prstGeom>
        </p:spPr>
      </p:pic>
      <p:sp>
        <p:nvSpPr>
          <p:cNvPr id="12" name="Rita Pain label"/>
          <p:cNvSpPr txBox="1"/>
          <p:nvPr/>
        </p:nvSpPr>
        <p:spPr>
          <a:xfrm>
            <a:off x="841248" y="25237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Pain</a:t>
            </a:r>
            <a:endParaRPr lang="en-US" sz="1100" dirty="0"/>
          </a:p>
        </p:txBody>
      </p:sp>
      <p:sp>
        <p:nvSpPr>
          <p:cNvPr id="13" name="Rita Pain"/>
          <p:cNvSpPr txBox="1"/>
          <p:nvPr/>
        </p:nvSpPr>
        <p:spPr>
          <a:xfrm>
            <a:off x="621792" y="2715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info goes stale; the map is an image</a:t>
            </a:r>
            <a:endParaRPr lang="en-US" sz="1200" dirty="0"/>
          </a:p>
        </p:txBody>
      </p:sp>
      <p:pic>
        <p:nvPicPr>
          <p:cNvPr id="14" name="Rita Success icon" descr="Su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150108"/>
            <a:ext cx="146304" cy="146304"/>
          </a:xfrm>
          <a:prstGeom prst="rect">
            <a:avLst/>
          </a:prstGeom>
        </p:spPr>
      </p:pic>
      <p:sp>
        <p:nvSpPr>
          <p:cNvPr id="15" name="Rita Success label"/>
          <p:cNvSpPr txBox="1"/>
          <p:nvPr/>
        </p:nvSpPr>
        <p:spPr>
          <a:xfrm>
            <a:off x="84124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Success</a:t>
            </a:r>
            <a:endParaRPr lang="en-US" sz="1100" dirty="0"/>
          </a:p>
        </p:txBody>
      </p:sp>
      <p:sp>
        <p:nvSpPr>
          <p:cNvPr id="16" name="Rita Success"/>
          <p:cNvSpPr txBox="1"/>
          <p:nvPr/>
        </p:nvSpPr>
        <p:spPr>
          <a:xfrm>
            <a:off x="621792" y="3319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asks help for a friend in under 30 s</a:t>
            </a:r>
            <a:endParaRPr lang="en-US" sz="1200" dirty="0"/>
          </a:p>
        </p:txBody>
      </p:sp>
      <p:sp>
        <p:nvSpPr>
          <p:cNvPr id="17" name="Miguel card"/>
          <p:cNvSpPr/>
          <p:nvPr/>
        </p:nvSpPr>
        <p:spPr>
          <a:xfrm>
            <a:off x="2560320" y="1005840"/>
            <a:ext cx="1920240" cy="2761488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Miguel icon circle"/>
          <p:cNvSpPr/>
          <p:nvPr/>
        </p:nvSpPr>
        <p:spPr>
          <a:xfrm>
            <a:off x="2724912" y="116128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Miguel icon" descr="Miguel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261872"/>
            <a:ext cx="201168" cy="201168"/>
          </a:xfrm>
          <a:prstGeom prst="rect">
            <a:avLst/>
          </a:prstGeom>
        </p:spPr>
      </p:pic>
      <p:sp>
        <p:nvSpPr>
          <p:cNvPr id="20" name="Miguel name"/>
          <p:cNvSpPr txBox="1"/>
          <p:nvPr/>
        </p:nvSpPr>
        <p:spPr>
          <a:xfrm>
            <a:off x="3218688" y="1161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Miguel, 24</a:t>
            </a:r>
            <a:endParaRPr lang="en-US" sz="1600" dirty="0"/>
          </a:p>
        </p:txBody>
      </p:sp>
      <p:sp>
        <p:nvSpPr>
          <p:cNvPr id="21" name="Miguel role"/>
          <p:cNvSpPr txBox="1"/>
          <p:nvPr/>
        </p:nvSpPr>
        <p:spPr>
          <a:xfrm>
            <a:off x="272491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PCR volunteer · operator</a:t>
            </a:r>
            <a:endParaRPr lang="en-US" sz="1100" dirty="0"/>
          </a:p>
        </p:txBody>
      </p:sp>
      <p:pic>
        <p:nvPicPr>
          <p:cNvPr id="22" name="Miguel Goal icon" descr="Go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943100"/>
            <a:ext cx="146304" cy="146304"/>
          </a:xfrm>
          <a:prstGeom prst="rect">
            <a:avLst/>
          </a:prstGeom>
        </p:spPr>
      </p:pic>
      <p:sp>
        <p:nvSpPr>
          <p:cNvPr id="23" name="Miguel Goal label"/>
          <p:cNvSpPr txBox="1"/>
          <p:nvPr/>
        </p:nvSpPr>
        <p:spPr>
          <a:xfrm>
            <a:off x="2944368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Goal</a:t>
            </a:r>
            <a:endParaRPr lang="en-US" sz="1100" dirty="0"/>
          </a:p>
        </p:txBody>
      </p:sp>
      <p:sp>
        <p:nvSpPr>
          <p:cNvPr id="24" name="Miguel Goal"/>
          <p:cNvSpPr txBox="1"/>
          <p:nvPr/>
        </p:nvSpPr>
        <p:spPr>
          <a:xfrm>
            <a:off x="2724912" y="2112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see every request: what, where, status</a:t>
            </a:r>
            <a:endParaRPr lang="en-US" sz="1200" dirty="0"/>
          </a:p>
        </p:txBody>
      </p:sp>
      <p:pic>
        <p:nvPicPr>
          <p:cNvPr id="25" name="Miguel Pain icon" descr="P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2546604"/>
            <a:ext cx="146304" cy="146304"/>
          </a:xfrm>
          <a:prstGeom prst="rect">
            <a:avLst/>
          </a:prstGeom>
        </p:spPr>
      </p:pic>
      <p:sp>
        <p:nvSpPr>
          <p:cNvPr id="26" name="Miguel Pain label"/>
          <p:cNvSpPr txBox="1"/>
          <p:nvPr/>
        </p:nvSpPr>
        <p:spPr>
          <a:xfrm>
            <a:off x="2944368" y="25237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Pain</a:t>
            </a:r>
            <a:endParaRPr lang="en-US" sz="1100" dirty="0"/>
          </a:p>
        </p:txBody>
      </p:sp>
      <p:sp>
        <p:nvSpPr>
          <p:cNvPr id="27" name="Miguel Pain"/>
          <p:cNvSpPr txBox="1"/>
          <p:nvPr/>
        </p:nvSpPr>
        <p:spPr>
          <a:xfrm>
            <a:off x="2724912" y="2715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radio and phone, no location or priority</a:t>
            </a:r>
            <a:endParaRPr lang="en-US" sz="1200" dirty="0"/>
          </a:p>
        </p:txBody>
      </p:sp>
      <p:pic>
        <p:nvPicPr>
          <p:cNvPr id="28" name="Miguel Success icon" descr="Su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912" y="3150108"/>
            <a:ext cx="146304" cy="146304"/>
          </a:xfrm>
          <a:prstGeom prst="rect">
            <a:avLst/>
          </a:prstGeom>
        </p:spPr>
      </p:pic>
      <p:sp>
        <p:nvSpPr>
          <p:cNvPr id="29" name="Miguel Success label"/>
          <p:cNvSpPr txBox="1"/>
          <p:nvPr/>
        </p:nvSpPr>
        <p:spPr>
          <a:xfrm>
            <a:off x="294436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Success</a:t>
            </a:r>
            <a:endParaRPr lang="en-US" sz="1100" dirty="0"/>
          </a:p>
        </p:txBody>
      </p:sp>
      <p:sp>
        <p:nvSpPr>
          <p:cNvPr id="30" name="Miguel Success"/>
          <p:cNvSpPr txBox="1"/>
          <p:nvPr/>
        </p:nvSpPr>
        <p:spPr>
          <a:xfrm>
            <a:off x="2724912" y="3319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each request in seconds, triaged in ≤ 30 s</a:t>
            </a:r>
            <a:endParaRPr lang="en-US" sz="1200" dirty="0"/>
          </a:p>
        </p:txBody>
      </p:sp>
      <p:sp>
        <p:nvSpPr>
          <p:cNvPr id="31" name="Sofia card"/>
          <p:cNvSpPr/>
          <p:nvPr/>
        </p:nvSpPr>
        <p:spPr>
          <a:xfrm>
            <a:off x="4663440" y="1005840"/>
            <a:ext cx="1920240" cy="2761488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Sofia icon circle"/>
          <p:cNvSpPr/>
          <p:nvPr/>
        </p:nvSpPr>
        <p:spPr>
          <a:xfrm>
            <a:off x="4828032" y="116128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3" name="Sofia icon" descr="Sofia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1261872"/>
            <a:ext cx="201168" cy="201168"/>
          </a:xfrm>
          <a:prstGeom prst="rect">
            <a:avLst/>
          </a:prstGeom>
        </p:spPr>
      </p:pic>
      <p:sp>
        <p:nvSpPr>
          <p:cNvPr id="34" name="Sofia name"/>
          <p:cNvSpPr txBox="1"/>
          <p:nvPr/>
        </p:nvSpPr>
        <p:spPr>
          <a:xfrm>
            <a:off x="5321808" y="1161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Sofia, 23</a:t>
            </a:r>
            <a:endParaRPr lang="en-US" sz="1600" dirty="0"/>
          </a:p>
        </p:txBody>
      </p:sp>
      <p:sp>
        <p:nvSpPr>
          <p:cNvPr id="35" name="Sofia role"/>
          <p:cNvSpPr txBox="1"/>
          <p:nvPr/>
        </p:nvSpPr>
        <p:spPr>
          <a:xfrm>
            <a:off x="482803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Organiser · her event only</a:t>
            </a:r>
            <a:endParaRPr lang="en-US" sz="1100" dirty="0"/>
          </a:p>
        </p:txBody>
      </p:sp>
      <p:pic>
        <p:nvPicPr>
          <p:cNvPr id="36" name="Sofia Goal icon" descr="Go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43100"/>
            <a:ext cx="146304" cy="146304"/>
          </a:xfrm>
          <a:prstGeom prst="rect">
            <a:avLst/>
          </a:prstGeom>
        </p:spPr>
      </p:pic>
      <p:sp>
        <p:nvSpPr>
          <p:cNvPr id="37" name="Sofia Goal label"/>
          <p:cNvSpPr txBox="1"/>
          <p:nvPr/>
        </p:nvSpPr>
        <p:spPr>
          <a:xfrm>
            <a:off x="5047488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Goal</a:t>
            </a:r>
            <a:endParaRPr lang="en-US" sz="1100" dirty="0"/>
          </a:p>
        </p:txBody>
      </p:sp>
      <p:sp>
        <p:nvSpPr>
          <p:cNvPr id="38" name="Sofia Goal"/>
          <p:cNvSpPr txBox="1"/>
          <p:nvPr/>
        </p:nvSpPr>
        <p:spPr>
          <a:xfrm>
            <a:off x="4828032" y="2112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configure once, publish changes live</a:t>
            </a:r>
            <a:endParaRPr lang="en-US" sz="1200" dirty="0"/>
          </a:p>
        </p:txBody>
      </p:sp>
      <p:pic>
        <p:nvPicPr>
          <p:cNvPr id="39" name="Sofia Pain icon" descr="P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546604"/>
            <a:ext cx="146304" cy="146304"/>
          </a:xfrm>
          <a:prstGeom prst="rect">
            <a:avLst/>
          </a:prstGeom>
        </p:spPr>
      </p:pic>
      <p:sp>
        <p:nvSpPr>
          <p:cNvPr id="40" name="Sofia Pain label"/>
          <p:cNvSpPr txBox="1"/>
          <p:nvPr/>
        </p:nvSpPr>
        <p:spPr>
          <a:xfrm>
            <a:off x="5047488" y="25237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Pain</a:t>
            </a:r>
            <a:endParaRPr lang="en-US" sz="1100" dirty="0"/>
          </a:p>
        </p:txBody>
      </p:sp>
      <p:sp>
        <p:nvSpPr>
          <p:cNvPr id="41" name="Sofia Pain"/>
          <p:cNvSpPr txBox="1"/>
          <p:nvPr/>
        </p:nvSpPr>
        <p:spPr>
          <a:xfrm>
            <a:off x="4828032" y="2715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each partner talks on its own channel</a:t>
            </a:r>
            <a:endParaRPr lang="en-US" sz="1200" dirty="0"/>
          </a:p>
        </p:txBody>
      </p:sp>
      <p:pic>
        <p:nvPicPr>
          <p:cNvPr id="42" name="Sofia Success icon" descr="Su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50108"/>
            <a:ext cx="146304" cy="146304"/>
          </a:xfrm>
          <a:prstGeom prst="rect">
            <a:avLst/>
          </a:prstGeom>
        </p:spPr>
      </p:pic>
      <p:sp>
        <p:nvSpPr>
          <p:cNvPr id="43" name="Sofia Success label"/>
          <p:cNvSpPr txBox="1"/>
          <p:nvPr/>
        </p:nvSpPr>
        <p:spPr>
          <a:xfrm>
            <a:off x="504748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Success</a:t>
            </a:r>
            <a:endParaRPr lang="en-US" sz="1100" dirty="0"/>
          </a:p>
        </p:txBody>
      </p:sp>
      <p:sp>
        <p:nvSpPr>
          <p:cNvPr id="44" name="Sofia Success"/>
          <p:cNvSpPr txBox="1"/>
          <p:nvPr/>
        </p:nvSpPr>
        <p:spPr>
          <a:xfrm>
            <a:off x="4828032" y="3319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next night ready with configuration only</a:t>
            </a:r>
            <a:endParaRPr lang="en-US" sz="1200" dirty="0"/>
          </a:p>
        </p:txBody>
      </p:sp>
      <p:sp>
        <p:nvSpPr>
          <p:cNvPr id="45" name="Daniel card"/>
          <p:cNvSpPr/>
          <p:nvPr/>
        </p:nvSpPr>
        <p:spPr>
          <a:xfrm>
            <a:off x="6766560" y="1005840"/>
            <a:ext cx="1920240" cy="2761488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6" name="Daniel icon circle"/>
          <p:cNvSpPr/>
          <p:nvPr/>
        </p:nvSpPr>
        <p:spPr>
          <a:xfrm>
            <a:off x="6931152" y="1161288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7" name="Daniel icon" descr="Daniel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1736" y="1261872"/>
            <a:ext cx="201168" cy="201168"/>
          </a:xfrm>
          <a:prstGeom prst="rect">
            <a:avLst/>
          </a:prstGeom>
        </p:spPr>
      </p:pic>
      <p:sp>
        <p:nvSpPr>
          <p:cNvPr id="48" name="Daniel name"/>
          <p:cNvSpPr txBox="1"/>
          <p:nvPr/>
        </p:nvSpPr>
        <p:spPr>
          <a:xfrm>
            <a:off x="7424928" y="1161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Daniel, 27</a:t>
            </a:r>
            <a:endParaRPr lang="en-US" sz="1600" dirty="0"/>
          </a:p>
        </p:txBody>
      </p:sp>
      <p:sp>
        <p:nvSpPr>
          <p:cNvPr id="49" name="Daniel role"/>
          <p:cNvSpPr txBox="1"/>
          <p:nvPr/>
        </p:nvSpPr>
        <p:spPr>
          <a:xfrm>
            <a:off x="693115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Farol team · all events</a:t>
            </a:r>
            <a:endParaRPr lang="en-US" sz="1100" dirty="0"/>
          </a:p>
        </p:txBody>
      </p:sp>
      <p:pic>
        <p:nvPicPr>
          <p:cNvPr id="50" name="Daniel Goal icon" descr="Go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943100"/>
            <a:ext cx="146304" cy="146304"/>
          </a:xfrm>
          <a:prstGeom prst="rect">
            <a:avLst/>
          </a:prstGeom>
        </p:spPr>
      </p:pic>
      <p:sp>
        <p:nvSpPr>
          <p:cNvPr id="51" name="Daniel Goal label"/>
          <p:cNvSpPr txBox="1"/>
          <p:nvPr/>
        </p:nvSpPr>
        <p:spPr>
          <a:xfrm>
            <a:off x="7150608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Goal</a:t>
            </a:r>
            <a:endParaRPr lang="en-US" sz="1100" dirty="0"/>
          </a:p>
        </p:txBody>
      </p:sp>
      <p:sp>
        <p:nvSpPr>
          <p:cNvPr id="52" name="Daniel Goal"/>
          <p:cNvSpPr txBox="1"/>
          <p:nvPr/>
        </p:nvSpPr>
        <p:spPr>
          <a:xfrm>
            <a:off x="6931152" y="2112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onboard real festivals, no new code</a:t>
            </a:r>
            <a:endParaRPr lang="en-US" sz="1200" dirty="0"/>
          </a:p>
        </p:txBody>
      </p:sp>
      <p:pic>
        <p:nvPicPr>
          <p:cNvPr id="53" name="Daniel Pain icon" descr="P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2546604"/>
            <a:ext cx="146304" cy="146304"/>
          </a:xfrm>
          <a:prstGeom prst="rect">
            <a:avLst/>
          </a:prstGeom>
        </p:spPr>
      </p:pic>
      <p:sp>
        <p:nvSpPr>
          <p:cNvPr id="54" name="Daniel Pain label"/>
          <p:cNvSpPr txBox="1"/>
          <p:nvPr/>
        </p:nvSpPr>
        <p:spPr>
          <a:xfrm>
            <a:off x="7150608" y="25237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Pain</a:t>
            </a:r>
            <a:endParaRPr lang="en-US" sz="1100" dirty="0"/>
          </a:p>
        </p:txBody>
      </p:sp>
      <p:sp>
        <p:nvSpPr>
          <p:cNvPr id="55" name="Daniel Pain"/>
          <p:cNvSpPr txBox="1"/>
          <p:nvPr/>
        </p:nvSpPr>
        <p:spPr>
          <a:xfrm>
            <a:off x="6931152" y="2715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fake events; owners change every year</a:t>
            </a:r>
            <a:endParaRPr lang="en-US" sz="1200" dirty="0"/>
          </a:p>
        </p:txBody>
      </p:sp>
      <p:pic>
        <p:nvPicPr>
          <p:cNvPr id="56" name="Daniel Success icon" descr="Su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3150108"/>
            <a:ext cx="146304" cy="146304"/>
          </a:xfrm>
          <a:prstGeom prst="rect">
            <a:avLst/>
          </a:prstGeom>
        </p:spPr>
      </p:pic>
      <p:sp>
        <p:nvSpPr>
          <p:cNvPr id="57" name="Daniel Success label"/>
          <p:cNvSpPr txBox="1"/>
          <p:nvPr/>
        </p:nvSpPr>
        <p:spPr>
          <a:xfrm>
            <a:off x="715060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Success</a:t>
            </a:r>
            <a:endParaRPr lang="en-US" sz="1100" dirty="0"/>
          </a:p>
        </p:txBody>
      </p:sp>
      <p:sp>
        <p:nvSpPr>
          <p:cNvPr id="58" name="Daniel Success"/>
          <p:cNvSpPr txBox="1"/>
          <p:nvPr/>
        </p:nvSpPr>
        <p:spPr>
          <a:xfrm>
            <a:off x="6931152" y="3319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new festival live, its data never seen</a:t>
            </a:r>
            <a:endParaRPr lang="en-US" sz="1200" dirty="0"/>
          </a:p>
        </p:txBody>
      </p:sp>
      <p:sp>
        <p:nvSpPr>
          <p:cNvPr id="59" name="Validation band"/>
          <p:cNvSpPr/>
          <p:nvPr/>
        </p:nvSpPr>
        <p:spPr>
          <a:xfrm>
            <a:off x="457200" y="3904488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0" name="Proto-personas icon" descr="Proto-persona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023360"/>
            <a:ext cx="274320" cy="274320"/>
          </a:xfrm>
          <a:prstGeom prst="rect">
            <a:avLst/>
          </a:prstGeom>
        </p:spPr>
      </p:pic>
      <p:sp>
        <p:nvSpPr>
          <p:cNvPr id="61" name="Proto-personas heading"/>
          <p:cNvSpPr txBox="1"/>
          <p:nvPr/>
        </p:nvSpPr>
        <p:spPr>
          <a:xfrm>
            <a:off x="1024128" y="3995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Proto-personas</a:t>
            </a:r>
            <a:endParaRPr lang="en-US" sz="1600" dirty="0"/>
          </a:p>
        </p:txBody>
      </p:sp>
      <p:sp>
        <p:nvSpPr>
          <p:cNvPr id="62" name="Proto-personas text"/>
          <p:cNvSpPr txBox="1"/>
          <p:nvPr/>
        </p:nvSpPr>
        <p:spPr>
          <a:xfrm>
            <a:off x="658368" y="43708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From the report and public evidence. Names are fictional; no user data yet.</a:t>
            </a:r>
            <a:endParaRPr lang="en-US" sz="1050" dirty="0"/>
          </a:p>
        </p:txBody>
      </p:sp>
      <p:sp>
        <p:nvSpPr>
          <p:cNvPr id="63" name="Student survey circle"/>
          <p:cNvSpPr/>
          <p:nvPr/>
        </p:nvSpPr>
        <p:spPr>
          <a:xfrm>
            <a:off x="3337560" y="4142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4" name="Student survey icon" descr="Student surve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9856" y="4224528"/>
            <a:ext cx="201168" cy="201168"/>
          </a:xfrm>
          <a:prstGeom prst="rect">
            <a:avLst/>
          </a:prstGeom>
        </p:spPr>
      </p:pic>
      <p:sp>
        <p:nvSpPr>
          <p:cNvPr id="65" name="Student survey label"/>
          <p:cNvSpPr txBox="1"/>
          <p:nvPr/>
        </p:nvSpPr>
        <p:spPr>
          <a:xfrm>
            <a:off x="3794760" y="4114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Student survey</a:t>
            </a:r>
            <a:endParaRPr lang="en-US" sz="1200" dirty="0"/>
          </a:p>
        </p:txBody>
      </p:sp>
      <p:sp>
        <p:nvSpPr>
          <p:cNvPr id="66" name="Student survey target"/>
          <p:cNvSpPr txBox="1"/>
          <p:nvPr/>
        </p:nvSpPr>
        <p:spPr>
          <a:xfrm>
            <a:off x="3794760" y="4334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</a:rPr>
              <a:t>validates Rita</a:t>
            </a:r>
            <a:endParaRPr lang="en-US" sz="1100" dirty="0"/>
          </a:p>
        </p:txBody>
      </p:sp>
      <p:sp>
        <p:nvSpPr>
          <p:cNvPr id="67" name="Security interview circle"/>
          <p:cNvSpPr/>
          <p:nvPr/>
        </p:nvSpPr>
        <p:spPr>
          <a:xfrm>
            <a:off x="5120640" y="4142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68" name="Security interview icon" descr="Security intervie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2936" y="4224528"/>
            <a:ext cx="201168" cy="201168"/>
          </a:xfrm>
          <a:prstGeom prst="rect">
            <a:avLst/>
          </a:prstGeom>
        </p:spPr>
      </p:pic>
      <p:sp>
        <p:nvSpPr>
          <p:cNvPr id="69" name="Security interview label"/>
          <p:cNvSpPr txBox="1"/>
          <p:nvPr/>
        </p:nvSpPr>
        <p:spPr>
          <a:xfrm>
            <a:off x="5577840" y="4114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Security interview</a:t>
            </a:r>
            <a:endParaRPr lang="en-US" sz="1200" dirty="0"/>
          </a:p>
        </p:txBody>
      </p:sp>
      <p:sp>
        <p:nvSpPr>
          <p:cNvPr id="70" name="Security interview target"/>
          <p:cNvSpPr txBox="1"/>
          <p:nvPr/>
        </p:nvSpPr>
        <p:spPr>
          <a:xfrm>
            <a:off x="5577840" y="4334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</a:rPr>
              <a:t>validates Miguel</a:t>
            </a:r>
            <a:endParaRPr lang="en-US" sz="1100" dirty="0"/>
          </a:p>
        </p:txBody>
      </p:sp>
      <p:sp>
        <p:nvSpPr>
          <p:cNvPr id="71" name="Organiser talk circle"/>
          <p:cNvSpPr/>
          <p:nvPr/>
        </p:nvSpPr>
        <p:spPr>
          <a:xfrm>
            <a:off x="6903720" y="4142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72" name="Organiser talk icon" descr="Organiser tal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4224528"/>
            <a:ext cx="201168" cy="201168"/>
          </a:xfrm>
          <a:prstGeom prst="rect">
            <a:avLst/>
          </a:prstGeom>
        </p:spPr>
      </p:pic>
      <p:sp>
        <p:nvSpPr>
          <p:cNvPr id="73" name="Organiser talk label"/>
          <p:cNvSpPr txBox="1"/>
          <p:nvPr/>
        </p:nvSpPr>
        <p:spPr>
          <a:xfrm>
            <a:off x="7360920" y="4114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Organiser talk</a:t>
            </a:r>
            <a:endParaRPr lang="en-US" sz="1200" dirty="0"/>
          </a:p>
        </p:txBody>
      </p:sp>
      <p:sp>
        <p:nvSpPr>
          <p:cNvPr id="74" name="Organiser talk target"/>
          <p:cNvSpPr txBox="1"/>
          <p:nvPr/>
        </p:nvSpPr>
        <p:spPr>
          <a:xfrm>
            <a:off x="7360920" y="4334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</a:rPr>
              <a:t>validates Sofia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map, two sides</a:t>
            </a:r>
            <a:endParaRPr lang="en-US" sz="3200" dirty="0"/>
          </a:p>
        </p:txBody>
      </p:sp>
      <p:sp>
        <p:nvSpPr>
          <p:cNvPr id="3" name="Participant app card"/>
          <p:cNvSpPr/>
          <p:nvPr/>
        </p:nvSpPr>
        <p:spPr>
          <a:xfrm>
            <a:off x="457200" y="1097280"/>
            <a:ext cx="342900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Participant app icon" descr="Participant ap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365760" cy="365760"/>
          </a:xfrm>
          <a:prstGeom prst="rect">
            <a:avLst/>
          </a:prstGeom>
        </p:spPr>
      </p:pic>
      <p:sp>
        <p:nvSpPr>
          <p:cNvPr id="5" name="Participant app heading"/>
          <p:cNvSpPr txBox="1"/>
          <p:nvPr/>
        </p:nvSpPr>
        <p:spPr>
          <a:xfrm>
            <a:off x="1188720" y="1252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Participant app</a:t>
            </a:r>
            <a:endParaRPr lang="en-US" sz="2000" dirty="0"/>
          </a:p>
        </p:txBody>
      </p:sp>
      <p:sp>
        <p:nvSpPr>
          <p:cNvPr id="6" name="Icon circle: Venue map with points of interest"/>
          <p:cNvSpPr/>
          <p:nvPr/>
        </p:nvSpPr>
        <p:spPr>
          <a:xfrm>
            <a:off x="685800" y="191109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7" name="Icon: Venue map with points of interest" descr="Venue map with points of inter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993392"/>
            <a:ext cx="201168" cy="201168"/>
          </a:xfrm>
          <a:prstGeom prst="rect">
            <a:avLst/>
          </a:prstGeom>
        </p:spPr>
      </p:pic>
      <p:sp>
        <p:nvSpPr>
          <p:cNvPr id="8" name="Feature: Venue map with points of interest"/>
          <p:cNvSpPr txBox="1"/>
          <p:nvPr/>
        </p:nvSpPr>
        <p:spPr>
          <a:xfrm>
            <a:off x="1188720" y="1874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Venue map with points of interest</a:t>
            </a:r>
            <a:endParaRPr lang="en-US" sz="1400" dirty="0"/>
          </a:p>
        </p:txBody>
      </p:sp>
      <p:sp>
        <p:nvSpPr>
          <p:cNvPr id="9" name="Icon circle: Ask for help, 112 shown first"/>
          <p:cNvSpPr/>
          <p:nvPr/>
        </p:nvSpPr>
        <p:spPr>
          <a:xfrm>
            <a:off x="685800" y="240487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0" name="Icon: Ask for help, 112 shown first" descr="Ask for help, 112 shown fir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487168"/>
            <a:ext cx="201168" cy="201168"/>
          </a:xfrm>
          <a:prstGeom prst="rect">
            <a:avLst/>
          </a:prstGeom>
        </p:spPr>
      </p:pic>
      <p:sp>
        <p:nvSpPr>
          <p:cNvPr id="11" name="Feature: Ask for help, 112 shown first"/>
          <p:cNvSpPr txBox="1"/>
          <p:nvPr/>
        </p:nvSpPr>
        <p:spPr>
          <a:xfrm>
            <a:off x="1188720" y="23682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for help, 112 shown first</a:t>
            </a:r>
            <a:endParaRPr lang="en-US" sz="1400" dirty="0"/>
          </a:p>
        </p:txBody>
      </p:sp>
      <p:sp>
        <p:nvSpPr>
          <p:cNvPr id="12" name="Icon circle: Transport home: STCP + shuttles"/>
          <p:cNvSpPr/>
          <p:nvPr/>
        </p:nvSpPr>
        <p:spPr>
          <a:xfrm>
            <a:off x="685800" y="289864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3" name="Icon: Transport home: STCP + shuttles" descr="Transport home: STCP + shutt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980944"/>
            <a:ext cx="201168" cy="201168"/>
          </a:xfrm>
          <a:prstGeom prst="rect">
            <a:avLst/>
          </a:prstGeom>
        </p:spPr>
      </p:pic>
      <p:sp>
        <p:nvSpPr>
          <p:cNvPr id="14" name="Feature: Transport home: STCP + shuttles"/>
          <p:cNvSpPr txBox="1"/>
          <p:nvPr/>
        </p:nvSpPr>
        <p:spPr>
          <a:xfrm>
            <a:off x="1188720" y="2862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Transport home: STCP + shuttles</a:t>
            </a:r>
            <a:endParaRPr lang="en-US" sz="1400" dirty="0"/>
          </a:p>
        </p:txBody>
      </p:sp>
      <p:sp>
        <p:nvSpPr>
          <p:cNvPr id="15" name="Icon circle: Live announcements, timestamped"/>
          <p:cNvSpPr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6" name="Icon: Live announcements, timestamped" descr="Live announcements, timestamp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474720"/>
            <a:ext cx="201168" cy="201168"/>
          </a:xfrm>
          <a:prstGeom prst="rect">
            <a:avLst/>
          </a:prstGeom>
        </p:spPr>
      </p:pic>
      <p:sp>
        <p:nvSpPr>
          <p:cNvPr id="17" name="Feature: Live announcements, timestamped"/>
          <p:cNvSpPr txBox="1"/>
          <p:nvPr/>
        </p:nvSpPr>
        <p:spPr>
          <a:xfrm>
            <a:off x="1188720" y="3355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announcements, timestamped</a:t>
            </a:r>
            <a:endParaRPr lang="en-US" sz="1400" dirty="0"/>
          </a:p>
        </p:txBody>
      </p:sp>
      <p:sp>
        <p:nvSpPr>
          <p:cNvPr id="18" name="Icon circle: Report problems on the map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con: Report problems on the map" descr="Report problems on the ma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3968496"/>
            <a:ext cx="201168" cy="201168"/>
          </a:xfrm>
          <a:prstGeom prst="rect">
            <a:avLst/>
          </a:prstGeom>
        </p:spPr>
      </p:pic>
      <p:sp>
        <p:nvSpPr>
          <p:cNvPr id="20" name="Feature: Report problems on the map"/>
          <p:cNvSpPr txBox="1"/>
          <p:nvPr/>
        </p:nvSpPr>
        <p:spPr>
          <a:xfrm>
            <a:off x="1188720" y="38496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Report problems on the map</a:t>
            </a:r>
            <a:endParaRPr lang="en-US" sz="1400" dirty="0"/>
          </a:p>
        </p:txBody>
      </p:sp>
      <p:sp>
        <p:nvSpPr>
          <p:cNvPr id="21" name="Event team backoffice card"/>
          <p:cNvSpPr/>
          <p:nvPr/>
        </p:nvSpPr>
        <p:spPr>
          <a:xfrm>
            <a:off x="5257800" y="1097280"/>
            <a:ext cx="342900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2" name="Event team backoffice icon" descr="Event team backoffic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1298448"/>
            <a:ext cx="365760" cy="365760"/>
          </a:xfrm>
          <a:prstGeom prst="rect">
            <a:avLst/>
          </a:prstGeom>
        </p:spPr>
      </p:pic>
      <p:sp>
        <p:nvSpPr>
          <p:cNvPr id="23" name="Event team backoffice heading"/>
          <p:cNvSpPr txBox="1"/>
          <p:nvPr/>
        </p:nvSpPr>
        <p:spPr>
          <a:xfrm>
            <a:off x="5989320" y="12527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Event team backoffice</a:t>
            </a:r>
            <a:endParaRPr lang="en-US" sz="2000" dirty="0"/>
          </a:p>
        </p:txBody>
      </p:sp>
      <p:sp>
        <p:nvSpPr>
          <p:cNvPr id="24" name="Icon circle: Events, roles and response teams"/>
          <p:cNvSpPr/>
          <p:nvPr/>
        </p:nvSpPr>
        <p:spPr>
          <a:xfrm>
            <a:off x="5486400" y="191109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5" name="Icon: Events, roles and response teams" descr="Events, roles and response team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6" y="1993392"/>
            <a:ext cx="201168" cy="201168"/>
          </a:xfrm>
          <a:prstGeom prst="rect">
            <a:avLst/>
          </a:prstGeom>
        </p:spPr>
      </p:pic>
      <p:sp>
        <p:nvSpPr>
          <p:cNvPr id="26" name="Feature: Events, roles and response teams"/>
          <p:cNvSpPr txBox="1"/>
          <p:nvPr/>
        </p:nvSpPr>
        <p:spPr>
          <a:xfrm>
            <a:off x="5989320" y="1874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Events, roles and response teams</a:t>
            </a:r>
            <a:endParaRPr lang="en-US" sz="1400" dirty="0"/>
          </a:p>
        </p:txBody>
      </p:sp>
      <p:sp>
        <p:nvSpPr>
          <p:cNvPr id="27" name="Icon circle: Live help requests on the map"/>
          <p:cNvSpPr/>
          <p:nvPr/>
        </p:nvSpPr>
        <p:spPr>
          <a:xfrm>
            <a:off x="5486400" y="240487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8" name="Icon: Live help requests on the map" descr="Live help requests on the map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8696" y="2487168"/>
            <a:ext cx="201168" cy="201168"/>
          </a:xfrm>
          <a:prstGeom prst="rect">
            <a:avLst/>
          </a:prstGeom>
        </p:spPr>
      </p:pic>
      <p:sp>
        <p:nvSpPr>
          <p:cNvPr id="29" name="Feature: Live help requests on the map"/>
          <p:cNvSpPr txBox="1"/>
          <p:nvPr/>
        </p:nvSpPr>
        <p:spPr>
          <a:xfrm>
            <a:off x="5989320" y="23682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help requests on the map</a:t>
            </a:r>
            <a:endParaRPr lang="en-US" sz="1400" dirty="0"/>
          </a:p>
        </p:txBody>
      </p:sp>
      <p:sp>
        <p:nvSpPr>
          <p:cNvPr id="30" name="Icon circle: Prioritise and route requests"/>
          <p:cNvSpPr/>
          <p:nvPr/>
        </p:nvSpPr>
        <p:spPr>
          <a:xfrm>
            <a:off x="5486400" y="289864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1" name="Icon: Prioritise and route requests" descr="Prioritise and route request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8696" y="2980944"/>
            <a:ext cx="201168" cy="201168"/>
          </a:xfrm>
          <a:prstGeom prst="rect">
            <a:avLst/>
          </a:prstGeom>
        </p:spPr>
      </p:pic>
      <p:sp>
        <p:nvSpPr>
          <p:cNvPr id="32" name="Feature: Prioritise and route requests"/>
          <p:cNvSpPr txBox="1"/>
          <p:nvPr/>
        </p:nvSpPr>
        <p:spPr>
          <a:xfrm>
            <a:off x="5989320" y="2862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Prioritise and route requests</a:t>
            </a:r>
            <a:endParaRPr lang="en-US" sz="1400" dirty="0"/>
          </a:p>
        </p:txBody>
      </p:sp>
      <p:sp>
        <p:nvSpPr>
          <p:cNvPr id="33" name="Icon circle: Confirm or reject reports"/>
          <p:cNvSpPr/>
          <p:nvPr/>
        </p:nvSpPr>
        <p:spPr>
          <a:xfrm>
            <a:off x="5486400" y="339242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4" name="Icon: Confirm or reject reports" descr="Confirm or reject report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8696" y="3474720"/>
            <a:ext cx="201168" cy="201168"/>
          </a:xfrm>
          <a:prstGeom prst="rect">
            <a:avLst/>
          </a:prstGeom>
        </p:spPr>
      </p:pic>
      <p:sp>
        <p:nvSpPr>
          <p:cNvPr id="35" name="Feature: Confirm or reject reports"/>
          <p:cNvSpPr txBox="1"/>
          <p:nvPr/>
        </p:nvSpPr>
        <p:spPr>
          <a:xfrm>
            <a:off x="5989320" y="3355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or reject reports</a:t>
            </a:r>
            <a:endParaRPr lang="en-US" sz="1400" dirty="0"/>
          </a:p>
        </p:txBody>
      </p:sp>
      <p:sp>
        <p:nvSpPr>
          <p:cNvPr id="36" name="Icon circle: Publish news and shuttles"/>
          <p:cNvSpPr/>
          <p:nvPr/>
        </p:nvSpPr>
        <p:spPr>
          <a:xfrm>
            <a:off x="5486400" y="3886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7" name="Icon: Publish news and shuttles" descr="Publish news and shuttl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696" y="3968496"/>
            <a:ext cx="201168" cy="201168"/>
          </a:xfrm>
          <a:prstGeom prst="rect">
            <a:avLst/>
          </a:prstGeom>
        </p:spPr>
      </p:pic>
      <p:sp>
        <p:nvSpPr>
          <p:cNvPr id="38" name="Feature: Publish news and shuttles"/>
          <p:cNvSpPr txBox="1"/>
          <p:nvPr/>
        </p:nvSpPr>
        <p:spPr>
          <a:xfrm>
            <a:off x="5989320" y="38496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 news and shuttles</a:t>
            </a:r>
            <a:endParaRPr lang="en-US" sz="1400" dirty="0"/>
          </a:p>
        </p:txBody>
      </p:sp>
      <p:sp>
        <p:nvSpPr>
          <p:cNvPr id="39" name="Shared map circle"/>
          <p:cNvSpPr/>
          <p:nvPr/>
        </p:nvSpPr>
        <p:spPr>
          <a:xfrm>
            <a:off x="411480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0" name="Shared map icon" descr="Lighthous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3400" y="2377440"/>
            <a:ext cx="457200" cy="457200"/>
          </a:xfrm>
          <a:prstGeom prst="rect">
            <a:avLst/>
          </a:prstGeom>
        </p:spPr>
      </p:pic>
      <p:sp>
        <p:nvSpPr>
          <p:cNvPr id="41" name="Shared map label"/>
          <p:cNvSpPr txBox="1"/>
          <p:nvPr/>
        </p:nvSpPr>
        <p:spPr>
          <a:xfrm>
            <a:off x="393192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Same map, same data, live</a:t>
            </a:r>
            <a:endParaRPr lang="en-US" sz="1200" dirty="0"/>
          </a:p>
        </p:txBody>
      </p:sp>
      <p:sp>
        <p:nvSpPr>
          <p:cNvPr id="42" name="Link left"/>
          <p:cNvSpPr/>
          <p:nvPr/>
        </p:nvSpPr>
        <p:spPr>
          <a:xfrm>
            <a:off x="3886200" y="260604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Link right"/>
          <p:cNvSpPr/>
          <p:nvPr/>
        </p:nvSpPr>
        <p:spPr>
          <a:xfrm>
            <a:off x="5029200" y="2606040"/>
            <a:ext cx="228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Footnote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Login for everyone · per-event permissions · MVP priority: help requests → venue map → transport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Smart, fair and connected</a:t>
            </a:r>
            <a:endParaRPr lang="en-US" sz="3200" dirty="0"/>
          </a:p>
        </p:txBody>
      </p:sp>
      <p:sp>
        <p:nvSpPr>
          <p:cNvPr id="3" name="AI triage card"/>
          <p:cNvSpPr/>
          <p:nvPr/>
        </p:nvSpPr>
        <p:spPr>
          <a:xfrm>
            <a:off x="45720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AI triage icon circle"/>
          <p:cNvSpPr/>
          <p:nvPr/>
        </p:nvSpPr>
        <p:spPr>
          <a:xfrm>
            <a:off x="685800" y="12527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5" name="AI triage icon" descr="AI triag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62456"/>
            <a:ext cx="237744" cy="237744"/>
          </a:xfrm>
          <a:prstGeom prst="rect">
            <a:avLst/>
          </a:prstGeom>
        </p:spPr>
      </p:pic>
      <p:sp>
        <p:nvSpPr>
          <p:cNvPr id="6" name="AI triage heading"/>
          <p:cNvSpPr txBox="1"/>
          <p:nvPr/>
        </p:nvSpPr>
        <p:spPr>
          <a:xfrm>
            <a:off x="128016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triage</a:t>
            </a:r>
            <a:endParaRPr lang="en-US" sz="1800" dirty="0"/>
          </a:p>
        </p:txBody>
      </p:sp>
      <p:sp>
        <p:nvSpPr>
          <p:cNvPr id="7" name="AI triage text"/>
          <p:cNvSpPr txBox="1"/>
          <p:nvPr/>
        </p:nvSpPr>
        <p:spPr>
          <a:xfrm>
            <a:off x="685800" y="18745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Suggests category, priority and response team in under 30 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operator always decides; AI never lowers a priority</a:t>
            </a:r>
            <a:endParaRPr lang="en-US" sz="1400" dirty="0"/>
          </a:p>
        </p:txBody>
      </p:sp>
      <p:sp>
        <p:nvSpPr>
          <p:cNvPr id="8" name="Map reports card"/>
          <p:cNvSpPr/>
          <p:nvPr/>
        </p:nvSpPr>
        <p:spPr>
          <a:xfrm>
            <a:off x="329184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Map reports icon circle"/>
          <p:cNvSpPr/>
          <p:nvPr/>
        </p:nvSpPr>
        <p:spPr>
          <a:xfrm>
            <a:off x="3520440" y="12527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0" name="Map reports icon" descr="Map report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362456"/>
            <a:ext cx="237744" cy="237744"/>
          </a:xfrm>
          <a:prstGeom prst="rect">
            <a:avLst/>
          </a:prstGeom>
        </p:spPr>
      </p:pic>
      <p:sp>
        <p:nvSpPr>
          <p:cNvPr id="11" name="Map reports heading"/>
          <p:cNvSpPr txBox="1"/>
          <p:nvPr/>
        </p:nvSpPr>
        <p:spPr>
          <a:xfrm>
            <a:off x="411480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Map reports</a:t>
            </a:r>
            <a:endParaRPr lang="en-US" sz="1800" dirty="0"/>
          </a:p>
        </p:txBody>
      </p:sp>
      <p:sp>
        <p:nvSpPr>
          <p:cNvPr id="12" name="Map reports text"/>
          <p:cNvSpPr txBox="1"/>
          <p:nvPr/>
        </p:nvSpPr>
        <p:spPr>
          <a:xfrm>
            <a:off x="3520440" y="18745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Waze-style: queues, broken WC, hazards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the responsible team confirms a report</a:t>
            </a:r>
            <a:endParaRPr lang="en-US" sz="1400" dirty="0"/>
          </a:p>
        </p:txBody>
      </p:sp>
      <p:sp>
        <p:nvSpPr>
          <p:cNvPr id="13" name="Live transport card"/>
          <p:cNvSpPr/>
          <p:nvPr/>
        </p:nvSpPr>
        <p:spPr>
          <a:xfrm>
            <a:off x="612648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Live transport icon circle"/>
          <p:cNvSpPr/>
          <p:nvPr/>
        </p:nvSpPr>
        <p:spPr>
          <a:xfrm>
            <a:off x="6355080" y="12527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5" name="Live transport icon" descr="Live transpor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362456"/>
            <a:ext cx="237744" cy="237744"/>
          </a:xfrm>
          <a:prstGeom prst="rect">
            <a:avLst/>
          </a:prstGeom>
        </p:spPr>
      </p:pic>
      <p:sp>
        <p:nvSpPr>
          <p:cNvPr id="16" name="Live transport heading"/>
          <p:cNvSpPr txBox="1"/>
          <p:nvPr/>
        </p:nvSpPr>
        <p:spPr>
          <a:xfrm>
            <a:off x="694944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Live transport</a:t>
            </a:r>
            <a:endParaRPr lang="en-US" sz="1800" dirty="0"/>
          </a:p>
        </p:txBody>
      </p:sp>
      <p:sp>
        <p:nvSpPr>
          <p:cNvPr id="17" name="Live transport text"/>
          <p:cNvSpPr txBox="1"/>
          <p:nvPr/>
        </p:nvSpPr>
        <p:spPr>
          <a:xfrm>
            <a:off x="6355080" y="18745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Regular STCP lines from the public GTFS feed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 event shuttles set by the team</a:t>
            </a:r>
            <a:endParaRPr lang="en-US" sz="1400" dirty="0"/>
          </a:p>
        </p:txBody>
      </p:sp>
      <p:sp>
        <p:nvSpPr>
          <p:cNvPr id="18" name="Badges band"/>
          <p:cNvSpPr/>
          <p:nvPr/>
        </p:nvSpPr>
        <p:spPr>
          <a:xfrm>
            <a:off x="457200" y="3520440"/>
            <a:ext cx="8229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Badges icon" descr="Meda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21608"/>
            <a:ext cx="365760" cy="365760"/>
          </a:xfrm>
          <a:prstGeom prst="rect">
            <a:avLst/>
          </a:prstGeom>
        </p:spPr>
      </p:pic>
      <p:sp>
        <p:nvSpPr>
          <p:cNvPr id="20" name="Badges heading"/>
          <p:cNvSpPr txBox="1"/>
          <p:nvPr/>
        </p:nvSpPr>
        <p:spPr>
          <a:xfrm>
            <a:off x="1188720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Badges</a:t>
            </a:r>
            <a:endParaRPr lang="en-US" sz="1800" dirty="0"/>
          </a:p>
        </p:txBody>
      </p:sp>
      <p:sp>
        <p:nvSpPr>
          <p:cNvPr id="21" name="Badge tracks"/>
          <p:cNvSpPr txBox="1"/>
          <p:nvPr/>
        </p:nvSpPr>
        <p:spPr>
          <a:xfrm>
            <a:off x="685800" y="41788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Events attended · confirmed reports · reports per event. Private, no leaderboard, never for help requests</a:t>
            </a:r>
            <a:endParaRPr lang="en-US" sz="1100" dirty="0"/>
          </a:p>
        </p:txBody>
      </p:sp>
      <p:sp>
        <p:nvSpPr>
          <p:cNvPr id="22" name="Wood medal"/>
          <p:cNvSpPr/>
          <p:nvPr/>
        </p:nvSpPr>
        <p:spPr>
          <a:xfrm>
            <a:off x="3488436" y="3703320"/>
            <a:ext cx="411480" cy="411480"/>
          </a:xfrm>
          <a:prstGeom prst="ellipse">
            <a:avLst/>
          </a:prstGeom>
          <a:solidFill>
            <a:srgbClr val="8B5A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Wood tier label"/>
          <p:cNvSpPr txBox="1"/>
          <p:nvPr/>
        </p:nvSpPr>
        <p:spPr>
          <a:xfrm>
            <a:off x="3291840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Wood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1–2</a:t>
            </a:r>
            <a:endParaRPr lang="en-US" sz="1200" dirty="0"/>
          </a:p>
        </p:txBody>
      </p:sp>
      <p:sp>
        <p:nvSpPr>
          <p:cNvPr id="24" name="Bronze medal"/>
          <p:cNvSpPr/>
          <p:nvPr/>
        </p:nvSpPr>
        <p:spPr>
          <a:xfrm>
            <a:off x="4366260" y="3703320"/>
            <a:ext cx="411480" cy="411480"/>
          </a:xfrm>
          <a:prstGeom prst="ellipse">
            <a:avLst/>
          </a:prstGeom>
          <a:solidFill>
            <a:srgbClr val="CD7F3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Bronze tier label"/>
          <p:cNvSpPr txBox="1"/>
          <p:nvPr/>
        </p:nvSpPr>
        <p:spPr>
          <a:xfrm>
            <a:off x="4169664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3–9</a:t>
            </a:r>
            <a:endParaRPr lang="en-US" sz="1200" dirty="0"/>
          </a:p>
        </p:txBody>
      </p:sp>
      <p:sp>
        <p:nvSpPr>
          <p:cNvPr id="26" name="Silver medal"/>
          <p:cNvSpPr/>
          <p:nvPr/>
        </p:nvSpPr>
        <p:spPr>
          <a:xfrm>
            <a:off x="5244084" y="3703320"/>
            <a:ext cx="411480" cy="411480"/>
          </a:xfrm>
          <a:prstGeom prst="ellipse">
            <a:avLst/>
          </a:prstGeom>
          <a:solidFill>
            <a:srgbClr val="A8B0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Silver tier label"/>
          <p:cNvSpPr txBox="1"/>
          <p:nvPr/>
        </p:nvSpPr>
        <p:spPr>
          <a:xfrm>
            <a:off x="5047488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Silver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10–49</a:t>
            </a:r>
            <a:endParaRPr lang="en-US" sz="1200" dirty="0"/>
          </a:p>
        </p:txBody>
      </p:sp>
      <p:sp>
        <p:nvSpPr>
          <p:cNvPr id="28" name="Gold medal"/>
          <p:cNvSpPr/>
          <p:nvPr/>
        </p:nvSpPr>
        <p:spPr>
          <a:xfrm>
            <a:off x="6121908" y="3703320"/>
            <a:ext cx="411480" cy="41148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Gold tier label"/>
          <p:cNvSpPr txBox="1"/>
          <p:nvPr/>
        </p:nvSpPr>
        <p:spPr>
          <a:xfrm>
            <a:off x="5925312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Gold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50–99</a:t>
            </a:r>
            <a:endParaRPr lang="en-US" sz="1200" dirty="0"/>
          </a:p>
        </p:txBody>
      </p:sp>
      <p:sp>
        <p:nvSpPr>
          <p:cNvPr id="30" name="Platinum medal"/>
          <p:cNvSpPr/>
          <p:nvPr/>
        </p:nvSpPr>
        <p:spPr>
          <a:xfrm>
            <a:off x="6999732" y="3703320"/>
            <a:ext cx="411480" cy="411480"/>
          </a:xfrm>
          <a:prstGeom prst="ellipse">
            <a:avLst/>
          </a:prstGeom>
          <a:solidFill>
            <a:srgbClr val="8FA9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Platinum tier label"/>
          <p:cNvSpPr txBox="1"/>
          <p:nvPr/>
        </p:nvSpPr>
        <p:spPr>
          <a:xfrm>
            <a:off x="6803136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Platinum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100–499</a:t>
            </a:r>
            <a:endParaRPr lang="en-US" sz="1200" dirty="0"/>
          </a:p>
        </p:txBody>
      </p:sp>
      <p:sp>
        <p:nvSpPr>
          <p:cNvPr id="32" name="Diamond medal"/>
          <p:cNvSpPr/>
          <p:nvPr/>
        </p:nvSpPr>
        <p:spPr>
          <a:xfrm>
            <a:off x="7877556" y="3703320"/>
            <a:ext cx="411480" cy="411480"/>
          </a:xfrm>
          <a:prstGeom prst="ellipse">
            <a:avLst/>
          </a:prstGeom>
          <a:solidFill>
            <a:srgbClr val="4FC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Diamond tier label"/>
          <p:cNvSpPr txBox="1"/>
          <p:nvPr/>
        </p:nvSpPr>
        <p:spPr>
          <a:xfrm>
            <a:off x="7680960" y="420624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Diamond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500+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workfl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Help for people, reports for places</a:t>
            </a:r>
            <a:endParaRPr lang="en-US" sz="3200" dirty="0"/>
          </a:p>
        </p:txBody>
      </p:sp>
      <p:sp>
        <p:nvSpPr>
          <p:cNvPr id="3" name="Ask for help card"/>
          <p:cNvSpPr/>
          <p:nvPr/>
        </p:nvSpPr>
        <p:spPr>
          <a:xfrm>
            <a:off x="457200" y="1005840"/>
            <a:ext cx="8229600" cy="1572768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Ask for help icon circle"/>
          <p:cNvSpPr/>
          <p:nvPr/>
        </p:nvSpPr>
        <p:spPr>
          <a:xfrm>
            <a:off x="685800" y="122529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5" name="Ask for help icon" descr="Ask for hel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328166"/>
            <a:ext cx="251460" cy="251460"/>
          </a:xfrm>
          <a:prstGeom prst="rect">
            <a:avLst/>
          </a:prstGeom>
        </p:spPr>
      </p:pic>
      <p:sp>
        <p:nvSpPr>
          <p:cNvPr id="6" name="Ask for help heading"/>
          <p:cNvSpPr txBox="1"/>
          <p:nvPr/>
        </p:nvSpPr>
        <p:spPr>
          <a:xfrm>
            <a:off x="685800" y="1792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Ask for help</a:t>
            </a:r>
            <a:endParaRPr lang="en-US" sz="1600" dirty="0"/>
          </a:p>
        </p:txBody>
      </p:sp>
      <p:sp>
        <p:nvSpPr>
          <p:cNvPr id="7" name="Ask for help subtitle"/>
          <p:cNvSpPr txBox="1"/>
          <p:nvPr/>
        </p:nvSpPr>
        <p:spPr>
          <a:xfrm>
            <a:off x="68580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Urgent, or about a person</a:t>
            </a:r>
            <a:endParaRPr lang="en-US" sz="1100" dirty="0"/>
          </a:p>
        </p:txBody>
      </p:sp>
      <p:sp>
        <p:nvSpPr>
          <p:cNvPr id="8" name="Ask for help step 1 icon circle"/>
          <p:cNvSpPr/>
          <p:nvPr/>
        </p:nvSpPr>
        <p:spPr>
          <a:xfrm>
            <a:off x="2560320" y="12252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9" name="Ask for help step 1 icon" descr="Ask for help step 1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731" y="1311707"/>
            <a:ext cx="211226" cy="211226"/>
          </a:xfrm>
          <a:prstGeom prst="rect">
            <a:avLst/>
          </a:prstGeom>
        </p:spPr>
      </p:pic>
      <p:sp>
        <p:nvSpPr>
          <p:cNvPr id="10" name="Ask for help step 1 actor"/>
          <p:cNvSpPr txBox="1"/>
          <p:nvPr/>
        </p:nvSpPr>
        <p:spPr>
          <a:xfrm>
            <a:off x="3017520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Rita</a:t>
            </a:r>
            <a:endParaRPr lang="en-US" sz="1200" dirty="0"/>
          </a:p>
        </p:txBody>
      </p:sp>
      <p:sp>
        <p:nvSpPr>
          <p:cNvPr id="11" name="Ask for help step 1 text"/>
          <p:cNvSpPr txBox="1"/>
          <p:nvPr/>
        </p:nvSpPr>
        <p:spPr>
          <a:xfrm>
            <a:off x="2560320" y="171907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112 shown first; marks the spot on the map</a:t>
            </a:r>
            <a:endParaRPr lang="en-US" sz="1200" dirty="0"/>
          </a:p>
        </p:txBody>
      </p:sp>
      <p:cxnSp>
        <p:nvCxnSpPr>
          <p:cNvPr id="12" name="Ask for help arrow 1"/>
          <p:cNvCxnSpPr/>
          <p:nvPr/>
        </p:nvCxnSpPr>
        <p:spPr>
          <a:xfrm>
            <a:off x="3867912" y="1417320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13" name="Ask for help step 2 icon circle"/>
          <p:cNvSpPr/>
          <p:nvPr/>
        </p:nvSpPr>
        <p:spPr>
          <a:xfrm>
            <a:off x="4096512" y="12252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4" name="Ask for help step 2 icon" descr="Ask for help step 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923" y="1311707"/>
            <a:ext cx="211226" cy="211226"/>
          </a:xfrm>
          <a:prstGeom prst="rect">
            <a:avLst/>
          </a:prstGeom>
        </p:spPr>
      </p:pic>
      <p:sp>
        <p:nvSpPr>
          <p:cNvPr id="15" name="Ask for help step 2 actor"/>
          <p:cNvSpPr txBox="1"/>
          <p:nvPr/>
        </p:nvSpPr>
        <p:spPr>
          <a:xfrm>
            <a:off x="4553712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Farol AI</a:t>
            </a:r>
            <a:endParaRPr lang="en-US" sz="1200" dirty="0"/>
          </a:p>
        </p:txBody>
      </p:sp>
      <p:sp>
        <p:nvSpPr>
          <p:cNvPr id="16" name="Ask for help step 2 text"/>
          <p:cNvSpPr txBox="1"/>
          <p:nvPr/>
        </p:nvSpPr>
        <p:spPr>
          <a:xfrm>
            <a:off x="4096512" y="171907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Suggests priority and team in ≤ 30 s</a:t>
            </a:r>
            <a:endParaRPr lang="en-US" sz="1200" dirty="0"/>
          </a:p>
        </p:txBody>
      </p:sp>
      <p:cxnSp>
        <p:nvCxnSpPr>
          <p:cNvPr id="17" name="Ask for help arrow 2"/>
          <p:cNvCxnSpPr/>
          <p:nvPr/>
        </p:nvCxnSpPr>
        <p:spPr>
          <a:xfrm>
            <a:off x="5404104" y="1417320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18" name="Ask for help step 3 icon circle"/>
          <p:cNvSpPr/>
          <p:nvPr/>
        </p:nvSpPr>
        <p:spPr>
          <a:xfrm>
            <a:off x="5632704" y="12252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Ask for help step 3 icon" descr="Ask for help step 3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115" y="1311707"/>
            <a:ext cx="211226" cy="211226"/>
          </a:xfrm>
          <a:prstGeom prst="rect">
            <a:avLst/>
          </a:prstGeom>
        </p:spPr>
      </p:pic>
      <p:sp>
        <p:nvSpPr>
          <p:cNvPr id="20" name="Ask for help step 3 actor"/>
          <p:cNvSpPr txBox="1"/>
          <p:nvPr/>
        </p:nvSpPr>
        <p:spPr>
          <a:xfrm>
            <a:off x="6089904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Miguel</a:t>
            </a:r>
            <a:endParaRPr lang="en-US" sz="1200" dirty="0"/>
          </a:p>
        </p:txBody>
      </p:sp>
      <p:sp>
        <p:nvSpPr>
          <p:cNvPr id="21" name="Ask for help step 3 text"/>
          <p:cNvSpPr txBox="1"/>
          <p:nvPr/>
        </p:nvSpPr>
        <p:spPr>
          <a:xfrm>
            <a:off x="5632704" y="171907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Confirms, routes to Medical, Security or PCR</a:t>
            </a:r>
            <a:endParaRPr lang="en-US" sz="1200" dirty="0"/>
          </a:p>
        </p:txBody>
      </p:sp>
      <p:cxnSp>
        <p:nvCxnSpPr>
          <p:cNvPr id="22" name="Ask for help arrow 3"/>
          <p:cNvCxnSpPr/>
          <p:nvPr/>
        </p:nvCxnSpPr>
        <p:spPr>
          <a:xfrm>
            <a:off x="6940296" y="1417320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23" name="Ask for help step 4 icon circle"/>
          <p:cNvSpPr/>
          <p:nvPr/>
        </p:nvSpPr>
        <p:spPr>
          <a:xfrm>
            <a:off x="7168896" y="12252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4" name="Ask for help step 4 icon" descr="Ask for help step 4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307" y="1311707"/>
            <a:ext cx="211226" cy="211226"/>
          </a:xfrm>
          <a:prstGeom prst="rect">
            <a:avLst/>
          </a:prstGeom>
        </p:spPr>
      </p:pic>
      <p:sp>
        <p:nvSpPr>
          <p:cNvPr id="25" name="Ask for help step 4 actor"/>
          <p:cNvSpPr txBox="1"/>
          <p:nvPr/>
        </p:nvSpPr>
        <p:spPr>
          <a:xfrm>
            <a:off x="7626096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Rita</a:t>
            </a:r>
            <a:endParaRPr lang="en-US" sz="1200" dirty="0"/>
          </a:p>
        </p:txBody>
      </p:sp>
      <p:sp>
        <p:nvSpPr>
          <p:cNvPr id="26" name="Ask for help step 4 text"/>
          <p:cNvSpPr txBox="1"/>
          <p:nvPr/>
        </p:nvSpPr>
        <p:spPr>
          <a:xfrm>
            <a:off x="7168896" y="171907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Follows it live: “Help is on the way”</a:t>
            </a:r>
            <a:endParaRPr lang="en-US" sz="1200" dirty="0"/>
          </a:p>
        </p:txBody>
      </p:sp>
      <p:sp>
        <p:nvSpPr>
          <p:cNvPr id="27" name="Report a problem card"/>
          <p:cNvSpPr/>
          <p:nvPr/>
        </p:nvSpPr>
        <p:spPr>
          <a:xfrm>
            <a:off x="457200" y="2715768"/>
            <a:ext cx="8229600" cy="1572768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Report a problem icon circle"/>
          <p:cNvSpPr/>
          <p:nvPr/>
        </p:nvSpPr>
        <p:spPr>
          <a:xfrm>
            <a:off x="685800" y="29352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9" name="Report a problem icon" descr="Report a problem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" y="3038094"/>
            <a:ext cx="251460" cy="251460"/>
          </a:xfrm>
          <a:prstGeom prst="rect">
            <a:avLst/>
          </a:prstGeom>
        </p:spPr>
      </p:pic>
      <p:sp>
        <p:nvSpPr>
          <p:cNvPr id="30" name="Report a problem heading"/>
          <p:cNvSpPr txBox="1"/>
          <p:nvPr/>
        </p:nvSpPr>
        <p:spPr>
          <a:xfrm>
            <a:off x="685800" y="35021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 a problem</a:t>
            </a:r>
            <a:endParaRPr lang="en-US" sz="1600" dirty="0"/>
          </a:p>
        </p:txBody>
      </p:sp>
      <p:sp>
        <p:nvSpPr>
          <p:cNvPr id="31" name="Report a problem subtitle"/>
          <p:cNvSpPr txBox="1"/>
          <p:nvPr/>
        </p:nvSpPr>
        <p:spPr>
          <a:xfrm>
            <a:off x="685800" y="3813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About a place: queues, WC, hazards</a:t>
            </a:r>
            <a:endParaRPr lang="en-US" sz="1100" dirty="0"/>
          </a:p>
        </p:txBody>
      </p:sp>
      <p:sp>
        <p:nvSpPr>
          <p:cNvPr id="32" name="Report a problem step 1 icon circle"/>
          <p:cNvSpPr/>
          <p:nvPr/>
        </p:nvSpPr>
        <p:spPr>
          <a:xfrm>
            <a:off x="2560320" y="293522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3" name="Report a problem step 1 icon" descr="Report a problem step 1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6731" y="3021635"/>
            <a:ext cx="211226" cy="211226"/>
          </a:xfrm>
          <a:prstGeom prst="rect">
            <a:avLst/>
          </a:prstGeom>
        </p:spPr>
      </p:pic>
      <p:sp>
        <p:nvSpPr>
          <p:cNvPr id="34" name="Report a problem step 1 actor"/>
          <p:cNvSpPr txBox="1"/>
          <p:nvPr/>
        </p:nvSpPr>
        <p:spPr>
          <a:xfrm>
            <a:off x="3017520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Rita</a:t>
            </a:r>
            <a:endParaRPr lang="en-US" sz="1200" dirty="0"/>
          </a:p>
        </p:txBody>
      </p:sp>
      <p:sp>
        <p:nvSpPr>
          <p:cNvPr id="35" name="Report a problem step 1 text"/>
          <p:cNvSpPr txBox="1"/>
          <p:nvPr/>
        </p:nvSpPr>
        <p:spPr>
          <a:xfrm>
            <a:off x="256032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Pins “long queue at Gate 2” on the map</a:t>
            </a:r>
            <a:endParaRPr lang="en-US" sz="1200" dirty="0"/>
          </a:p>
        </p:txBody>
      </p:sp>
      <p:cxnSp>
        <p:nvCxnSpPr>
          <p:cNvPr id="36" name="Report a problem arrow 1"/>
          <p:cNvCxnSpPr/>
          <p:nvPr/>
        </p:nvCxnSpPr>
        <p:spPr>
          <a:xfrm>
            <a:off x="3867912" y="3127248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37" name="Report a problem step 2 icon circle"/>
          <p:cNvSpPr/>
          <p:nvPr/>
        </p:nvSpPr>
        <p:spPr>
          <a:xfrm>
            <a:off x="4096512" y="293522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8" name="Report a problem step 2 icon" descr="Report a problem step 2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923" y="3021635"/>
            <a:ext cx="211226" cy="211226"/>
          </a:xfrm>
          <a:prstGeom prst="rect">
            <a:avLst/>
          </a:prstGeom>
        </p:spPr>
      </p:pic>
      <p:sp>
        <p:nvSpPr>
          <p:cNvPr id="39" name="Report a problem step 2 actor"/>
          <p:cNvSpPr txBox="1"/>
          <p:nvPr/>
        </p:nvSpPr>
        <p:spPr>
          <a:xfrm>
            <a:off x="4553712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Security</a:t>
            </a:r>
            <a:endParaRPr lang="en-US" sz="1200" dirty="0"/>
          </a:p>
        </p:txBody>
      </p:sp>
      <p:sp>
        <p:nvSpPr>
          <p:cNvPr id="40" name="Report a problem step 2 text"/>
          <p:cNvSpPr txBox="1"/>
          <p:nvPr/>
        </p:nvSpPr>
        <p:spPr>
          <a:xfrm>
            <a:off x="4096512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Sees it at once and confirms it</a:t>
            </a:r>
            <a:endParaRPr lang="en-US" sz="1200" dirty="0"/>
          </a:p>
        </p:txBody>
      </p:sp>
      <p:cxnSp>
        <p:nvCxnSpPr>
          <p:cNvPr id="41" name="Report a problem arrow 2"/>
          <p:cNvCxnSpPr/>
          <p:nvPr/>
        </p:nvCxnSpPr>
        <p:spPr>
          <a:xfrm>
            <a:off x="5404104" y="3127248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42" name="Report a problem step 3 icon circle"/>
          <p:cNvSpPr/>
          <p:nvPr/>
        </p:nvSpPr>
        <p:spPr>
          <a:xfrm>
            <a:off x="5632704" y="293522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3" name="Report a problem step 3 icon" descr="Report a problem step 3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9115" y="3021635"/>
            <a:ext cx="211226" cy="211226"/>
          </a:xfrm>
          <a:prstGeom prst="rect">
            <a:avLst/>
          </a:prstGeom>
        </p:spPr>
      </p:pic>
      <p:sp>
        <p:nvSpPr>
          <p:cNvPr id="44" name="Report a problem step 3 actor"/>
          <p:cNvSpPr txBox="1"/>
          <p:nvPr/>
        </p:nvSpPr>
        <p:spPr>
          <a:xfrm>
            <a:off x="6089904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Everyone</a:t>
            </a:r>
            <a:endParaRPr lang="en-US" sz="1200" dirty="0"/>
          </a:p>
        </p:txBody>
      </p:sp>
      <p:sp>
        <p:nvSpPr>
          <p:cNvPr id="45" name="Report a problem step 3 text"/>
          <p:cNvSpPr txBox="1"/>
          <p:nvPr/>
        </p:nvSpPr>
        <p:spPr>
          <a:xfrm>
            <a:off x="5632704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See it on the map, with its time, until it expires</a:t>
            </a:r>
            <a:endParaRPr lang="en-US" sz="1200" dirty="0"/>
          </a:p>
        </p:txBody>
      </p:sp>
      <p:cxnSp>
        <p:nvCxnSpPr>
          <p:cNvPr id="46" name="Report a problem arrow 3"/>
          <p:cNvCxnSpPr/>
          <p:nvPr/>
        </p:nvCxnSpPr>
        <p:spPr>
          <a:xfrm>
            <a:off x="6940296" y="3127248"/>
            <a:ext cx="15544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round/>
            <a:tailEnd type="triangle" w="med" len="med"/>
          </a:ln>
        </p:spPr>
      </p:cxnSp>
      <p:sp>
        <p:nvSpPr>
          <p:cNvPr id="47" name="Report a problem step 4 icon circle"/>
          <p:cNvSpPr/>
          <p:nvPr/>
        </p:nvSpPr>
        <p:spPr>
          <a:xfrm>
            <a:off x="7168896" y="293522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8" name="Report a problem step 4 icon" descr="Report a problem step 4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5307" y="3021635"/>
            <a:ext cx="211226" cy="211226"/>
          </a:xfrm>
          <a:prstGeom prst="rect">
            <a:avLst/>
          </a:prstGeom>
        </p:spPr>
      </p:pic>
      <p:sp>
        <p:nvSpPr>
          <p:cNvPr id="49" name="Report a problem step 4 actor"/>
          <p:cNvSpPr txBox="1"/>
          <p:nvPr/>
        </p:nvSpPr>
        <p:spPr>
          <a:xfrm>
            <a:off x="7626096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Rita</a:t>
            </a:r>
            <a:endParaRPr lang="en-US" sz="1200" dirty="0"/>
          </a:p>
        </p:txBody>
      </p:sp>
      <p:sp>
        <p:nvSpPr>
          <p:cNvPr id="50" name="Report a problem step 4 text"/>
          <p:cNvSpPr txBox="1"/>
          <p:nvPr/>
        </p:nvSpPr>
        <p:spPr>
          <a:xfrm>
            <a:off x="7168896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The confirmed report counts toward her badges</a:t>
            </a:r>
            <a:endParaRPr lang="en-US" sz="1200" dirty="0"/>
          </a:p>
        </p:txBody>
      </p:sp>
      <p:sp>
        <p:nvSpPr>
          <p:cNvPr id="51" name="Footnote"/>
          <p:cNvSpPr txBox="1"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3"/>
                </a:solidFill>
              </a:rPr>
              <a:t>AI only suggests, the operator decides · unconfirmed reports expire and earn nothing · no badges for help requests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ta card">
            <a:extLst>
              <a:ext uri="{FF2B5EF4-FFF2-40B4-BE49-F238E27FC236}">
                <a16:creationId xmlns:a16="http://schemas.microsoft.com/office/drawing/2014/main" id="{DE3F91AE-EEF0-4B77-F796-372EBD91B7DF}"/>
              </a:ext>
            </a:extLst>
          </p:cNvPr>
          <p:cNvSpPr/>
          <p:nvPr/>
        </p:nvSpPr>
        <p:spPr>
          <a:xfrm>
            <a:off x="368693" y="3433761"/>
            <a:ext cx="8387563" cy="1319448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PT" dirty="0">
              <a:solidFill>
                <a:schemeClr val="bg1"/>
              </a:solidFill>
            </a:endParaRPr>
          </a:p>
        </p:txBody>
      </p:sp>
      <p:sp>
        <p:nvSpPr>
          <p:cNvPr id="3" name="Rita card">
            <a:extLst>
              <a:ext uri="{FF2B5EF4-FFF2-40B4-BE49-F238E27FC236}">
                <a16:creationId xmlns:a16="http://schemas.microsoft.com/office/drawing/2014/main" id="{30711021-712A-717F-2C45-15DE97DD91DD}"/>
              </a:ext>
            </a:extLst>
          </p:cNvPr>
          <p:cNvSpPr/>
          <p:nvPr/>
        </p:nvSpPr>
        <p:spPr>
          <a:xfrm>
            <a:off x="4731143" y="1938337"/>
            <a:ext cx="4025113" cy="123825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" name="Rita card">
            <a:extLst>
              <a:ext uri="{FF2B5EF4-FFF2-40B4-BE49-F238E27FC236}">
                <a16:creationId xmlns:a16="http://schemas.microsoft.com/office/drawing/2014/main" id="{0FDC3C32-5582-6860-15BE-D9F57C237ACD}"/>
              </a:ext>
            </a:extLst>
          </p:cNvPr>
          <p:cNvSpPr/>
          <p:nvPr/>
        </p:nvSpPr>
        <p:spPr>
          <a:xfrm>
            <a:off x="368693" y="1938337"/>
            <a:ext cx="4025113" cy="123825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D35B6AAC-B8F8-6D43-4F74-381A49A405D9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40080"/>
          </a:xfrm>
        </p:spPr>
        <p:txBody>
          <a:bodyPr lIns="0" tIns="0" rIns="0" bIns="0" anchor="ctr">
            <a:noAutofit/>
          </a:bodyPr>
          <a:lstStyle>
            <a:defPPr algn="ctr">
              <a:defRPr sz="32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32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Product vision</a:t>
            </a:r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165DBDE-5B3C-471C-9703-4CC44BBC2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" y="900113"/>
            <a:ext cx="952500" cy="952500"/>
          </a:xfrm>
          <a:prstGeom prst="rect">
            <a:avLst/>
          </a:prstGeom>
        </p:spPr>
      </p:pic>
      <p:sp>
        <p:nvSpPr>
          <p:cNvPr id="48" name="Vision statement">
            <a:extLst>
              <a:ext uri="{FF2B5EF4-FFF2-40B4-BE49-F238E27FC236}">
                <a16:creationId xmlns:a16="http://schemas.microsoft.com/office/drawing/2014/main" id="{BD580D43-FE42-4BF9-83F1-89CD57D05A09}"/>
              </a:ext>
            </a:extLst>
          </p:cNvPr>
          <p:cNvSpPr>
            <a:spLocks noGrp="1"/>
          </p:cNvSpPr>
          <p:nvPr/>
        </p:nvSpPr>
        <p:spPr>
          <a:xfrm>
            <a:off x="1914525" y="914400"/>
            <a:ext cx="6572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  <a:r>
              <a:rPr sz="2500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Reliable event information</a:t>
            </a:r>
            <a:r>
              <a:rPr lang="pt-PT" sz="2500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00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and coordinated help</a:t>
            </a:r>
          </a:p>
        </p:txBody>
      </p:sp>
      <p:sp>
        <p:nvSpPr>
          <p:cNvPr id="49" name="Vision audience">
            <a:extLst>
              <a:ext uri="{FF2B5EF4-FFF2-40B4-BE49-F238E27FC236}">
                <a16:creationId xmlns:a16="http://schemas.microsoft.com/office/drawing/2014/main" id="{9DF1A56B-71E1-4DA3-8CB2-715A03FFF714}"/>
              </a:ext>
            </a:extLst>
          </p:cNvPr>
          <p:cNvSpPr>
            <a:spLocks noGrp="1"/>
          </p:cNvSpPr>
          <p:nvPr/>
        </p:nvSpPr>
        <p:spPr>
          <a:xfrm>
            <a:off x="1919288" y="1395413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0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 shared platform for participants and event teams</a:t>
            </a:r>
          </a:p>
        </p:txBody>
      </p:sp>
      <p:sp>
        <p:nvSpPr>
          <p:cNvPr id="50" name="Participants heading">
            <a:extLst>
              <a:ext uri="{FF2B5EF4-FFF2-40B4-BE49-F238E27FC236}">
                <a16:creationId xmlns:a16="http://schemas.microsoft.com/office/drawing/2014/main" id="{72DAA3F8-A99E-4817-B74D-445363117F11}"/>
              </a:ext>
            </a:extLst>
          </p:cNvPr>
          <p:cNvSpPr>
            <a:spLocks noGrp="1"/>
          </p:cNvSpPr>
          <p:nvPr/>
        </p:nvSpPr>
        <p:spPr>
          <a:xfrm>
            <a:off x="457200" y="2052637"/>
            <a:ext cx="3857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For participants</a:t>
            </a:r>
          </a:p>
        </p:txBody>
      </p:sp>
      <p:sp>
        <p:nvSpPr>
          <p:cNvPr id="51" name="Participants journey">
            <a:extLst>
              <a:ext uri="{FF2B5EF4-FFF2-40B4-BE49-F238E27FC236}">
                <a16:creationId xmlns:a16="http://schemas.microsoft.com/office/drawing/2014/main" id="{FDD69BD9-71D1-41AC-8425-813E9BD26FD3}"/>
              </a:ext>
            </a:extLst>
          </p:cNvPr>
          <p:cNvSpPr>
            <a:spLocks noGrp="1"/>
          </p:cNvSpPr>
          <p:nvPr/>
        </p:nvSpPr>
        <p:spPr>
          <a:xfrm>
            <a:off x="457200" y="2386012"/>
            <a:ext cx="38481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Open by link or QR. Find the map and transport options, then request help with context and location.</a:t>
            </a:r>
          </a:p>
        </p:txBody>
      </p:sp>
      <p:sp>
        <p:nvSpPr>
          <p:cNvPr id="52" name="Event team heading">
            <a:extLst>
              <a:ext uri="{FF2B5EF4-FFF2-40B4-BE49-F238E27FC236}">
                <a16:creationId xmlns:a16="http://schemas.microsoft.com/office/drawing/2014/main" id="{EA37A2C6-44B2-4F7C-B5CD-57F6307C62E2}"/>
              </a:ext>
            </a:extLst>
          </p:cNvPr>
          <p:cNvSpPr>
            <a:spLocks noGrp="1"/>
          </p:cNvSpPr>
          <p:nvPr/>
        </p:nvSpPr>
        <p:spPr>
          <a:xfrm>
            <a:off x="4800600" y="2071687"/>
            <a:ext cx="388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For the event team</a:t>
            </a:r>
          </a:p>
        </p:txBody>
      </p:sp>
      <p:sp>
        <p:nvSpPr>
          <p:cNvPr id="53" name="Event team journey">
            <a:extLst>
              <a:ext uri="{FF2B5EF4-FFF2-40B4-BE49-F238E27FC236}">
                <a16:creationId xmlns:a16="http://schemas.microsoft.com/office/drawing/2014/main" id="{C93A605C-E103-414A-A0FC-CFFB4FECDB34}"/>
              </a:ext>
            </a:extLst>
          </p:cNvPr>
          <p:cNvSpPr>
            <a:spLocks noGrp="1"/>
          </p:cNvSpPr>
          <p:nvPr/>
        </p:nvSpPr>
        <p:spPr>
          <a:xfrm>
            <a:off x="4800600" y="2405062"/>
            <a:ext cx="38862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Configure the event and update information. Prioritise each request and route it to the right team.</a:t>
            </a:r>
          </a:p>
        </p:txBody>
      </p:sp>
      <p:sp>
        <p:nvSpPr>
          <p:cNvPr id="54" name="MVP heading">
            <a:extLst>
              <a:ext uri="{FF2B5EF4-FFF2-40B4-BE49-F238E27FC236}">
                <a16:creationId xmlns:a16="http://schemas.microsoft.com/office/drawing/2014/main" id="{FD4759BC-83D1-4166-BC0D-9B2F91CAF75B}"/>
              </a:ext>
            </a:extLst>
          </p:cNvPr>
          <p:cNvSpPr>
            <a:spLocks noGrp="1"/>
          </p:cNvSpPr>
          <p:nvPr/>
        </p:nvSpPr>
        <p:spPr>
          <a:xfrm>
            <a:off x="457200" y="3614736"/>
            <a:ext cx="1352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MVP</a:t>
            </a:r>
          </a:p>
        </p:txBody>
      </p:sp>
      <p:sp>
        <p:nvSpPr>
          <p:cNvPr id="55" name="MVP scope">
            <a:extLst>
              <a:ext uri="{FF2B5EF4-FFF2-40B4-BE49-F238E27FC236}">
                <a16:creationId xmlns:a16="http://schemas.microsoft.com/office/drawing/2014/main" id="{EE15BBC2-61C5-47DC-90AD-58954614B58C}"/>
              </a:ext>
            </a:extLst>
          </p:cNvPr>
          <p:cNvSpPr>
            <a:spLocks noGrp="1"/>
          </p:cNvSpPr>
          <p:nvPr/>
        </p:nvSpPr>
        <p:spPr>
          <a:xfrm>
            <a:off x="1914525" y="3614736"/>
            <a:ext cx="67722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3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pPr>
            <a:r>
              <a:rPr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Event selection, venue map, essential information, transport and help requests, with an event </a:t>
            </a:r>
            <a:r>
              <a:rPr sz="13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backoffice</a:t>
            </a:r>
            <a:r>
              <a:rPr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6" name="Success heading">
            <a:extLst>
              <a:ext uri="{FF2B5EF4-FFF2-40B4-BE49-F238E27FC236}">
                <a16:creationId xmlns:a16="http://schemas.microsoft.com/office/drawing/2014/main" id="{5A36368D-A38A-49D3-AB41-D9FC53609A8B}"/>
              </a:ext>
            </a:extLst>
          </p:cNvPr>
          <p:cNvSpPr>
            <a:spLocks noGrp="1"/>
          </p:cNvSpPr>
          <p:nvPr/>
        </p:nvSpPr>
        <p:spPr>
          <a:xfrm>
            <a:off x="457200" y="4195761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0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  <a:r>
              <a:rPr sz="1500" b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Success criteria</a:t>
            </a:r>
          </a:p>
        </p:txBody>
      </p:sp>
      <p:sp>
        <p:nvSpPr>
          <p:cNvPr id="57" name="Success criteria">
            <a:extLst>
              <a:ext uri="{FF2B5EF4-FFF2-40B4-BE49-F238E27FC236}">
                <a16:creationId xmlns:a16="http://schemas.microsoft.com/office/drawing/2014/main" id="{3BC16916-00CE-4194-9ADB-BCE37690540A}"/>
              </a:ext>
            </a:extLst>
          </p:cNvPr>
          <p:cNvSpPr>
            <a:spLocks noGrp="1"/>
          </p:cNvSpPr>
          <p:nvPr/>
        </p:nvSpPr>
        <p:spPr>
          <a:xfrm>
            <a:off x="1914525" y="4195761"/>
            <a:ext cx="67722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300">
                <a:solidFill>
                  <a:srgbClr val="1B2430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Faster access to information and operational response, less confusion, adoption and positive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ol">
  <a:themeElements>
    <a:clrScheme name="Farol">
      <a:dk1>
        <a:srgbClr val="1B2430"/>
      </a:dk1>
      <a:lt1>
        <a:srgbClr val="FFFFFF"/>
      </a:lt1>
      <a:dk2>
        <a:srgbClr val="0B1F3A"/>
      </a:dk2>
      <a:lt2>
        <a:srgbClr val="EEF2F7"/>
      </a:lt2>
      <a:accent1>
        <a:srgbClr val="F5B301"/>
      </a:accent1>
      <a:accent2>
        <a:srgbClr val="1F4E79"/>
      </a:accent2>
      <a:accent3>
        <a:srgbClr val="5B6B7F"/>
      </a:accent3>
      <a:accent4>
        <a:srgbClr val="2E8B57"/>
      </a:accent4>
      <a:accent5>
        <a:srgbClr val="C0392B"/>
      </a:accent5>
      <a:accent6>
        <a:srgbClr val="8FA9B8"/>
      </a:accent6>
      <a:hlink>
        <a:srgbClr val="1F4E79"/>
      </a:hlink>
      <a:folHlink>
        <a:srgbClr val="5B6B7F"/>
      </a:folHlink>
    </a:clrScheme>
    <a:fontScheme name="Faro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Office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Farol</vt:lpstr>
      <vt:lpstr>PowerPoint Presentation</vt:lpstr>
      <vt:lpstr>Product vision</vt:lpstr>
      <vt:lpstr>Who we design for</vt:lpstr>
      <vt:lpstr>One map, two sides</vt:lpstr>
      <vt:lpstr>Smart, fair and connected</vt:lpstr>
      <vt:lpstr>Help for people, reports for places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· Main features</dc:title>
  <dc:subject>PptxGenJS Presentation</dc:subject>
  <dc:creator>Bruno Lopes</dc:creator>
  <cp:lastModifiedBy>António Guerra (1190409)</cp:lastModifiedBy>
  <cp:revision>2</cp:revision>
  <dcterms:created xsi:type="dcterms:W3CDTF">2026-10-09T11:01:38Z</dcterms:created>
  <dcterms:modified xsi:type="dcterms:W3CDTF">2026-10-11T13:29:33Z</dcterms:modified>
</cp:coreProperties>
</file>