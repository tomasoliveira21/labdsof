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9" r:id="rId4"/>
    <p:sldId id="260" r:id="rId5"/>
    <p:sldId id="261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(Bruno Lopes)" id="{3C1F5A2E-6D4B-4E8A-9B71-2F0C8D9E4A10}">
          <p14:sldIdLst>
            <p14:sldId id="256"/>
          </p14:sldIdLst>
        </p14:section>
        <p14:section name="Product Vision (Tomás Oliveira)" id="{B2EF1337-627E-81AE-C510-0D08FB5C3D36}">
          <p14:sldIdLst>
            <p14:sldId id="257"/>
          </p14:sldIdLst>
        </p14:section>
        <p14:section name="Personas (Tiago Teixeira)" id="{7A9E2B44-1C3D-4F6A-8E25-5B0D7C1F9E32}">
          <p14:sldIdLst>
            <p14:sldId id="259"/>
          </p14:sldIdLst>
        </p14:section>
        <p14:section name="Main features (Bruno Lopes)" id="{BE98EF03-D814-C547-9DA6-EA8DA42669A4}">
          <p14:sldIdLst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>
        <p:scale>
          <a:sx n="141" d="100"/>
          <a:sy n="141" d="100"/>
        </p:scale>
        <p:origin x="144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9800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(~10 s) O nosso produto chama-se Farol: tal como um farol, orienta as pessoas no caminho para casa e mostra onde está a ajuda. A equipa: Bruno Lopes, Tiago Teixeira, Tomás Oliveira e Antônio Guerra.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visao do Farol liga os participantes e a equipa do evento atraves de informacao fiavel e pedidos de ajuda com contexto e localizacao. Os estudantes acedem por link ou QR, escolhem o evento e encontram a planta, informacao essencial e transportes. A equipa configura o evento, mantem a informacao atualizada, avalia prioridades e encaminha pedidos para a equipa operacional adequada.</a:t>
            </a:r>
          </a:p>
          <a:p>
            <a:endParaRPr/>
          </a:p>
          <a:p>
            <a:r>
              <a:t>O MVP inclui a aplicacao web para participantes e o backoffice de cada equipa. O sucesso deve ser avaliado pelo tempo de acesso a informacao, pela facilidade de submeter e gerir pedidos, pela resposta operacional, pela adocao e pelo feedback. A visao ainda nao fixa metas numericas.</a:t>
            </a:r>
          </a:p>
          <a:p>
            <a:endParaRPr/>
          </a:p>
          <a:p>
            <a:r>
              <a:t>Integracoes pesadas, previsao avancada de multidoes e automacao completa ficam fora da primeira versao, salvo necessidade de validacao. A capacidade fisica das entradas fica fora do ambito.</a:t>
            </a:r>
          </a:p>
          <a:p>
            <a:endParaRPr/>
          </a:p>
          <a:p>
            <a:r>
              <a:t>Fonte: /Users/tomasoliveira21/Desktop/ISEP/2627/LABDSOF/Docs/Deliverables/problem-opportunity-report-queima.md, seccao "Visao de produto" (Personas, Proposta de valor, Principais jornadas do utilizador, Criterios de sucesso e Definicao do MVP).</a:t>
            </a:r>
          </a:p>
          <a:p>
            <a:endParaRPr/>
          </a:p>
          <a:p>
            <a:r>
              <a:t>Identidade visual: logotipo original da apresentacao fornecida.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(~70 s) Desenhámos o Farol para quatro pessoas. O relatório tem dois grupos de utilizadores, os participantes e a equipa do evento, mas dentro da equipa há dois trabalhos diferentes: quem configura o evento e quem trata os pedidos de ajuda durante a noite. A Rita é estudante: está no recinto à noite, com pouca bateria e muito barulho, e quer encontrar a casa de banho, os primeiros socorros e o caminho para casa. Hoje a informação fica desatualizada e a planta é uma imagem nas redes sociais. Para ela, sucesso é pedir ajuda para uma amiga em menos de 30 segundos. O Miguel é voluntário da PCR: recebe muitos pedidos ao mesmo tempo, por rádio e telefone, sem localização nem prioridade. Precisa de ver cada pedido em segundos, já com a triagem da IA. A Sofia é da organização: configura o evento e publica alterações durante as noites, mas só gere o seu evento. Como o Farol tem vários festivais, a Queima do Porto, de Braga, de Coimbra, alguém tem de os criar: é o Daniel, da equipa Farol. Confirma que quem pede o evento é mesmo a organização, cria-o e nomeia o responsável, e transfere esse papel quando a direção muda. Nunca vê os pedidos de ajuda nem os dados dos eventos. Importante: são proto-personas, construídas a partir do relatório e de dados públicos, com nomes fictícios. Vamos validá-las com o inquérito aos estudantes, a entrevista ao voluntário de segurança e uma conversa com a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D8E4A-4B90-08C4-5A9C-E9D83AD70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21A31F-8F5A-AA2C-F88F-1F1FBE0912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DB46D1-B5F2-B528-B6AC-EA7E8C499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(~55 s) O Farol tem dois lados, ligados pela planta do recinto. O participante, depois de fazer login, vê a planta com entradas, casas de banho, primeiros socorros e paragens. O mais importante é o Pedir ajuda: primeiro aparece o Ligar 112; se não for uma emergência, escolhe uma categoria e marca na planta onde está. Vê também como voltar para casa, com as linhas da STCP e os shuttles do evento, recebe avisos em tempo real e pode reportar problemas na planta. Do lado da equipa, a organização cria o evento e gere os papéis e as equipas de resposta: médica, segurança, PCR e logística. Durante a noite, os operadores veem os pedidos chegar em tempo real, na lista e na planta, priorizam, encaminham para a equipa certa e confirmam os reports. Cada organização só vê os dados do seu evento.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AC7C3-50B7-1B30-5BBB-47DF869FD9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740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CA43C-7D5E-F411-140D-7331964F5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2E32D-75AF-7050-CDD3-98E1C6DC27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E2236-C454-AE52-B771-596555A88A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Três coisas fazem do Farol mais do que uma planta. Primeiro, a triagem com IA: quando chega um pedido, a IA sugere categoria, prioridade e equipa de resposta em menos de 30 segundos. Quem decide é sempre o operador, e a IA nunca baixa uma prioridade. Segundo, os reports na planta, ao estilo do Waze: filas, casas de banho avariadas, perigos. Só a equipa responsável os confirma, por isso reports falsos não contam. Os reports confirmados e a presença nos eventos dão badges, de Madeira até Diamante. São privados, sem ranking, e nunca há badges por pedidos de ajuda: emergências não são um jogo. Terceiro, a integração externa: as linhas da STCP vêm do feed público GTFS, junto com os shuttles da organização, para os estudantes voltarem para casa em segurança.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A4C42-13E1-1282-4832-4E951DAD76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370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V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5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eacon halo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3" name="Lighthouse icon" descr="Lighthous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143000"/>
            <a:ext cx="1280160" cy="1280160"/>
          </a:xfrm>
          <a:prstGeom prst="rect">
            <a:avLst/>
          </a:prstGeom>
        </p:spPr>
      </p:pic>
      <p:sp>
        <p:nvSpPr>
          <p:cNvPr id="4" name="Product name"/>
          <p:cNvSpPr txBox="1"/>
          <p:nvPr/>
        </p:nvSpPr>
        <p:spPr>
          <a:xfrm>
            <a:off x="3200400" y="10058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chemeClr val="bg1"/>
                </a:solidFill>
              </a:rPr>
              <a:t>Farol</a:t>
            </a:r>
            <a:endParaRPr lang="en-US" sz="8000" dirty="0"/>
          </a:p>
        </p:txBody>
      </p:sp>
      <p:sp>
        <p:nvSpPr>
          <p:cNvPr id="5" name="Member Bruno Lopes"/>
          <p:cNvSpPr txBox="1"/>
          <p:nvPr/>
        </p:nvSpPr>
        <p:spPr>
          <a:xfrm>
            <a:off x="45720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Bruno Lopes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1240441</a:t>
            </a:r>
            <a:endParaRPr lang="en-US" sz="1600" dirty="0"/>
          </a:p>
        </p:txBody>
      </p:sp>
      <p:sp>
        <p:nvSpPr>
          <p:cNvPr id="6" name="Member Tiago Teixeira"/>
          <p:cNvSpPr txBox="1"/>
          <p:nvPr/>
        </p:nvSpPr>
        <p:spPr>
          <a:xfrm>
            <a:off x="256032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Tiago Teixeira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1240493</a:t>
            </a:r>
            <a:endParaRPr lang="en-US" sz="1600" dirty="0"/>
          </a:p>
        </p:txBody>
      </p:sp>
      <p:sp>
        <p:nvSpPr>
          <p:cNvPr id="7" name="Member Tomás Oliveira"/>
          <p:cNvSpPr txBox="1"/>
          <p:nvPr/>
        </p:nvSpPr>
        <p:spPr>
          <a:xfrm>
            <a:off x="466344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Tomás Oliveira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1230213</a:t>
            </a:r>
            <a:endParaRPr lang="en-US" sz="1600" dirty="0"/>
          </a:p>
        </p:txBody>
      </p:sp>
      <p:sp>
        <p:nvSpPr>
          <p:cNvPr id="8" name="Member Antônio Guerra"/>
          <p:cNvSpPr txBox="1"/>
          <p:nvPr/>
        </p:nvSpPr>
        <p:spPr>
          <a:xfrm>
            <a:off x="676656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Antônio Guerra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1190409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ita card">
            <a:extLst>
              <a:ext uri="{FF2B5EF4-FFF2-40B4-BE49-F238E27FC236}">
                <a16:creationId xmlns:a16="http://schemas.microsoft.com/office/drawing/2014/main" id="{DE3F91AE-EEF0-4B77-F796-372EBD91B7DF}"/>
              </a:ext>
            </a:extLst>
          </p:cNvPr>
          <p:cNvSpPr/>
          <p:nvPr/>
        </p:nvSpPr>
        <p:spPr>
          <a:xfrm>
            <a:off x="368693" y="3433761"/>
            <a:ext cx="8387563" cy="1319448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PT" dirty="0">
              <a:solidFill>
                <a:schemeClr val="bg1"/>
              </a:solidFill>
            </a:endParaRPr>
          </a:p>
        </p:txBody>
      </p:sp>
      <p:sp>
        <p:nvSpPr>
          <p:cNvPr id="3" name="Rita card">
            <a:extLst>
              <a:ext uri="{FF2B5EF4-FFF2-40B4-BE49-F238E27FC236}">
                <a16:creationId xmlns:a16="http://schemas.microsoft.com/office/drawing/2014/main" id="{30711021-712A-717F-2C45-15DE97DD91DD}"/>
              </a:ext>
            </a:extLst>
          </p:cNvPr>
          <p:cNvSpPr/>
          <p:nvPr/>
        </p:nvSpPr>
        <p:spPr>
          <a:xfrm>
            <a:off x="4731143" y="1938337"/>
            <a:ext cx="4025113" cy="123825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2" name="Rita card">
            <a:extLst>
              <a:ext uri="{FF2B5EF4-FFF2-40B4-BE49-F238E27FC236}">
                <a16:creationId xmlns:a16="http://schemas.microsoft.com/office/drawing/2014/main" id="{0FDC3C32-5582-6860-15BE-D9F57C237ACD}"/>
              </a:ext>
            </a:extLst>
          </p:cNvPr>
          <p:cNvSpPr/>
          <p:nvPr/>
        </p:nvSpPr>
        <p:spPr>
          <a:xfrm>
            <a:off x="368693" y="1938337"/>
            <a:ext cx="4025113" cy="123825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46" name="Title 45">
            <a:extLst>
              <a:ext uri="{FF2B5EF4-FFF2-40B4-BE49-F238E27FC236}">
                <a16:creationId xmlns:a16="http://schemas.microsoft.com/office/drawing/2014/main" id="{D35B6AAC-B8F8-6D43-4F74-381A49A405D9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40080"/>
          </a:xfrm>
        </p:spPr>
        <p:txBody>
          <a:bodyPr lIns="0" tIns="0" rIns="0" bIns="0" anchor="ctr">
            <a:noAutofit/>
          </a:bodyPr>
          <a:lstStyle>
            <a:defPPr algn="ctr">
              <a:defRPr sz="32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ctr">
              <a:defRPr sz="32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pPr>
            <a:r>
              <a:rPr sz="32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Product vision</a:t>
            </a:r>
            <a:endParaRPr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2165DBDE-5B3C-471C-9703-4CC44BBC2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57225" y="900113"/>
            <a:ext cx="952500" cy="952500"/>
          </a:xfrm>
          <a:prstGeom prst="rect">
            <a:avLst/>
          </a:prstGeom>
        </p:spPr>
      </p:pic>
      <p:sp>
        <p:nvSpPr>
          <p:cNvPr id="48" name="Vision statement">
            <a:extLst>
              <a:ext uri="{FF2B5EF4-FFF2-40B4-BE49-F238E27FC236}">
                <a16:creationId xmlns:a16="http://schemas.microsoft.com/office/drawing/2014/main" id="{BD580D43-FE42-4BF9-83F1-89CD57D05A09}"/>
              </a:ext>
            </a:extLst>
          </p:cNvPr>
          <p:cNvSpPr>
            <a:spLocks noGrp="1"/>
          </p:cNvSpPr>
          <p:nvPr/>
        </p:nvSpPr>
        <p:spPr>
          <a:xfrm>
            <a:off x="1914525" y="914400"/>
            <a:ext cx="657225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Reliable event information</a:t>
            </a:r>
            <a:r>
              <a:rPr lang="pt-PT" sz="2500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500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and coordinated help</a:t>
            </a:r>
          </a:p>
        </p:txBody>
      </p:sp>
      <p:sp>
        <p:nvSpPr>
          <p:cNvPr id="49" name="Vision audience">
            <a:extLst>
              <a:ext uri="{FF2B5EF4-FFF2-40B4-BE49-F238E27FC236}">
                <a16:creationId xmlns:a16="http://schemas.microsoft.com/office/drawing/2014/main" id="{9DF1A56B-71E1-4DA3-8CB2-715A03FFF714}"/>
              </a:ext>
            </a:extLst>
          </p:cNvPr>
          <p:cNvSpPr>
            <a:spLocks noGrp="1"/>
          </p:cNvSpPr>
          <p:nvPr/>
        </p:nvSpPr>
        <p:spPr>
          <a:xfrm>
            <a:off x="1919288" y="1395413"/>
            <a:ext cx="666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pPr>
            <a:r>
              <a:rPr sz="1500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 shared platform for participants and event teams</a:t>
            </a:r>
          </a:p>
        </p:txBody>
      </p:sp>
      <p:sp>
        <p:nvSpPr>
          <p:cNvPr id="50" name="Participants heading">
            <a:extLst>
              <a:ext uri="{FF2B5EF4-FFF2-40B4-BE49-F238E27FC236}">
                <a16:creationId xmlns:a16="http://schemas.microsoft.com/office/drawing/2014/main" id="{72DAA3F8-A99E-4817-B74D-445363117F11}"/>
              </a:ext>
            </a:extLst>
          </p:cNvPr>
          <p:cNvSpPr>
            <a:spLocks noGrp="1"/>
          </p:cNvSpPr>
          <p:nvPr/>
        </p:nvSpPr>
        <p:spPr>
          <a:xfrm>
            <a:off x="457200" y="2052637"/>
            <a:ext cx="3857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700" b="1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pPr>
            <a:r>
              <a:rPr sz="17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For participants</a:t>
            </a:r>
          </a:p>
        </p:txBody>
      </p:sp>
      <p:sp>
        <p:nvSpPr>
          <p:cNvPr id="51" name="Participants journey">
            <a:extLst>
              <a:ext uri="{FF2B5EF4-FFF2-40B4-BE49-F238E27FC236}">
                <a16:creationId xmlns:a16="http://schemas.microsoft.com/office/drawing/2014/main" id="{FDD69BD9-71D1-41AC-8425-813E9BD26FD3}"/>
              </a:ext>
            </a:extLst>
          </p:cNvPr>
          <p:cNvSpPr>
            <a:spLocks noGrp="1"/>
          </p:cNvSpPr>
          <p:nvPr/>
        </p:nvSpPr>
        <p:spPr>
          <a:xfrm>
            <a:off x="457200" y="2386012"/>
            <a:ext cx="38481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500" dirty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Open by link or QR. Find the map and transport options, then request help with context and location.</a:t>
            </a:r>
          </a:p>
        </p:txBody>
      </p:sp>
      <p:sp>
        <p:nvSpPr>
          <p:cNvPr id="52" name="Event team heading">
            <a:extLst>
              <a:ext uri="{FF2B5EF4-FFF2-40B4-BE49-F238E27FC236}">
                <a16:creationId xmlns:a16="http://schemas.microsoft.com/office/drawing/2014/main" id="{EA37A2C6-44B2-4F7C-B5CD-57F6307C62E2}"/>
              </a:ext>
            </a:extLst>
          </p:cNvPr>
          <p:cNvSpPr>
            <a:spLocks noGrp="1"/>
          </p:cNvSpPr>
          <p:nvPr/>
        </p:nvSpPr>
        <p:spPr>
          <a:xfrm>
            <a:off x="4800600" y="2071687"/>
            <a:ext cx="38862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700" b="1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For the event team</a:t>
            </a:r>
          </a:p>
        </p:txBody>
      </p:sp>
      <p:sp>
        <p:nvSpPr>
          <p:cNvPr id="53" name="Event team journey">
            <a:extLst>
              <a:ext uri="{FF2B5EF4-FFF2-40B4-BE49-F238E27FC236}">
                <a16:creationId xmlns:a16="http://schemas.microsoft.com/office/drawing/2014/main" id="{C93A605C-E103-414A-A0FC-CFFB4FECDB34}"/>
              </a:ext>
            </a:extLst>
          </p:cNvPr>
          <p:cNvSpPr>
            <a:spLocks noGrp="1"/>
          </p:cNvSpPr>
          <p:nvPr/>
        </p:nvSpPr>
        <p:spPr>
          <a:xfrm>
            <a:off x="4800600" y="2405062"/>
            <a:ext cx="38862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Configure the event and update information. Prioritise each request and route it to the right team.</a:t>
            </a:r>
          </a:p>
        </p:txBody>
      </p:sp>
      <p:sp>
        <p:nvSpPr>
          <p:cNvPr id="54" name="MVP heading">
            <a:extLst>
              <a:ext uri="{FF2B5EF4-FFF2-40B4-BE49-F238E27FC236}">
                <a16:creationId xmlns:a16="http://schemas.microsoft.com/office/drawing/2014/main" id="{FD4759BC-83D1-4166-BC0D-9B2F91CAF75B}"/>
              </a:ext>
            </a:extLst>
          </p:cNvPr>
          <p:cNvSpPr>
            <a:spLocks noGrp="1"/>
          </p:cNvSpPr>
          <p:nvPr/>
        </p:nvSpPr>
        <p:spPr>
          <a:xfrm>
            <a:off x="457200" y="3614736"/>
            <a:ext cx="13525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pPr>
            <a:r>
              <a:rPr sz="1500" b="1" dirty="0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MVP</a:t>
            </a:r>
          </a:p>
        </p:txBody>
      </p:sp>
      <p:sp>
        <p:nvSpPr>
          <p:cNvPr id="55" name="MVP scope">
            <a:extLst>
              <a:ext uri="{FF2B5EF4-FFF2-40B4-BE49-F238E27FC236}">
                <a16:creationId xmlns:a16="http://schemas.microsoft.com/office/drawing/2014/main" id="{EE15BBC2-61C5-47DC-90AD-58954614B58C}"/>
              </a:ext>
            </a:extLst>
          </p:cNvPr>
          <p:cNvSpPr>
            <a:spLocks noGrp="1"/>
          </p:cNvSpPr>
          <p:nvPr/>
        </p:nvSpPr>
        <p:spPr>
          <a:xfrm>
            <a:off x="1914525" y="3614736"/>
            <a:ext cx="67722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3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Event selection, venue map, essential information, transport and help requests, with an event </a:t>
            </a:r>
            <a:r>
              <a:rPr sz="130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backoffice</a:t>
            </a:r>
            <a:r>
              <a:rPr sz="13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6" name="Success heading">
            <a:extLst>
              <a:ext uri="{FF2B5EF4-FFF2-40B4-BE49-F238E27FC236}">
                <a16:creationId xmlns:a16="http://schemas.microsoft.com/office/drawing/2014/main" id="{5A36368D-A38A-49D3-AB41-D9FC53609A8B}"/>
              </a:ext>
            </a:extLst>
          </p:cNvPr>
          <p:cNvSpPr>
            <a:spLocks noGrp="1"/>
          </p:cNvSpPr>
          <p:nvPr/>
        </p:nvSpPr>
        <p:spPr>
          <a:xfrm>
            <a:off x="457200" y="4195761"/>
            <a:ext cx="13525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pPr>
            <a:r>
              <a:rPr sz="1500" b="1" dirty="0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Success criteria</a:t>
            </a:r>
          </a:p>
        </p:txBody>
      </p:sp>
      <p:sp>
        <p:nvSpPr>
          <p:cNvPr id="57" name="Success criteria">
            <a:extLst>
              <a:ext uri="{FF2B5EF4-FFF2-40B4-BE49-F238E27FC236}">
                <a16:creationId xmlns:a16="http://schemas.microsoft.com/office/drawing/2014/main" id="{3BC16916-00CE-4194-9ADB-BCE37690540A}"/>
              </a:ext>
            </a:extLst>
          </p:cNvPr>
          <p:cNvSpPr>
            <a:spLocks noGrp="1"/>
          </p:cNvSpPr>
          <p:nvPr/>
        </p:nvSpPr>
        <p:spPr>
          <a:xfrm>
            <a:off x="1914525" y="4195761"/>
            <a:ext cx="67722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3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Faster access to information and operational response, less confusion, adoption and positive feedback.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</a:rPr>
              <a:t>Who we design for</a:t>
            </a:r>
            <a:endParaRPr lang="en-US" sz="3200" dirty="0"/>
          </a:p>
        </p:txBody>
      </p:sp>
      <p:sp>
        <p:nvSpPr>
          <p:cNvPr id="3" name="Rita card"/>
          <p:cNvSpPr/>
          <p:nvPr/>
        </p:nvSpPr>
        <p:spPr>
          <a:xfrm>
            <a:off x="45720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4" name="Rita icon circle"/>
          <p:cNvSpPr/>
          <p:nvPr/>
        </p:nvSpPr>
        <p:spPr>
          <a:xfrm>
            <a:off x="62179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5" name="Rita icon" descr="Rita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1261872"/>
            <a:ext cx="201168" cy="201168"/>
          </a:xfrm>
          <a:prstGeom prst="rect">
            <a:avLst/>
          </a:prstGeom>
        </p:spPr>
      </p:pic>
      <p:sp>
        <p:nvSpPr>
          <p:cNvPr id="6" name="Rita name"/>
          <p:cNvSpPr txBox="1"/>
          <p:nvPr/>
        </p:nvSpPr>
        <p:spPr>
          <a:xfrm>
            <a:off x="111556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Rita role"/>
          <p:cNvSpPr txBox="1"/>
          <p:nvPr/>
        </p:nvSpPr>
        <p:spPr>
          <a:xfrm>
            <a:off x="62179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Student · Participant app</a:t>
            </a:r>
            <a:endParaRPr lang="en-US" sz="1100" dirty="0"/>
          </a:p>
        </p:txBody>
      </p:sp>
      <p:pic>
        <p:nvPicPr>
          <p:cNvPr id="8" name="Rita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1943100"/>
            <a:ext cx="146304" cy="146304"/>
          </a:xfrm>
          <a:prstGeom prst="rect">
            <a:avLst/>
          </a:prstGeom>
        </p:spPr>
      </p:pic>
      <p:sp>
        <p:nvSpPr>
          <p:cNvPr id="9" name="Rita Goal label"/>
          <p:cNvSpPr txBox="1"/>
          <p:nvPr/>
        </p:nvSpPr>
        <p:spPr>
          <a:xfrm>
            <a:off x="84124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10" name="Rita Goal"/>
          <p:cNvSpPr txBox="1"/>
          <p:nvPr/>
        </p:nvSpPr>
        <p:spPr>
          <a:xfrm>
            <a:off x="62179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/>
              <a:t>F</a:t>
            </a:r>
            <a:r>
              <a:rPr lang="en-US" sz="1200" dirty="0">
                <a:solidFill>
                  <a:schemeClr val="tx1"/>
                </a:solidFill>
              </a:rPr>
              <a:t>ind WC, first aid and the way home, fast</a:t>
            </a:r>
            <a:endParaRPr lang="en-US" sz="1200" dirty="0"/>
          </a:p>
        </p:txBody>
      </p:sp>
      <p:pic>
        <p:nvPicPr>
          <p:cNvPr id="11" name="Rita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2546604"/>
            <a:ext cx="146304" cy="146304"/>
          </a:xfrm>
          <a:prstGeom prst="rect">
            <a:avLst/>
          </a:prstGeom>
        </p:spPr>
      </p:pic>
      <p:sp>
        <p:nvSpPr>
          <p:cNvPr id="12" name="Rita Pain label"/>
          <p:cNvSpPr txBox="1"/>
          <p:nvPr/>
        </p:nvSpPr>
        <p:spPr>
          <a:xfrm>
            <a:off x="84124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13" name="Rita Pain"/>
          <p:cNvSpPr txBox="1"/>
          <p:nvPr/>
        </p:nvSpPr>
        <p:spPr>
          <a:xfrm>
            <a:off x="62179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/>
              <a:t>I</a:t>
            </a:r>
            <a:r>
              <a:rPr lang="en-US" sz="1200" dirty="0">
                <a:solidFill>
                  <a:schemeClr val="tx1"/>
                </a:solidFill>
              </a:rPr>
              <a:t>nfo goes stale; the map is an image</a:t>
            </a:r>
            <a:endParaRPr lang="en-US" sz="1200" dirty="0"/>
          </a:p>
        </p:txBody>
      </p:sp>
      <p:pic>
        <p:nvPicPr>
          <p:cNvPr id="14" name="Rita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3150108"/>
            <a:ext cx="146304" cy="146304"/>
          </a:xfrm>
          <a:prstGeom prst="rect">
            <a:avLst/>
          </a:prstGeom>
        </p:spPr>
      </p:pic>
      <p:sp>
        <p:nvSpPr>
          <p:cNvPr id="15" name="Rita Success label"/>
          <p:cNvSpPr txBox="1"/>
          <p:nvPr/>
        </p:nvSpPr>
        <p:spPr>
          <a:xfrm>
            <a:off x="84124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16" name="Rita Success"/>
          <p:cNvSpPr txBox="1"/>
          <p:nvPr/>
        </p:nvSpPr>
        <p:spPr>
          <a:xfrm>
            <a:off x="62179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/>
              <a:t>A</a:t>
            </a:r>
            <a:r>
              <a:rPr lang="en-US" sz="1200" dirty="0">
                <a:solidFill>
                  <a:schemeClr val="tx1"/>
                </a:solidFill>
              </a:rPr>
              <a:t>sks help for a friend in under 30 s</a:t>
            </a:r>
            <a:endParaRPr lang="en-US" sz="1200" dirty="0"/>
          </a:p>
        </p:txBody>
      </p:sp>
      <p:sp>
        <p:nvSpPr>
          <p:cNvPr id="17" name="Miguel card"/>
          <p:cNvSpPr/>
          <p:nvPr/>
        </p:nvSpPr>
        <p:spPr>
          <a:xfrm>
            <a:off x="256032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18" name="Miguel icon circle"/>
          <p:cNvSpPr/>
          <p:nvPr/>
        </p:nvSpPr>
        <p:spPr>
          <a:xfrm>
            <a:off x="272491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19" name="Miguel icon" descr="Miguel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496" y="1261872"/>
            <a:ext cx="201168" cy="201168"/>
          </a:xfrm>
          <a:prstGeom prst="rect">
            <a:avLst/>
          </a:prstGeom>
        </p:spPr>
      </p:pic>
      <p:sp>
        <p:nvSpPr>
          <p:cNvPr id="20" name="Miguel name"/>
          <p:cNvSpPr txBox="1"/>
          <p:nvPr/>
        </p:nvSpPr>
        <p:spPr>
          <a:xfrm>
            <a:off x="321868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21" name="Miguel role"/>
          <p:cNvSpPr txBox="1"/>
          <p:nvPr/>
        </p:nvSpPr>
        <p:spPr>
          <a:xfrm>
            <a:off x="272491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PCR volunteer · Operator</a:t>
            </a:r>
            <a:endParaRPr lang="en-US" sz="1100" dirty="0"/>
          </a:p>
        </p:txBody>
      </p:sp>
      <p:pic>
        <p:nvPicPr>
          <p:cNvPr id="22" name="Miguel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4912" y="1943100"/>
            <a:ext cx="146304" cy="146304"/>
          </a:xfrm>
          <a:prstGeom prst="rect">
            <a:avLst/>
          </a:prstGeom>
        </p:spPr>
      </p:pic>
      <p:sp>
        <p:nvSpPr>
          <p:cNvPr id="23" name="Miguel Goal label"/>
          <p:cNvSpPr txBox="1"/>
          <p:nvPr/>
        </p:nvSpPr>
        <p:spPr>
          <a:xfrm>
            <a:off x="294436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24" name="Miguel Goal"/>
          <p:cNvSpPr txBox="1"/>
          <p:nvPr/>
        </p:nvSpPr>
        <p:spPr>
          <a:xfrm>
            <a:off x="272491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/>
              <a:t>S</a:t>
            </a:r>
            <a:r>
              <a:rPr lang="en-US" sz="1200" dirty="0">
                <a:solidFill>
                  <a:schemeClr val="tx1"/>
                </a:solidFill>
              </a:rPr>
              <a:t>ee every request: what, where, status</a:t>
            </a:r>
            <a:endParaRPr lang="en-US" sz="1200" dirty="0"/>
          </a:p>
        </p:txBody>
      </p:sp>
      <p:pic>
        <p:nvPicPr>
          <p:cNvPr id="25" name="Miguel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4912" y="2546604"/>
            <a:ext cx="146304" cy="146304"/>
          </a:xfrm>
          <a:prstGeom prst="rect">
            <a:avLst/>
          </a:prstGeom>
        </p:spPr>
      </p:pic>
      <p:sp>
        <p:nvSpPr>
          <p:cNvPr id="26" name="Miguel Pain label"/>
          <p:cNvSpPr txBox="1"/>
          <p:nvPr/>
        </p:nvSpPr>
        <p:spPr>
          <a:xfrm>
            <a:off x="294436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27" name="Miguel Pain"/>
          <p:cNvSpPr txBox="1"/>
          <p:nvPr/>
        </p:nvSpPr>
        <p:spPr>
          <a:xfrm>
            <a:off x="272491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/>
              <a:t>R</a:t>
            </a:r>
            <a:r>
              <a:rPr lang="en-US" sz="1200" dirty="0">
                <a:solidFill>
                  <a:schemeClr val="tx1"/>
                </a:solidFill>
              </a:rPr>
              <a:t>adio and phone, no location or priority</a:t>
            </a:r>
            <a:endParaRPr lang="en-US" sz="1200" dirty="0"/>
          </a:p>
        </p:txBody>
      </p:sp>
      <p:pic>
        <p:nvPicPr>
          <p:cNvPr id="28" name="Miguel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4912" y="3150108"/>
            <a:ext cx="146304" cy="146304"/>
          </a:xfrm>
          <a:prstGeom prst="rect">
            <a:avLst/>
          </a:prstGeom>
        </p:spPr>
      </p:pic>
      <p:sp>
        <p:nvSpPr>
          <p:cNvPr id="29" name="Miguel Success label"/>
          <p:cNvSpPr txBox="1"/>
          <p:nvPr/>
        </p:nvSpPr>
        <p:spPr>
          <a:xfrm>
            <a:off x="294436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30" name="Miguel Success"/>
          <p:cNvSpPr txBox="1"/>
          <p:nvPr/>
        </p:nvSpPr>
        <p:spPr>
          <a:xfrm>
            <a:off x="272491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/>
              <a:t>E</a:t>
            </a:r>
            <a:r>
              <a:rPr lang="en-US" sz="1200" dirty="0">
                <a:solidFill>
                  <a:schemeClr val="tx1"/>
                </a:solidFill>
              </a:rPr>
              <a:t>ach request in seconds, triaged in ≤ 30 s</a:t>
            </a:r>
            <a:endParaRPr lang="en-US" sz="1200" dirty="0"/>
          </a:p>
        </p:txBody>
      </p:sp>
      <p:sp>
        <p:nvSpPr>
          <p:cNvPr id="31" name="Sofia card"/>
          <p:cNvSpPr/>
          <p:nvPr/>
        </p:nvSpPr>
        <p:spPr>
          <a:xfrm>
            <a:off x="466344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32" name="Sofia icon circle"/>
          <p:cNvSpPr/>
          <p:nvPr/>
        </p:nvSpPr>
        <p:spPr>
          <a:xfrm>
            <a:off x="482803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33" name="Sofia icon" descr="Sofia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8616" y="1261872"/>
            <a:ext cx="201168" cy="201168"/>
          </a:xfrm>
          <a:prstGeom prst="rect">
            <a:avLst/>
          </a:prstGeom>
        </p:spPr>
      </p:pic>
      <p:sp>
        <p:nvSpPr>
          <p:cNvPr id="34" name="Sofia name"/>
          <p:cNvSpPr txBox="1"/>
          <p:nvPr/>
        </p:nvSpPr>
        <p:spPr>
          <a:xfrm>
            <a:off x="532180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35" name="Sofia role"/>
          <p:cNvSpPr txBox="1"/>
          <p:nvPr/>
        </p:nvSpPr>
        <p:spPr>
          <a:xfrm>
            <a:off x="482803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Organiser · Her event only</a:t>
            </a:r>
            <a:endParaRPr lang="en-US" sz="1100" dirty="0"/>
          </a:p>
        </p:txBody>
      </p:sp>
      <p:pic>
        <p:nvPicPr>
          <p:cNvPr id="36" name="Sofia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943100"/>
            <a:ext cx="146304" cy="146304"/>
          </a:xfrm>
          <a:prstGeom prst="rect">
            <a:avLst/>
          </a:prstGeom>
        </p:spPr>
      </p:pic>
      <p:sp>
        <p:nvSpPr>
          <p:cNvPr id="37" name="Sofia Goal label"/>
          <p:cNvSpPr txBox="1"/>
          <p:nvPr/>
        </p:nvSpPr>
        <p:spPr>
          <a:xfrm>
            <a:off x="504748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38" name="Sofia Goal"/>
          <p:cNvSpPr txBox="1"/>
          <p:nvPr/>
        </p:nvSpPr>
        <p:spPr>
          <a:xfrm>
            <a:off x="482803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/>
              <a:t>C</a:t>
            </a:r>
            <a:r>
              <a:rPr lang="en-US" sz="1200" dirty="0">
                <a:solidFill>
                  <a:schemeClr val="tx1"/>
                </a:solidFill>
              </a:rPr>
              <a:t>onfigure once, publish changes live</a:t>
            </a:r>
            <a:endParaRPr lang="en-US" sz="1200" dirty="0"/>
          </a:p>
        </p:txBody>
      </p:sp>
      <p:pic>
        <p:nvPicPr>
          <p:cNvPr id="39" name="Sofia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2546604"/>
            <a:ext cx="146304" cy="146304"/>
          </a:xfrm>
          <a:prstGeom prst="rect">
            <a:avLst/>
          </a:prstGeom>
        </p:spPr>
      </p:pic>
      <p:sp>
        <p:nvSpPr>
          <p:cNvPr id="40" name="Sofia Pain label"/>
          <p:cNvSpPr txBox="1"/>
          <p:nvPr/>
        </p:nvSpPr>
        <p:spPr>
          <a:xfrm>
            <a:off x="504748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41" name="Sofia Pain"/>
          <p:cNvSpPr txBox="1"/>
          <p:nvPr/>
        </p:nvSpPr>
        <p:spPr>
          <a:xfrm>
            <a:off x="482803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/>
              <a:t>E</a:t>
            </a:r>
            <a:r>
              <a:rPr lang="en-US" sz="1200" dirty="0">
                <a:solidFill>
                  <a:schemeClr val="tx1"/>
                </a:solidFill>
              </a:rPr>
              <a:t>ach partner talks on its own channel</a:t>
            </a:r>
            <a:endParaRPr lang="en-US" sz="1200" dirty="0"/>
          </a:p>
        </p:txBody>
      </p:sp>
      <p:pic>
        <p:nvPicPr>
          <p:cNvPr id="42" name="Sofia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150108"/>
            <a:ext cx="146304" cy="146304"/>
          </a:xfrm>
          <a:prstGeom prst="rect">
            <a:avLst/>
          </a:prstGeom>
        </p:spPr>
      </p:pic>
      <p:sp>
        <p:nvSpPr>
          <p:cNvPr id="43" name="Sofia Success label"/>
          <p:cNvSpPr txBox="1"/>
          <p:nvPr/>
        </p:nvSpPr>
        <p:spPr>
          <a:xfrm>
            <a:off x="504748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44" name="Sofia Success"/>
          <p:cNvSpPr txBox="1"/>
          <p:nvPr/>
        </p:nvSpPr>
        <p:spPr>
          <a:xfrm>
            <a:off x="482803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/>
              <a:t>N</a:t>
            </a:r>
            <a:r>
              <a:rPr lang="en-US" sz="1200" dirty="0">
                <a:solidFill>
                  <a:schemeClr val="tx1"/>
                </a:solidFill>
              </a:rPr>
              <a:t>ext night ready with configuration only</a:t>
            </a:r>
            <a:endParaRPr lang="en-US" sz="1200" dirty="0"/>
          </a:p>
        </p:txBody>
      </p:sp>
      <p:sp>
        <p:nvSpPr>
          <p:cNvPr id="45" name="Daniel card"/>
          <p:cNvSpPr/>
          <p:nvPr/>
        </p:nvSpPr>
        <p:spPr>
          <a:xfrm>
            <a:off x="676656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46" name="Daniel icon circle"/>
          <p:cNvSpPr/>
          <p:nvPr/>
        </p:nvSpPr>
        <p:spPr>
          <a:xfrm>
            <a:off x="693115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47" name="Daniel icon" descr="Daniel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1736" y="1261872"/>
            <a:ext cx="201168" cy="201168"/>
          </a:xfrm>
          <a:prstGeom prst="rect">
            <a:avLst/>
          </a:prstGeom>
        </p:spPr>
      </p:pic>
      <p:sp>
        <p:nvSpPr>
          <p:cNvPr id="48" name="Daniel name"/>
          <p:cNvSpPr txBox="1"/>
          <p:nvPr/>
        </p:nvSpPr>
        <p:spPr>
          <a:xfrm>
            <a:off x="742492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49" name="Daniel role"/>
          <p:cNvSpPr txBox="1"/>
          <p:nvPr/>
        </p:nvSpPr>
        <p:spPr>
          <a:xfrm>
            <a:off x="693115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Farol team · All events</a:t>
            </a:r>
            <a:endParaRPr lang="en-US" sz="1100" dirty="0"/>
          </a:p>
        </p:txBody>
      </p:sp>
      <p:pic>
        <p:nvPicPr>
          <p:cNvPr id="50" name="Daniel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1943100"/>
            <a:ext cx="146304" cy="146304"/>
          </a:xfrm>
          <a:prstGeom prst="rect">
            <a:avLst/>
          </a:prstGeom>
        </p:spPr>
      </p:pic>
      <p:sp>
        <p:nvSpPr>
          <p:cNvPr id="51" name="Daniel Goal label"/>
          <p:cNvSpPr txBox="1"/>
          <p:nvPr/>
        </p:nvSpPr>
        <p:spPr>
          <a:xfrm>
            <a:off x="715060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52" name="Daniel Goal"/>
          <p:cNvSpPr txBox="1"/>
          <p:nvPr/>
        </p:nvSpPr>
        <p:spPr>
          <a:xfrm>
            <a:off x="693115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/>
              <a:t>O</a:t>
            </a:r>
            <a:r>
              <a:rPr lang="en-US" sz="1200" dirty="0">
                <a:solidFill>
                  <a:schemeClr val="tx1"/>
                </a:solidFill>
              </a:rPr>
              <a:t>nboard real festivals, no new code</a:t>
            </a:r>
            <a:endParaRPr lang="en-US" sz="1200" dirty="0"/>
          </a:p>
        </p:txBody>
      </p:sp>
      <p:pic>
        <p:nvPicPr>
          <p:cNvPr id="53" name="Daniel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2546604"/>
            <a:ext cx="146304" cy="146304"/>
          </a:xfrm>
          <a:prstGeom prst="rect">
            <a:avLst/>
          </a:prstGeom>
        </p:spPr>
      </p:pic>
      <p:sp>
        <p:nvSpPr>
          <p:cNvPr id="54" name="Daniel Pain label"/>
          <p:cNvSpPr txBox="1"/>
          <p:nvPr/>
        </p:nvSpPr>
        <p:spPr>
          <a:xfrm>
            <a:off x="715060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55" name="Daniel Pain"/>
          <p:cNvSpPr txBox="1"/>
          <p:nvPr/>
        </p:nvSpPr>
        <p:spPr>
          <a:xfrm>
            <a:off x="693115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/>
              <a:t>F</a:t>
            </a:r>
            <a:r>
              <a:rPr lang="en-US" sz="1200" dirty="0">
                <a:solidFill>
                  <a:schemeClr val="tx1"/>
                </a:solidFill>
              </a:rPr>
              <a:t>ake events; owners change every year</a:t>
            </a:r>
            <a:endParaRPr lang="en-US" sz="1200" dirty="0"/>
          </a:p>
        </p:txBody>
      </p:sp>
      <p:pic>
        <p:nvPicPr>
          <p:cNvPr id="56" name="Daniel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3150108"/>
            <a:ext cx="146304" cy="146304"/>
          </a:xfrm>
          <a:prstGeom prst="rect">
            <a:avLst/>
          </a:prstGeom>
        </p:spPr>
      </p:pic>
      <p:sp>
        <p:nvSpPr>
          <p:cNvPr id="57" name="Daniel Success label"/>
          <p:cNvSpPr txBox="1"/>
          <p:nvPr/>
        </p:nvSpPr>
        <p:spPr>
          <a:xfrm>
            <a:off x="715060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58" name="Daniel Success"/>
          <p:cNvSpPr txBox="1"/>
          <p:nvPr/>
        </p:nvSpPr>
        <p:spPr>
          <a:xfrm>
            <a:off x="693115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/>
              <a:t>N</a:t>
            </a:r>
            <a:r>
              <a:rPr lang="en-US" sz="1200" dirty="0">
                <a:solidFill>
                  <a:schemeClr val="tx1"/>
                </a:solidFill>
              </a:rPr>
              <a:t>ew festival live, its data never seen</a:t>
            </a:r>
            <a:endParaRPr lang="en-US" sz="1200" dirty="0"/>
          </a:p>
        </p:txBody>
      </p:sp>
      <p:sp>
        <p:nvSpPr>
          <p:cNvPr id="59" name="Validation band"/>
          <p:cNvSpPr/>
          <p:nvPr/>
        </p:nvSpPr>
        <p:spPr>
          <a:xfrm>
            <a:off x="457200" y="3904488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PT" dirty="0"/>
          </a:p>
        </p:txBody>
      </p:sp>
      <p:pic>
        <p:nvPicPr>
          <p:cNvPr id="60" name="Proto-personas icon" descr="Proto-personas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1" name="Proto-personas heading"/>
          <p:cNvSpPr txBox="1"/>
          <p:nvPr/>
        </p:nvSpPr>
        <p:spPr>
          <a:xfrm>
            <a:off x="1024128" y="3995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Proto-personas</a:t>
            </a:r>
            <a:endParaRPr lang="en-US" sz="1600" dirty="0"/>
          </a:p>
        </p:txBody>
      </p:sp>
      <p:sp>
        <p:nvSpPr>
          <p:cNvPr id="62" name="Proto-personas text"/>
          <p:cNvSpPr txBox="1"/>
          <p:nvPr/>
        </p:nvSpPr>
        <p:spPr>
          <a:xfrm>
            <a:off x="658368" y="437083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From the report and public evidence. Names are fictional; no user data yet.</a:t>
            </a:r>
            <a:endParaRPr lang="en-US" sz="1050" dirty="0"/>
          </a:p>
        </p:txBody>
      </p:sp>
      <p:sp>
        <p:nvSpPr>
          <p:cNvPr id="63" name="Student survey circle"/>
          <p:cNvSpPr/>
          <p:nvPr/>
        </p:nvSpPr>
        <p:spPr>
          <a:xfrm>
            <a:off x="333756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64" name="Student survey icon" descr="Student survey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19856" y="4224528"/>
            <a:ext cx="201168" cy="201168"/>
          </a:xfrm>
          <a:prstGeom prst="rect">
            <a:avLst/>
          </a:prstGeom>
        </p:spPr>
      </p:pic>
      <p:sp>
        <p:nvSpPr>
          <p:cNvPr id="65" name="Student survey label"/>
          <p:cNvSpPr txBox="1"/>
          <p:nvPr/>
        </p:nvSpPr>
        <p:spPr>
          <a:xfrm>
            <a:off x="379476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Student survey</a:t>
            </a:r>
            <a:endParaRPr lang="en-US" sz="1200" dirty="0"/>
          </a:p>
        </p:txBody>
      </p:sp>
      <p:sp>
        <p:nvSpPr>
          <p:cNvPr id="66" name="Student survey target"/>
          <p:cNvSpPr txBox="1"/>
          <p:nvPr/>
        </p:nvSpPr>
        <p:spPr>
          <a:xfrm>
            <a:off x="379476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Rita</a:t>
            </a:r>
            <a:endParaRPr lang="en-US" sz="1100" dirty="0"/>
          </a:p>
        </p:txBody>
      </p:sp>
      <p:sp>
        <p:nvSpPr>
          <p:cNvPr id="67" name="Security interview circle"/>
          <p:cNvSpPr/>
          <p:nvPr/>
        </p:nvSpPr>
        <p:spPr>
          <a:xfrm>
            <a:off x="512064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68" name="Security interview icon" descr="Security interview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2936" y="4224528"/>
            <a:ext cx="201168" cy="201168"/>
          </a:xfrm>
          <a:prstGeom prst="rect">
            <a:avLst/>
          </a:prstGeom>
        </p:spPr>
      </p:pic>
      <p:sp>
        <p:nvSpPr>
          <p:cNvPr id="69" name="Security interview label"/>
          <p:cNvSpPr txBox="1"/>
          <p:nvPr/>
        </p:nvSpPr>
        <p:spPr>
          <a:xfrm>
            <a:off x="557784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Security interview</a:t>
            </a:r>
            <a:endParaRPr lang="en-US" sz="1200" dirty="0"/>
          </a:p>
        </p:txBody>
      </p:sp>
      <p:sp>
        <p:nvSpPr>
          <p:cNvPr id="70" name="Security interview target"/>
          <p:cNvSpPr txBox="1"/>
          <p:nvPr/>
        </p:nvSpPr>
        <p:spPr>
          <a:xfrm>
            <a:off x="557784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Miguel</a:t>
            </a:r>
            <a:endParaRPr lang="en-US" sz="1100" dirty="0"/>
          </a:p>
        </p:txBody>
      </p:sp>
      <p:sp>
        <p:nvSpPr>
          <p:cNvPr id="71" name="Organiser talk circle"/>
          <p:cNvSpPr/>
          <p:nvPr/>
        </p:nvSpPr>
        <p:spPr>
          <a:xfrm>
            <a:off x="690372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72" name="Organiser talk icon" descr="Organiser tal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86016" y="4224528"/>
            <a:ext cx="201168" cy="201168"/>
          </a:xfrm>
          <a:prstGeom prst="rect">
            <a:avLst/>
          </a:prstGeom>
        </p:spPr>
      </p:pic>
      <p:sp>
        <p:nvSpPr>
          <p:cNvPr id="73" name="Organiser talk label"/>
          <p:cNvSpPr txBox="1"/>
          <p:nvPr/>
        </p:nvSpPr>
        <p:spPr>
          <a:xfrm>
            <a:off x="736092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Organiser talk</a:t>
            </a:r>
            <a:endParaRPr lang="en-US" sz="1200" dirty="0"/>
          </a:p>
        </p:txBody>
      </p:sp>
      <p:sp>
        <p:nvSpPr>
          <p:cNvPr id="74" name="Organiser talk target"/>
          <p:cNvSpPr txBox="1"/>
          <p:nvPr/>
        </p:nvSpPr>
        <p:spPr>
          <a:xfrm>
            <a:off x="736092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Sofia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1EEFE-2E85-BE30-2831-13811A547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D1B3FB8-D4A3-1033-2175-7A11DABA1E77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map, two sides</a:t>
            </a:r>
            <a:endParaRPr lang="en-US" sz="3200" dirty="0"/>
          </a:p>
        </p:txBody>
      </p:sp>
      <p:sp>
        <p:nvSpPr>
          <p:cNvPr id="3" name="Participant app card">
            <a:extLst>
              <a:ext uri="{FF2B5EF4-FFF2-40B4-BE49-F238E27FC236}">
                <a16:creationId xmlns:a16="http://schemas.microsoft.com/office/drawing/2014/main" id="{CD653506-B72B-12CB-6736-256BA7E8B8DA}"/>
              </a:ext>
            </a:extLst>
          </p:cNvPr>
          <p:cNvSpPr/>
          <p:nvPr/>
        </p:nvSpPr>
        <p:spPr>
          <a:xfrm>
            <a:off x="457200" y="1097280"/>
            <a:ext cx="342900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4" name="Participant app icon" descr="Participant app icon">
            <a:extLst>
              <a:ext uri="{FF2B5EF4-FFF2-40B4-BE49-F238E27FC236}">
                <a16:creationId xmlns:a16="http://schemas.microsoft.com/office/drawing/2014/main" id="{58FD8064-FD8F-994A-76C3-D004A9118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98448"/>
            <a:ext cx="365760" cy="365760"/>
          </a:xfrm>
          <a:prstGeom prst="rect">
            <a:avLst/>
          </a:prstGeom>
        </p:spPr>
      </p:pic>
      <p:sp>
        <p:nvSpPr>
          <p:cNvPr id="5" name="Participant app heading">
            <a:extLst>
              <a:ext uri="{FF2B5EF4-FFF2-40B4-BE49-F238E27FC236}">
                <a16:creationId xmlns:a16="http://schemas.microsoft.com/office/drawing/2014/main" id="{81D1970A-BEA6-E493-B41C-3DBAD010DA17}"/>
              </a:ext>
            </a:extLst>
          </p:cNvPr>
          <p:cNvSpPr txBox="1"/>
          <p:nvPr/>
        </p:nvSpPr>
        <p:spPr>
          <a:xfrm>
            <a:off x="1188720" y="1252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Participant app</a:t>
            </a:r>
            <a:endParaRPr lang="en-US" sz="2000" dirty="0"/>
          </a:p>
        </p:txBody>
      </p:sp>
      <p:sp>
        <p:nvSpPr>
          <p:cNvPr id="6" name="Icon circle: Venue map with points of interest">
            <a:extLst>
              <a:ext uri="{FF2B5EF4-FFF2-40B4-BE49-F238E27FC236}">
                <a16:creationId xmlns:a16="http://schemas.microsoft.com/office/drawing/2014/main" id="{6852F613-1299-0D2A-3B46-135D7BB558D4}"/>
              </a:ext>
            </a:extLst>
          </p:cNvPr>
          <p:cNvSpPr/>
          <p:nvPr/>
        </p:nvSpPr>
        <p:spPr>
          <a:xfrm>
            <a:off x="685800" y="191109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7" name="Icon: Venue map with points of interest" descr="Venue map with points of interest">
            <a:extLst>
              <a:ext uri="{FF2B5EF4-FFF2-40B4-BE49-F238E27FC236}">
                <a16:creationId xmlns:a16="http://schemas.microsoft.com/office/drawing/2014/main" id="{C1A76801-E32F-6AF3-CDD5-6FFAE3C4B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1993392"/>
            <a:ext cx="201168" cy="201168"/>
          </a:xfrm>
          <a:prstGeom prst="rect">
            <a:avLst/>
          </a:prstGeom>
        </p:spPr>
      </p:pic>
      <p:sp>
        <p:nvSpPr>
          <p:cNvPr id="8" name="Feature: Venue map with points of interest">
            <a:extLst>
              <a:ext uri="{FF2B5EF4-FFF2-40B4-BE49-F238E27FC236}">
                <a16:creationId xmlns:a16="http://schemas.microsoft.com/office/drawing/2014/main" id="{E677B011-67BB-B84F-A473-882139AFE742}"/>
              </a:ext>
            </a:extLst>
          </p:cNvPr>
          <p:cNvSpPr txBox="1"/>
          <p:nvPr/>
        </p:nvSpPr>
        <p:spPr>
          <a:xfrm>
            <a:off x="1188720" y="1874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Venue map with points of interest</a:t>
            </a:r>
            <a:endParaRPr lang="en-US" sz="1400" dirty="0"/>
          </a:p>
        </p:txBody>
      </p:sp>
      <p:sp>
        <p:nvSpPr>
          <p:cNvPr id="9" name="Icon circle: Ask for help, 112 shown first">
            <a:extLst>
              <a:ext uri="{FF2B5EF4-FFF2-40B4-BE49-F238E27FC236}">
                <a16:creationId xmlns:a16="http://schemas.microsoft.com/office/drawing/2014/main" id="{5DE3B0D1-4BFB-F044-EE05-5E1043390B65}"/>
              </a:ext>
            </a:extLst>
          </p:cNvPr>
          <p:cNvSpPr/>
          <p:nvPr/>
        </p:nvSpPr>
        <p:spPr>
          <a:xfrm>
            <a:off x="685800" y="240487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10" name="Icon: Ask for help, 112 shown first" descr="Ask for help, 112 shown first">
            <a:extLst>
              <a:ext uri="{FF2B5EF4-FFF2-40B4-BE49-F238E27FC236}">
                <a16:creationId xmlns:a16="http://schemas.microsoft.com/office/drawing/2014/main" id="{EC3EABD6-0306-DE26-4D50-32E0D35087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2487168"/>
            <a:ext cx="201168" cy="201168"/>
          </a:xfrm>
          <a:prstGeom prst="rect">
            <a:avLst/>
          </a:prstGeom>
        </p:spPr>
      </p:pic>
      <p:sp>
        <p:nvSpPr>
          <p:cNvPr id="11" name="Feature: Ask for help, 112 shown first">
            <a:extLst>
              <a:ext uri="{FF2B5EF4-FFF2-40B4-BE49-F238E27FC236}">
                <a16:creationId xmlns:a16="http://schemas.microsoft.com/office/drawing/2014/main" id="{5B41121C-816C-3AD2-7BAB-CD60EF0B7955}"/>
              </a:ext>
            </a:extLst>
          </p:cNvPr>
          <p:cNvSpPr txBox="1"/>
          <p:nvPr/>
        </p:nvSpPr>
        <p:spPr>
          <a:xfrm>
            <a:off x="1188720" y="236829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Ask for help, 112 shown first</a:t>
            </a:r>
            <a:endParaRPr lang="en-US" sz="1400" dirty="0"/>
          </a:p>
        </p:txBody>
      </p:sp>
      <p:sp>
        <p:nvSpPr>
          <p:cNvPr id="12" name="Icon circle: Transport home: STCP + shuttles">
            <a:extLst>
              <a:ext uri="{FF2B5EF4-FFF2-40B4-BE49-F238E27FC236}">
                <a16:creationId xmlns:a16="http://schemas.microsoft.com/office/drawing/2014/main" id="{59CEB873-4CA4-6E8A-3F2A-A61F989C956D}"/>
              </a:ext>
            </a:extLst>
          </p:cNvPr>
          <p:cNvSpPr/>
          <p:nvPr/>
        </p:nvSpPr>
        <p:spPr>
          <a:xfrm>
            <a:off x="685800" y="289864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13" name="Icon: Transport home: STCP + shuttles" descr="Transport home: STCP + shuttles">
            <a:extLst>
              <a:ext uri="{FF2B5EF4-FFF2-40B4-BE49-F238E27FC236}">
                <a16:creationId xmlns:a16="http://schemas.microsoft.com/office/drawing/2014/main" id="{F18A9C65-C62B-5087-51B6-D5E3183888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" y="2980944"/>
            <a:ext cx="201168" cy="201168"/>
          </a:xfrm>
          <a:prstGeom prst="rect">
            <a:avLst/>
          </a:prstGeom>
        </p:spPr>
      </p:pic>
      <p:sp>
        <p:nvSpPr>
          <p:cNvPr id="14" name="Feature: Transport home: STCP + shuttles">
            <a:extLst>
              <a:ext uri="{FF2B5EF4-FFF2-40B4-BE49-F238E27FC236}">
                <a16:creationId xmlns:a16="http://schemas.microsoft.com/office/drawing/2014/main" id="{1AD9856A-41FA-A226-8ABB-5187CEC33D8F}"/>
              </a:ext>
            </a:extLst>
          </p:cNvPr>
          <p:cNvSpPr txBox="1"/>
          <p:nvPr/>
        </p:nvSpPr>
        <p:spPr>
          <a:xfrm>
            <a:off x="1188720" y="28620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Transport home: STCP + shuttles</a:t>
            </a:r>
            <a:endParaRPr lang="en-US" sz="1400" dirty="0"/>
          </a:p>
        </p:txBody>
      </p:sp>
      <p:sp>
        <p:nvSpPr>
          <p:cNvPr id="15" name="Icon circle: Live announcements, timestamped">
            <a:extLst>
              <a:ext uri="{FF2B5EF4-FFF2-40B4-BE49-F238E27FC236}">
                <a16:creationId xmlns:a16="http://schemas.microsoft.com/office/drawing/2014/main" id="{726BA2B8-C96F-DE14-47BB-90B8910D3A31}"/>
              </a:ext>
            </a:extLst>
          </p:cNvPr>
          <p:cNvSpPr/>
          <p:nvPr/>
        </p:nvSpPr>
        <p:spPr>
          <a:xfrm>
            <a:off x="685800" y="33924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16" name="Icon: Live announcements, timestamped" descr="Live announcements, timestamped">
            <a:extLst>
              <a:ext uri="{FF2B5EF4-FFF2-40B4-BE49-F238E27FC236}">
                <a16:creationId xmlns:a16="http://schemas.microsoft.com/office/drawing/2014/main" id="{3A55EE44-0D08-C468-66B8-68D57AC5E0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" y="3474720"/>
            <a:ext cx="201168" cy="201168"/>
          </a:xfrm>
          <a:prstGeom prst="rect">
            <a:avLst/>
          </a:prstGeom>
        </p:spPr>
      </p:pic>
      <p:sp>
        <p:nvSpPr>
          <p:cNvPr id="17" name="Feature: Live announcements, timestamped">
            <a:extLst>
              <a:ext uri="{FF2B5EF4-FFF2-40B4-BE49-F238E27FC236}">
                <a16:creationId xmlns:a16="http://schemas.microsoft.com/office/drawing/2014/main" id="{3505CB29-C56B-01C9-12CA-0E2E26DAE782}"/>
              </a:ext>
            </a:extLst>
          </p:cNvPr>
          <p:cNvSpPr txBox="1"/>
          <p:nvPr/>
        </p:nvSpPr>
        <p:spPr>
          <a:xfrm>
            <a:off x="1188720" y="3355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Live announcements, timestamped</a:t>
            </a:r>
            <a:endParaRPr lang="en-US" sz="1400" dirty="0"/>
          </a:p>
        </p:txBody>
      </p:sp>
      <p:sp>
        <p:nvSpPr>
          <p:cNvPr id="18" name="Icon circle: Report problems on the map">
            <a:extLst>
              <a:ext uri="{FF2B5EF4-FFF2-40B4-BE49-F238E27FC236}">
                <a16:creationId xmlns:a16="http://schemas.microsoft.com/office/drawing/2014/main" id="{C7B91092-C27E-CF94-A924-408977B498D8}"/>
              </a:ext>
            </a:extLst>
          </p:cNvPr>
          <p:cNvSpPr/>
          <p:nvPr/>
        </p:nvSpPr>
        <p:spPr>
          <a:xfrm>
            <a:off x="685800" y="38862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19" name="Icon: Report problems on the map" descr="Report problems on the map">
            <a:extLst>
              <a:ext uri="{FF2B5EF4-FFF2-40B4-BE49-F238E27FC236}">
                <a16:creationId xmlns:a16="http://schemas.microsoft.com/office/drawing/2014/main" id="{232F9853-5612-C1B2-E519-4E42E936D7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6" y="3968496"/>
            <a:ext cx="201168" cy="201168"/>
          </a:xfrm>
          <a:prstGeom prst="rect">
            <a:avLst/>
          </a:prstGeom>
        </p:spPr>
      </p:pic>
      <p:sp>
        <p:nvSpPr>
          <p:cNvPr id="20" name="Feature: Report problems on the map">
            <a:extLst>
              <a:ext uri="{FF2B5EF4-FFF2-40B4-BE49-F238E27FC236}">
                <a16:creationId xmlns:a16="http://schemas.microsoft.com/office/drawing/2014/main" id="{7E59D65F-623E-72B3-65CF-455F4507B1AF}"/>
              </a:ext>
            </a:extLst>
          </p:cNvPr>
          <p:cNvSpPr txBox="1"/>
          <p:nvPr/>
        </p:nvSpPr>
        <p:spPr>
          <a:xfrm>
            <a:off x="1188720" y="38496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Report problems on the map</a:t>
            </a:r>
            <a:endParaRPr lang="en-US" sz="1400" dirty="0"/>
          </a:p>
        </p:txBody>
      </p:sp>
      <p:sp>
        <p:nvSpPr>
          <p:cNvPr id="21" name="Event team backoffice card">
            <a:extLst>
              <a:ext uri="{FF2B5EF4-FFF2-40B4-BE49-F238E27FC236}">
                <a16:creationId xmlns:a16="http://schemas.microsoft.com/office/drawing/2014/main" id="{3ECC36A1-544B-1832-D948-35D137387785}"/>
              </a:ext>
            </a:extLst>
          </p:cNvPr>
          <p:cNvSpPr/>
          <p:nvPr/>
        </p:nvSpPr>
        <p:spPr>
          <a:xfrm>
            <a:off x="5257800" y="1097280"/>
            <a:ext cx="342900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22" name="Event team backoffice icon" descr="Event team backoffice icon">
            <a:extLst>
              <a:ext uri="{FF2B5EF4-FFF2-40B4-BE49-F238E27FC236}">
                <a16:creationId xmlns:a16="http://schemas.microsoft.com/office/drawing/2014/main" id="{CC716942-CD9C-08F5-6A39-7864284CF9C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0" y="1298448"/>
            <a:ext cx="365760" cy="365760"/>
          </a:xfrm>
          <a:prstGeom prst="rect">
            <a:avLst/>
          </a:prstGeom>
        </p:spPr>
      </p:pic>
      <p:sp>
        <p:nvSpPr>
          <p:cNvPr id="23" name="Event team backoffice heading">
            <a:extLst>
              <a:ext uri="{FF2B5EF4-FFF2-40B4-BE49-F238E27FC236}">
                <a16:creationId xmlns:a16="http://schemas.microsoft.com/office/drawing/2014/main" id="{D46E443A-84B8-3BA0-3B82-97D674F07E97}"/>
              </a:ext>
            </a:extLst>
          </p:cNvPr>
          <p:cNvSpPr txBox="1"/>
          <p:nvPr/>
        </p:nvSpPr>
        <p:spPr>
          <a:xfrm>
            <a:off x="5989320" y="1252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Event team backoffice</a:t>
            </a:r>
            <a:endParaRPr lang="en-US" sz="2000" dirty="0"/>
          </a:p>
        </p:txBody>
      </p:sp>
      <p:sp>
        <p:nvSpPr>
          <p:cNvPr id="24" name="Icon circle: Events, roles and response teams">
            <a:extLst>
              <a:ext uri="{FF2B5EF4-FFF2-40B4-BE49-F238E27FC236}">
                <a16:creationId xmlns:a16="http://schemas.microsoft.com/office/drawing/2014/main" id="{79F39415-F23A-452D-6348-A95E948429CB}"/>
              </a:ext>
            </a:extLst>
          </p:cNvPr>
          <p:cNvSpPr/>
          <p:nvPr/>
        </p:nvSpPr>
        <p:spPr>
          <a:xfrm>
            <a:off x="5486400" y="191109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25" name="Icon: Events, roles and response teams" descr="Events, roles and response teams">
            <a:extLst>
              <a:ext uri="{FF2B5EF4-FFF2-40B4-BE49-F238E27FC236}">
                <a16:creationId xmlns:a16="http://schemas.microsoft.com/office/drawing/2014/main" id="{DA4D5D73-F6ED-B12C-0DEE-A864B1427D0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8696" y="1993392"/>
            <a:ext cx="201168" cy="201168"/>
          </a:xfrm>
          <a:prstGeom prst="rect">
            <a:avLst/>
          </a:prstGeom>
        </p:spPr>
      </p:pic>
      <p:sp>
        <p:nvSpPr>
          <p:cNvPr id="26" name="Feature: Events, roles and response teams">
            <a:extLst>
              <a:ext uri="{FF2B5EF4-FFF2-40B4-BE49-F238E27FC236}">
                <a16:creationId xmlns:a16="http://schemas.microsoft.com/office/drawing/2014/main" id="{F15AA1DB-CA77-6702-F8B5-0341F606E47C}"/>
              </a:ext>
            </a:extLst>
          </p:cNvPr>
          <p:cNvSpPr txBox="1"/>
          <p:nvPr/>
        </p:nvSpPr>
        <p:spPr>
          <a:xfrm>
            <a:off x="5989320" y="1874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Events, roles and response teams</a:t>
            </a:r>
            <a:endParaRPr lang="en-US" sz="1400" dirty="0"/>
          </a:p>
        </p:txBody>
      </p:sp>
      <p:sp>
        <p:nvSpPr>
          <p:cNvPr id="27" name="Icon circle: Live help requests on the map">
            <a:extLst>
              <a:ext uri="{FF2B5EF4-FFF2-40B4-BE49-F238E27FC236}">
                <a16:creationId xmlns:a16="http://schemas.microsoft.com/office/drawing/2014/main" id="{78B80753-BD9B-9021-BF5D-F20A3C345158}"/>
              </a:ext>
            </a:extLst>
          </p:cNvPr>
          <p:cNvSpPr/>
          <p:nvPr/>
        </p:nvSpPr>
        <p:spPr>
          <a:xfrm>
            <a:off x="5486400" y="240487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28" name="Icon: Live help requests on the map" descr="Live help requests on the map">
            <a:extLst>
              <a:ext uri="{FF2B5EF4-FFF2-40B4-BE49-F238E27FC236}">
                <a16:creationId xmlns:a16="http://schemas.microsoft.com/office/drawing/2014/main" id="{EC87FBB3-A573-C418-F482-5B2BADC3C5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8696" y="2487168"/>
            <a:ext cx="201168" cy="201168"/>
          </a:xfrm>
          <a:prstGeom prst="rect">
            <a:avLst/>
          </a:prstGeom>
        </p:spPr>
      </p:pic>
      <p:sp>
        <p:nvSpPr>
          <p:cNvPr id="29" name="Feature: Live help requests on the map">
            <a:extLst>
              <a:ext uri="{FF2B5EF4-FFF2-40B4-BE49-F238E27FC236}">
                <a16:creationId xmlns:a16="http://schemas.microsoft.com/office/drawing/2014/main" id="{466DC8E7-3E11-6D30-C9CF-4AFC2830FF3A}"/>
              </a:ext>
            </a:extLst>
          </p:cNvPr>
          <p:cNvSpPr txBox="1"/>
          <p:nvPr/>
        </p:nvSpPr>
        <p:spPr>
          <a:xfrm>
            <a:off x="5989320" y="236829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Live help requests on the map</a:t>
            </a:r>
            <a:endParaRPr lang="en-US" sz="1400" dirty="0"/>
          </a:p>
        </p:txBody>
      </p:sp>
      <p:sp>
        <p:nvSpPr>
          <p:cNvPr id="30" name="Icon circle: Prioritise and route requests">
            <a:extLst>
              <a:ext uri="{FF2B5EF4-FFF2-40B4-BE49-F238E27FC236}">
                <a16:creationId xmlns:a16="http://schemas.microsoft.com/office/drawing/2014/main" id="{D8A6293E-FFBC-19DA-8DD2-0D404BE53158}"/>
              </a:ext>
            </a:extLst>
          </p:cNvPr>
          <p:cNvSpPr/>
          <p:nvPr/>
        </p:nvSpPr>
        <p:spPr>
          <a:xfrm>
            <a:off x="5486400" y="289864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31" name="Icon: Prioritise and route requests" descr="Prioritise and route requests">
            <a:extLst>
              <a:ext uri="{FF2B5EF4-FFF2-40B4-BE49-F238E27FC236}">
                <a16:creationId xmlns:a16="http://schemas.microsoft.com/office/drawing/2014/main" id="{C59B4DE8-FDE2-1196-534F-5945FFA04F5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696" y="2980944"/>
            <a:ext cx="201168" cy="201168"/>
          </a:xfrm>
          <a:prstGeom prst="rect">
            <a:avLst/>
          </a:prstGeom>
        </p:spPr>
      </p:pic>
      <p:sp>
        <p:nvSpPr>
          <p:cNvPr id="32" name="Feature: Prioritise and route requests">
            <a:extLst>
              <a:ext uri="{FF2B5EF4-FFF2-40B4-BE49-F238E27FC236}">
                <a16:creationId xmlns:a16="http://schemas.microsoft.com/office/drawing/2014/main" id="{19803EBF-3229-9B47-23ED-685D8D842267}"/>
              </a:ext>
            </a:extLst>
          </p:cNvPr>
          <p:cNvSpPr txBox="1"/>
          <p:nvPr/>
        </p:nvSpPr>
        <p:spPr>
          <a:xfrm>
            <a:off x="5989320" y="28620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Prioritise and route requests</a:t>
            </a:r>
            <a:endParaRPr lang="en-US" sz="1400" dirty="0"/>
          </a:p>
        </p:txBody>
      </p:sp>
      <p:sp>
        <p:nvSpPr>
          <p:cNvPr id="33" name="Icon circle: Confirm or reject reports">
            <a:extLst>
              <a:ext uri="{FF2B5EF4-FFF2-40B4-BE49-F238E27FC236}">
                <a16:creationId xmlns:a16="http://schemas.microsoft.com/office/drawing/2014/main" id="{59CA602D-EF63-ACD2-18CC-B5C0DB9B7240}"/>
              </a:ext>
            </a:extLst>
          </p:cNvPr>
          <p:cNvSpPr/>
          <p:nvPr/>
        </p:nvSpPr>
        <p:spPr>
          <a:xfrm>
            <a:off x="5486400" y="33924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34" name="Icon: Confirm or reject reports" descr="Confirm or reject reports">
            <a:extLst>
              <a:ext uri="{FF2B5EF4-FFF2-40B4-BE49-F238E27FC236}">
                <a16:creationId xmlns:a16="http://schemas.microsoft.com/office/drawing/2014/main" id="{53158A36-6B6D-40BD-C0D2-B7916F2E039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68696" y="3474720"/>
            <a:ext cx="201168" cy="201168"/>
          </a:xfrm>
          <a:prstGeom prst="rect">
            <a:avLst/>
          </a:prstGeom>
        </p:spPr>
      </p:pic>
      <p:sp>
        <p:nvSpPr>
          <p:cNvPr id="35" name="Feature: Confirm or reject reports">
            <a:extLst>
              <a:ext uri="{FF2B5EF4-FFF2-40B4-BE49-F238E27FC236}">
                <a16:creationId xmlns:a16="http://schemas.microsoft.com/office/drawing/2014/main" id="{BA928239-58AC-0351-1EA2-3E165CEE1EAE}"/>
              </a:ext>
            </a:extLst>
          </p:cNvPr>
          <p:cNvSpPr txBox="1"/>
          <p:nvPr/>
        </p:nvSpPr>
        <p:spPr>
          <a:xfrm>
            <a:off x="5989320" y="3355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Confirm or reject reports</a:t>
            </a:r>
            <a:endParaRPr lang="en-US" sz="1400" dirty="0"/>
          </a:p>
        </p:txBody>
      </p:sp>
      <p:sp>
        <p:nvSpPr>
          <p:cNvPr id="36" name="Icon circle: Publish news and shuttles">
            <a:extLst>
              <a:ext uri="{FF2B5EF4-FFF2-40B4-BE49-F238E27FC236}">
                <a16:creationId xmlns:a16="http://schemas.microsoft.com/office/drawing/2014/main" id="{CE65D385-A0E1-2F37-275B-7A97EF124621}"/>
              </a:ext>
            </a:extLst>
          </p:cNvPr>
          <p:cNvSpPr/>
          <p:nvPr/>
        </p:nvSpPr>
        <p:spPr>
          <a:xfrm>
            <a:off x="5486400" y="38862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37" name="Icon: Publish news and shuttles" descr="Publish news and shuttles">
            <a:extLst>
              <a:ext uri="{FF2B5EF4-FFF2-40B4-BE49-F238E27FC236}">
                <a16:creationId xmlns:a16="http://schemas.microsoft.com/office/drawing/2014/main" id="{9CB8FE01-3366-6AAE-7334-5B2EE447F8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8696" y="3968496"/>
            <a:ext cx="201168" cy="201168"/>
          </a:xfrm>
          <a:prstGeom prst="rect">
            <a:avLst/>
          </a:prstGeom>
        </p:spPr>
      </p:pic>
      <p:sp>
        <p:nvSpPr>
          <p:cNvPr id="38" name="Feature: Publish news and shuttles">
            <a:extLst>
              <a:ext uri="{FF2B5EF4-FFF2-40B4-BE49-F238E27FC236}">
                <a16:creationId xmlns:a16="http://schemas.microsoft.com/office/drawing/2014/main" id="{9FD58A0E-2376-CC7D-AA14-C14B13F41359}"/>
              </a:ext>
            </a:extLst>
          </p:cNvPr>
          <p:cNvSpPr txBox="1"/>
          <p:nvPr/>
        </p:nvSpPr>
        <p:spPr>
          <a:xfrm>
            <a:off x="5989320" y="38496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Publish news and shuttles</a:t>
            </a:r>
            <a:endParaRPr lang="en-US" sz="1400" dirty="0"/>
          </a:p>
        </p:txBody>
      </p:sp>
      <p:sp>
        <p:nvSpPr>
          <p:cNvPr id="39" name="Shared map circle">
            <a:extLst>
              <a:ext uri="{FF2B5EF4-FFF2-40B4-BE49-F238E27FC236}">
                <a16:creationId xmlns:a16="http://schemas.microsoft.com/office/drawing/2014/main" id="{104A85D9-6A6E-BB02-47F6-9AF30317724C}"/>
              </a:ext>
            </a:extLst>
          </p:cNvPr>
          <p:cNvSpPr/>
          <p:nvPr/>
        </p:nvSpPr>
        <p:spPr>
          <a:xfrm>
            <a:off x="4114800" y="21488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40" name="Shared map icon" descr="Lighthouse icon">
            <a:extLst>
              <a:ext uri="{FF2B5EF4-FFF2-40B4-BE49-F238E27FC236}">
                <a16:creationId xmlns:a16="http://schemas.microsoft.com/office/drawing/2014/main" id="{385FB70A-3DC0-75E8-4AC7-A108983286E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43400" y="2377440"/>
            <a:ext cx="457200" cy="457200"/>
          </a:xfrm>
          <a:prstGeom prst="rect">
            <a:avLst/>
          </a:prstGeom>
        </p:spPr>
      </p:pic>
      <p:sp>
        <p:nvSpPr>
          <p:cNvPr id="41" name="Shared map label">
            <a:extLst>
              <a:ext uri="{FF2B5EF4-FFF2-40B4-BE49-F238E27FC236}">
                <a16:creationId xmlns:a16="http://schemas.microsoft.com/office/drawing/2014/main" id="{DC51133D-BF4C-AAFE-EFC3-9E17FCE7C2D8}"/>
              </a:ext>
            </a:extLst>
          </p:cNvPr>
          <p:cNvSpPr txBox="1"/>
          <p:nvPr/>
        </p:nvSpPr>
        <p:spPr>
          <a:xfrm>
            <a:off x="3931920" y="31546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Same map, same data, live</a:t>
            </a:r>
            <a:endParaRPr lang="en-US" sz="1200" dirty="0"/>
          </a:p>
        </p:txBody>
      </p:sp>
      <p:sp>
        <p:nvSpPr>
          <p:cNvPr id="42" name="Link left">
            <a:extLst>
              <a:ext uri="{FF2B5EF4-FFF2-40B4-BE49-F238E27FC236}">
                <a16:creationId xmlns:a16="http://schemas.microsoft.com/office/drawing/2014/main" id="{83DF3792-B3E8-7AF3-4879-EB228DFC6C5B}"/>
              </a:ext>
            </a:extLst>
          </p:cNvPr>
          <p:cNvSpPr/>
          <p:nvPr/>
        </p:nvSpPr>
        <p:spPr>
          <a:xfrm>
            <a:off x="3886200" y="2606040"/>
            <a:ext cx="2286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PT"/>
          </a:p>
        </p:txBody>
      </p:sp>
      <p:sp>
        <p:nvSpPr>
          <p:cNvPr id="43" name="Link right">
            <a:extLst>
              <a:ext uri="{FF2B5EF4-FFF2-40B4-BE49-F238E27FC236}">
                <a16:creationId xmlns:a16="http://schemas.microsoft.com/office/drawing/2014/main" id="{B9183FCC-33AD-7BCE-89EC-56A8301AF59B}"/>
              </a:ext>
            </a:extLst>
          </p:cNvPr>
          <p:cNvSpPr/>
          <p:nvPr/>
        </p:nvSpPr>
        <p:spPr>
          <a:xfrm>
            <a:off x="5029200" y="2606040"/>
            <a:ext cx="2286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PT"/>
          </a:p>
        </p:txBody>
      </p:sp>
      <p:sp>
        <p:nvSpPr>
          <p:cNvPr id="44" name="Footnote">
            <a:extLst>
              <a:ext uri="{FF2B5EF4-FFF2-40B4-BE49-F238E27FC236}">
                <a16:creationId xmlns:a16="http://schemas.microsoft.com/office/drawing/2014/main" id="{263AE49C-A139-3FBA-8339-26F38018AED2}"/>
              </a:ext>
            </a:extLst>
          </p:cNvPr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Login for everyone · per-event permissions · MVP priority: help requests → venue map → transport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57484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DCA21-20D9-7693-1D91-1934315F8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2887F39-00CA-FB00-1204-806DAB8D7D3F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Smart, fair and connected</a:t>
            </a:r>
            <a:endParaRPr lang="en-US" sz="3200" dirty="0"/>
          </a:p>
        </p:txBody>
      </p:sp>
      <p:sp>
        <p:nvSpPr>
          <p:cNvPr id="3" name="AI triage card">
            <a:extLst>
              <a:ext uri="{FF2B5EF4-FFF2-40B4-BE49-F238E27FC236}">
                <a16:creationId xmlns:a16="http://schemas.microsoft.com/office/drawing/2014/main" id="{34D7E44A-5AD3-585C-166B-DAD8AF746BDF}"/>
              </a:ext>
            </a:extLst>
          </p:cNvPr>
          <p:cNvSpPr/>
          <p:nvPr/>
        </p:nvSpPr>
        <p:spPr>
          <a:xfrm>
            <a:off x="45720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4" name="AI triage icon circle">
            <a:extLst>
              <a:ext uri="{FF2B5EF4-FFF2-40B4-BE49-F238E27FC236}">
                <a16:creationId xmlns:a16="http://schemas.microsoft.com/office/drawing/2014/main" id="{927B8D0E-83CB-D858-54EB-B91EF9AC1F50}"/>
              </a:ext>
            </a:extLst>
          </p:cNvPr>
          <p:cNvSpPr/>
          <p:nvPr/>
        </p:nvSpPr>
        <p:spPr>
          <a:xfrm>
            <a:off x="68580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5" name="AI triage icon" descr="AI triage icon">
            <a:extLst>
              <a:ext uri="{FF2B5EF4-FFF2-40B4-BE49-F238E27FC236}">
                <a16:creationId xmlns:a16="http://schemas.microsoft.com/office/drawing/2014/main" id="{8F10D083-76B7-2A0E-039B-812737483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362456"/>
            <a:ext cx="237744" cy="237744"/>
          </a:xfrm>
          <a:prstGeom prst="rect">
            <a:avLst/>
          </a:prstGeom>
        </p:spPr>
      </p:pic>
      <p:sp>
        <p:nvSpPr>
          <p:cNvPr id="6" name="AI triage heading">
            <a:extLst>
              <a:ext uri="{FF2B5EF4-FFF2-40B4-BE49-F238E27FC236}">
                <a16:creationId xmlns:a16="http://schemas.microsoft.com/office/drawing/2014/main" id="{AAC2EA36-4B76-7A9D-07A9-3BC51129FA90}"/>
              </a:ext>
            </a:extLst>
          </p:cNvPr>
          <p:cNvSpPr txBox="1"/>
          <p:nvPr/>
        </p:nvSpPr>
        <p:spPr>
          <a:xfrm>
            <a:off x="128016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triage</a:t>
            </a:r>
            <a:endParaRPr lang="en-US" sz="1800" dirty="0"/>
          </a:p>
        </p:txBody>
      </p:sp>
      <p:sp>
        <p:nvSpPr>
          <p:cNvPr id="7" name="AI triage text">
            <a:extLst>
              <a:ext uri="{FF2B5EF4-FFF2-40B4-BE49-F238E27FC236}">
                <a16:creationId xmlns:a16="http://schemas.microsoft.com/office/drawing/2014/main" id="{37CBB0CA-BAFC-FAE7-346F-1287F80A07DF}"/>
              </a:ext>
            </a:extLst>
          </p:cNvPr>
          <p:cNvSpPr txBox="1"/>
          <p:nvPr/>
        </p:nvSpPr>
        <p:spPr>
          <a:xfrm>
            <a:off x="68580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Suggests category, priority and response team in under 30 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operator always decides; AI never lowers a priority</a:t>
            </a:r>
            <a:endParaRPr lang="en-US" sz="1400" dirty="0"/>
          </a:p>
        </p:txBody>
      </p:sp>
      <p:sp>
        <p:nvSpPr>
          <p:cNvPr id="8" name="Map reports card">
            <a:extLst>
              <a:ext uri="{FF2B5EF4-FFF2-40B4-BE49-F238E27FC236}">
                <a16:creationId xmlns:a16="http://schemas.microsoft.com/office/drawing/2014/main" id="{4B5FBCB1-85AB-1A2E-B250-96D2255029B3}"/>
              </a:ext>
            </a:extLst>
          </p:cNvPr>
          <p:cNvSpPr/>
          <p:nvPr/>
        </p:nvSpPr>
        <p:spPr>
          <a:xfrm>
            <a:off x="329184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9" name="Map reports icon circle">
            <a:extLst>
              <a:ext uri="{FF2B5EF4-FFF2-40B4-BE49-F238E27FC236}">
                <a16:creationId xmlns:a16="http://schemas.microsoft.com/office/drawing/2014/main" id="{98DFCB89-6126-81DA-6713-3B34F61DEE85}"/>
              </a:ext>
            </a:extLst>
          </p:cNvPr>
          <p:cNvSpPr/>
          <p:nvPr/>
        </p:nvSpPr>
        <p:spPr>
          <a:xfrm>
            <a:off x="352044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10" name="Map reports icon" descr="Map reports icon">
            <a:extLst>
              <a:ext uri="{FF2B5EF4-FFF2-40B4-BE49-F238E27FC236}">
                <a16:creationId xmlns:a16="http://schemas.microsoft.com/office/drawing/2014/main" id="{0EE14518-2B1B-ACBE-49F2-6A9C61102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362456"/>
            <a:ext cx="237744" cy="237744"/>
          </a:xfrm>
          <a:prstGeom prst="rect">
            <a:avLst/>
          </a:prstGeom>
        </p:spPr>
      </p:pic>
      <p:sp>
        <p:nvSpPr>
          <p:cNvPr id="11" name="Map reports heading">
            <a:extLst>
              <a:ext uri="{FF2B5EF4-FFF2-40B4-BE49-F238E27FC236}">
                <a16:creationId xmlns:a16="http://schemas.microsoft.com/office/drawing/2014/main" id="{FA32653E-5177-E5EE-6F00-232F6444AB1B}"/>
              </a:ext>
            </a:extLst>
          </p:cNvPr>
          <p:cNvSpPr txBox="1"/>
          <p:nvPr/>
        </p:nvSpPr>
        <p:spPr>
          <a:xfrm>
            <a:off x="411480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reports</a:t>
            </a:r>
            <a:endParaRPr lang="en-US" sz="1800" dirty="0"/>
          </a:p>
        </p:txBody>
      </p:sp>
      <p:sp>
        <p:nvSpPr>
          <p:cNvPr id="12" name="Map reports text">
            <a:extLst>
              <a:ext uri="{FF2B5EF4-FFF2-40B4-BE49-F238E27FC236}">
                <a16:creationId xmlns:a16="http://schemas.microsoft.com/office/drawing/2014/main" id="{57C5B1D0-E767-A7A5-E63A-4B8D53B3C61B}"/>
              </a:ext>
            </a:extLst>
          </p:cNvPr>
          <p:cNvSpPr txBox="1"/>
          <p:nvPr/>
        </p:nvSpPr>
        <p:spPr>
          <a:xfrm>
            <a:off x="352044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Waze-style: queues, broken WC, hazards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Only the responsible team confirms a report</a:t>
            </a:r>
            <a:endParaRPr lang="en-US" sz="1400" dirty="0"/>
          </a:p>
        </p:txBody>
      </p:sp>
      <p:sp>
        <p:nvSpPr>
          <p:cNvPr id="13" name="Live transport card">
            <a:extLst>
              <a:ext uri="{FF2B5EF4-FFF2-40B4-BE49-F238E27FC236}">
                <a16:creationId xmlns:a16="http://schemas.microsoft.com/office/drawing/2014/main" id="{CBE8143F-29CA-F38B-959D-2F8FEBBBB9D2}"/>
              </a:ext>
            </a:extLst>
          </p:cNvPr>
          <p:cNvSpPr/>
          <p:nvPr/>
        </p:nvSpPr>
        <p:spPr>
          <a:xfrm>
            <a:off x="612648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14" name="Live transport icon circle">
            <a:extLst>
              <a:ext uri="{FF2B5EF4-FFF2-40B4-BE49-F238E27FC236}">
                <a16:creationId xmlns:a16="http://schemas.microsoft.com/office/drawing/2014/main" id="{F765DCCE-B9A5-323B-074B-5306C8E16824}"/>
              </a:ext>
            </a:extLst>
          </p:cNvPr>
          <p:cNvSpPr/>
          <p:nvPr/>
        </p:nvSpPr>
        <p:spPr>
          <a:xfrm>
            <a:off x="635508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15" name="Live transport icon" descr="Live transport icon">
            <a:extLst>
              <a:ext uri="{FF2B5EF4-FFF2-40B4-BE49-F238E27FC236}">
                <a16:creationId xmlns:a16="http://schemas.microsoft.com/office/drawing/2014/main" id="{0BA6613C-B9C8-518A-1544-A9983016D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1362456"/>
            <a:ext cx="237744" cy="237744"/>
          </a:xfrm>
          <a:prstGeom prst="rect">
            <a:avLst/>
          </a:prstGeom>
        </p:spPr>
      </p:pic>
      <p:sp>
        <p:nvSpPr>
          <p:cNvPr id="16" name="Live transport heading">
            <a:extLst>
              <a:ext uri="{FF2B5EF4-FFF2-40B4-BE49-F238E27FC236}">
                <a16:creationId xmlns:a16="http://schemas.microsoft.com/office/drawing/2014/main" id="{46D93D15-3569-8083-52E4-532F3AA0B9C4}"/>
              </a:ext>
            </a:extLst>
          </p:cNvPr>
          <p:cNvSpPr txBox="1"/>
          <p:nvPr/>
        </p:nvSpPr>
        <p:spPr>
          <a:xfrm>
            <a:off x="694944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Live transport</a:t>
            </a:r>
            <a:endParaRPr lang="en-US" sz="1800" dirty="0"/>
          </a:p>
        </p:txBody>
      </p:sp>
      <p:sp>
        <p:nvSpPr>
          <p:cNvPr id="17" name="Live transport text">
            <a:extLst>
              <a:ext uri="{FF2B5EF4-FFF2-40B4-BE49-F238E27FC236}">
                <a16:creationId xmlns:a16="http://schemas.microsoft.com/office/drawing/2014/main" id="{D133676F-3367-3A0D-CB6C-37F137FFF4F8}"/>
              </a:ext>
            </a:extLst>
          </p:cNvPr>
          <p:cNvSpPr txBox="1"/>
          <p:nvPr/>
        </p:nvSpPr>
        <p:spPr>
          <a:xfrm>
            <a:off x="635508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Regular STCP lines from the public GTFS feed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Plus event shuttles set by the team</a:t>
            </a:r>
            <a:endParaRPr lang="en-US" sz="1400" dirty="0"/>
          </a:p>
        </p:txBody>
      </p:sp>
      <p:sp>
        <p:nvSpPr>
          <p:cNvPr id="18" name="Badges band">
            <a:extLst>
              <a:ext uri="{FF2B5EF4-FFF2-40B4-BE49-F238E27FC236}">
                <a16:creationId xmlns:a16="http://schemas.microsoft.com/office/drawing/2014/main" id="{E042D054-DF0A-1A88-CC5F-CA3D6E683D99}"/>
              </a:ext>
            </a:extLst>
          </p:cNvPr>
          <p:cNvSpPr/>
          <p:nvPr/>
        </p:nvSpPr>
        <p:spPr>
          <a:xfrm>
            <a:off x="457200" y="3520440"/>
            <a:ext cx="822960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PT"/>
          </a:p>
        </p:txBody>
      </p:sp>
      <p:pic>
        <p:nvPicPr>
          <p:cNvPr id="19" name="Badges icon" descr="Medal icon">
            <a:extLst>
              <a:ext uri="{FF2B5EF4-FFF2-40B4-BE49-F238E27FC236}">
                <a16:creationId xmlns:a16="http://schemas.microsoft.com/office/drawing/2014/main" id="{1AB4DED0-89A1-4E8A-AE77-8F43DBA4F4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721608"/>
            <a:ext cx="365760" cy="365760"/>
          </a:xfrm>
          <a:prstGeom prst="rect">
            <a:avLst/>
          </a:prstGeom>
        </p:spPr>
      </p:pic>
      <p:sp>
        <p:nvSpPr>
          <p:cNvPr id="20" name="Badges heading">
            <a:extLst>
              <a:ext uri="{FF2B5EF4-FFF2-40B4-BE49-F238E27FC236}">
                <a16:creationId xmlns:a16="http://schemas.microsoft.com/office/drawing/2014/main" id="{13C1071B-EC5D-2972-EDA6-F7820CC03C9D}"/>
              </a:ext>
            </a:extLst>
          </p:cNvPr>
          <p:cNvSpPr txBox="1"/>
          <p:nvPr/>
        </p:nvSpPr>
        <p:spPr>
          <a:xfrm>
            <a:off x="1188720" y="3675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Badges</a:t>
            </a:r>
            <a:endParaRPr lang="en-US" sz="1800" dirty="0"/>
          </a:p>
        </p:txBody>
      </p:sp>
      <p:sp>
        <p:nvSpPr>
          <p:cNvPr id="21" name="Badge tracks">
            <a:extLst>
              <a:ext uri="{FF2B5EF4-FFF2-40B4-BE49-F238E27FC236}">
                <a16:creationId xmlns:a16="http://schemas.microsoft.com/office/drawing/2014/main" id="{8F8B8B37-D861-D1EF-5315-5AAF5DF53D91}"/>
              </a:ext>
            </a:extLst>
          </p:cNvPr>
          <p:cNvSpPr txBox="1"/>
          <p:nvPr/>
        </p:nvSpPr>
        <p:spPr>
          <a:xfrm>
            <a:off x="685800" y="41788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Events attended · confirmed reports · reports per event. Private, no leaderboard, never for help requests</a:t>
            </a:r>
            <a:endParaRPr lang="en-US" sz="1100" dirty="0"/>
          </a:p>
        </p:txBody>
      </p:sp>
      <p:sp>
        <p:nvSpPr>
          <p:cNvPr id="22" name="Wood medal">
            <a:extLst>
              <a:ext uri="{FF2B5EF4-FFF2-40B4-BE49-F238E27FC236}">
                <a16:creationId xmlns:a16="http://schemas.microsoft.com/office/drawing/2014/main" id="{88918B6A-CED9-9810-797A-07B30C342A47}"/>
              </a:ext>
            </a:extLst>
          </p:cNvPr>
          <p:cNvSpPr/>
          <p:nvPr/>
        </p:nvSpPr>
        <p:spPr>
          <a:xfrm>
            <a:off x="3488436" y="3703320"/>
            <a:ext cx="411480" cy="411480"/>
          </a:xfrm>
          <a:prstGeom prst="ellipse">
            <a:avLst/>
          </a:prstGeom>
          <a:solidFill>
            <a:srgbClr val="8B5A2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T"/>
          </a:p>
        </p:txBody>
      </p:sp>
      <p:sp>
        <p:nvSpPr>
          <p:cNvPr id="23" name="Wood tier label">
            <a:extLst>
              <a:ext uri="{FF2B5EF4-FFF2-40B4-BE49-F238E27FC236}">
                <a16:creationId xmlns:a16="http://schemas.microsoft.com/office/drawing/2014/main" id="{867AFDAD-2F83-BC0F-EB8C-F4711917C2F6}"/>
              </a:ext>
            </a:extLst>
          </p:cNvPr>
          <p:cNvSpPr txBox="1"/>
          <p:nvPr/>
        </p:nvSpPr>
        <p:spPr>
          <a:xfrm>
            <a:off x="3291840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Wood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1–2</a:t>
            </a:r>
            <a:endParaRPr lang="en-US" sz="1200" dirty="0"/>
          </a:p>
        </p:txBody>
      </p:sp>
      <p:sp>
        <p:nvSpPr>
          <p:cNvPr id="24" name="Bronze medal">
            <a:extLst>
              <a:ext uri="{FF2B5EF4-FFF2-40B4-BE49-F238E27FC236}">
                <a16:creationId xmlns:a16="http://schemas.microsoft.com/office/drawing/2014/main" id="{E3687722-81D3-5C9B-03C3-8F99D5ACC5DA}"/>
              </a:ext>
            </a:extLst>
          </p:cNvPr>
          <p:cNvSpPr/>
          <p:nvPr/>
        </p:nvSpPr>
        <p:spPr>
          <a:xfrm>
            <a:off x="4366260" y="3703320"/>
            <a:ext cx="411480" cy="411480"/>
          </a:xfrm>
          <a:prstGeom prst="ellipse">
            <a:avLst/>
          </a:prstGeom>
          <a:solidFill>
            <a:srgbClr val="CD7F3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T"/>
          </a:p>
        </p:txBody>
      </p:sp>
      <p:sp>
        <p:nvSpPr>
          <p:cNvPr id="25" name="Bronze tier label">
            <a:extLst>
              <a:ext uri="{FF2B5EF4-FFF2-40B4-BE49-F238E27FC236}">
                <a16:creationId xmlns:a16="http://schemas.microsoft.com/office/drawing/2014/main" id="{3A9FEEC6-3E66-FAC0-CFF5-681318624CB3}"/>
              </a:ext>
            </a:extLst>
          </p:cNvPr>
          <p:cNvSpPr txBox="1"/>
          <p:nvPr/>
        </p:nvSpPr>
        <p:spPr>
          <a:xfrm>
            <a:off x="4169664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Bronze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3–9</a:t>
            </a:r>
            <a:endParaRPr lang="en-US" sz="1200" dirty="0"/>
          </a:p>
        </p:txBody>
      </p:sp>
      <p:sp>
        <p:nvSpPr>
          <p:cNvPr id="26" name="Silver medal">
            <a:extLst>
              <a:ext uri="{FF2B5EF4-FFF2-40B4-BE49-F238E27FC236}">
                <a16:creationId xmlns:a16="http://schemas.microsoft.com/office/drawing/2014/main" id="{EC7691C6-B670-B8BB-3A20-C1E3EB3C3503}"/>
              </a:ext>
            </a:extLst>
          </p:cNvPr>
          <p:cNvSpPr/>
          <p:nvPr/>
        </p:nvSpPr>
        <p:spPr>
          <a:xfrm>
            <a:off x="5244084" y="3703320"/>
            <a:ext cx="411480" cy="411480"/>
          </a:xfrm>
          <a:prstGeom prst="ellipse">
            <a:avLst/>
          </a:prstGeom>
          <a:solidFill>
            <a:srgbClr val="A8B0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T"/>
          </a:p>
        </p:txBody>
      </p:sp>
      <p:sp>
        <p:nvSpPr>
          <p:cNvPr id="27" name="Silver tier label">
            <a:extLst>
              <a:ext uri="{FF2B5EF4-FFF2-40B4-BE49-F238E27FC236}">
                <a16:creationId xmlns:a16="http://schemas.microsoft.com/office/drawing/2014/main" id="{A71C2CCA-B3FB-F00D-68FD-A10FD7FEA71E}"/>
              </a:ext>
            </a:extLst>
          </p:cNvPr>
          <p:cNvSpPr txBox="1"/>
          <p:nvPr/>
        </p:nvSpPr>
        <p:spPr>
          <a:xfrm>
            <a:off x="5047488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Silver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10–49</a:t>
            </a:r>
            <a:endParaRPr lang="en-US" sz="1200" dirty="0"/>
          </a:p>
        </p:txBody>
      </p:sp>
      <p:sp>
        <p:nvSpPr>
          <p:cNvPr id="28" name="Gold medal">
            <a:extLst>
              <a:ext uri="{FF2B5EF4-FFF2-40B4-BE49-F238E27FC236}">
                <a16:creationId xmlns:a16="http://schemas.microsoft.com/office/drawing/2014/main" id="{D3D9B457-F15F-F2FE-A452-0DB890DCEC3B}"/>
              </a:ext>
            </a:extLst>
          </p:cNvPr>
          <p:cNvSpPr/>
          <p:nvPr/>
        </p:nvSpPr>
        <p:spPr>
          <a:xfrm>
            <a:off x="6121908" y="3703320"/>
            <a:ext cx="411480" cy="41148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T"/>
          </a:p>
        </p:txBody>
      </p:sp>
      <p:sp>
        <p:nvSpPr>
          <p:cNvPr id="29" name="Gold tier label">
            <a:extLst>
              <a:ext uri="{FF2B5EF4-FFF2-40B4-BE49-F238E27FC236}">
                <a16:creationId xmlns:a16="http://schemas.microsoft.com/office/drawing/2014/main" id="{931236C4-5D93-4A45-9667-9D7B7286FA16}"/>
              </a:ext>
            </a:extLst>
          </p:cNvPr>
          <p:cNvSpPr txBox="1"/>
          <p:nvPr/>
        </p:nvSpPr>
        <p:spPr>
          <a:xfrm>
            <a:off x="5925312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Gold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50–99</a:t>
            </a:r>
            <a:endParaRPr lang="en-US" sz="1200" dirty="0"/>
          </a:p>
        </p:txBody>
      </p:sp>
      <p:sp>
        <p:nvSpPr>
          <p:cNvPr id="30" name="Platinum medal">
            <a:extLst>
              <a:ext uri="{FF2B5EF4-FFF2-40B4-BE49-F238E27FC236}">
                <a16:creationId xmlns:a16="http://schemas.microsoft.com/office/drawing/2014/main" id="{E3D931B3-9464-E5A8-254D-C49799D83683}"/>
              </a:ext>
            </a:extLst>
          </p:cNvPr>
          <p:cNvSpPr/>
          <p:nvPr/>
        </p:nvSpPr>
        <p:spPr>
          <a:xfrm>
            <a:off x="6999732" y="3703320"/>
            <a:ext cx="411480" cy="411480"/>
          </a:xfrm>
          <a:prstGeom prst="ellipse">
            <a:avLst/>
          </a:prstGeom>
          <a:solidFill>
            <a:srgbClr val="8FA9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T"/>
          </a:p>
        </p:txBody>
      </p:sp>
      <p:sp>
        <p:nvSpPr>
          <p:cNvPr id="31" name="Platinum tier label">
            <a:extLst>
              <a:ext uri="{FF2B5EF4-FFF2-40B4-BE49-F238E27FC236}">
                <a16:creationId xmlns:a16="http://schemas.microsoft.com/office/drawing/2014/main" id="{393B74C6-D9F4-C9F2-B7C1-60B0CA9B0A96}"/>
              </a:ext>
            </a:extLst>
          </p:cNvPr>
          <p:cNvSpPr txBox="1"/>
          <p:nvPr/>
        </p:nvSpPr>
        <p:spPr>
          <a:xfrm>
            <a:off x="6803136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Platinum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100–499</a:t>
            </a:r>
            <a:endParaRPr lang="en-US" sz="1200" dirty="0"/>
          </a:p>
        </p:txBody>
      </p:sp>
      <p:sp>
        <p:nvSpPr>
          <p:cNvPr id="32" name="Diamond medal">
            <a:extLst>
              <a:ext uri="{FF2B5EF4-FFF2-40B4-BE49-F238E27FC236}">
                <a16:creationId xmlns:a16="http://schemas.microsoft.com/office/drawing/2014/main" id="{273BD318-C386-1772-6433-A9997F00077B}"/>
              </a:ext>
            </a:extLst>
          </p:cNvPr>
          <p:cNvSpPr/>
          <p:nvPr/>
        </p:nvSpPr>
        <p:spPr>
          <a:xfrm>
            <a:off x="7877556" y="3703320"/>
            <a:ext cx="411480" cy="411480"/>
          </a:xfrm>
          <a:prstGeom prst="ellipse">
            <a:avLst/>
          </a:prstGeom>
          <a:solidFill>
            <a:srgbClr val="4FC3F7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T"/>
          </a:p>
        </p:txBody>
      </p:sp>
      <p:sp>
        <p:nvSpPr>
          <p:cNvPr id="33" name="Diamond tier label">
            <a:extLst>
              <a:ext uri="{FF2B5EF4-FFF2-40B4-BE49-F238E27FC236}">
                <a16:creationId xmlns:a16="http://schemas.microsoft.com/office/drawing/2014/main" id="{318AAD3A-35FA-21FA-C7B0-B1171F36CD4B}"/>
              </a:ext>
            </a:extLst>
          </p:cNvPr>
          <p:cNvSpPr txBox="1"/>
          <p:nvPr/>
        </p:nvSpPr>
        <p:spPr>
          <a:xfrm>
            <a:off x="7680960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Diamond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500+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17832023"/>
      </p:ext>
    </p:extLst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1344</Words>
  <Application>Microsoft Macintosh PowerPoint</Application>
  <PresentationFormat>On-screen Show (16:9)</PresentationFormat>
  <Paragraphs>118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Farol</vt:lpstr>
      <vt:lpstr>PowerPoint Presentation</vt:lpstr>
      <vt:lpstr>Product vision</vt:lpstr>
      <vt:lpstr>Who we design for</vt:lpstr>
      <vt:lpstr>One map, two sides</vt:lpstr>
      <vt:lpstr>Smart, fair and connected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Main features</dc:title>
  <dc:subject>PptxGenJS Presentation</dc:subject>
  <dc:creator>Bruno Lopes</dc:creator>
  <cp:lastModifiedBy>Tomás Afonso Soares De Oliveira</cp:lastModifiedBy>
  <cp:revision>4</cp:revision>
  <dcterms:created xsi:type="dcterms:W3CDTF">2026-10-09T11:01:38Z</dcterms:created>
  <dcterms:modified xsi:type="dcterms:W3CDTF">2026-10-11T15:13:46Z</dcterms:modified>
</cp:coreProperties>
</file>