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10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(Bruno Lopes)" id="{3c1f5a2e-6d4b-4e8a-9b71-2f0c8d9e4a10}">
          <p14:sldIdLst>
            <p14:sldId id="256"/>
          </p14:sldIdLst>
        </p14:section>
        <p14:section name="Personas (Tiago Teixeira)" id="{7a9e2b44-1c3d-4f6a-8e25-5b0d7c1f9e32}">
          <p14:sldIdLst>
            <p14:sldId id="259"/>
          </p14:sldIdLst>
        </p14:section>
        <p14:section name="Main features (Bruno Lopes)" id="{b2ef1337-627e-81ae-c510-0d08fb5c3d36}">
          <p14:sldIdLst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(~10 s) O nosso produto chama-se Farol: tal como um farol, orienta as pessoas no caminho para casa e mostra onde está a ajuda. A equipa: Bruno Lopes, Tiago Teixeira, Tomás Oliveira e Antônio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(~55 s) O Farol tem dois lados, ligados pela planta do recinto. O participante, depois de fazer login, vê a planta com entradas, casas de banho, primeiros socorros e paragens. O mais importante é o Pedir ajuda: primeiro aparece o Ligar 112; se não for uma emergência, escolhe uma categoria e marca na planta onde está. Vê também como voltar para casa, com as linhas da STCP e os shuttles do evento, recebe avisos em tempo real e pode reportar problemas na planta. Do lado da equipa, a organização cria o evento e gere os papéis e as equipas de resposta: médica, segurança, PCR e logística. Durante a noite, os operadores veem os pedidos chegar em tempo real, na lista e na planta, priorizam, encaminham para a equipa certa e confirmam os reports. Cada organização só vê os dados do seu evento.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Três coisas fazem do Farol mais do que uma planta. Primeiro, a triagem com IA: quando chega um pedido, a IA sugere categoria, prioridade e equipa de resposta em menos de 30 segundos. Quem decide é sempre o operador, e a IA nunca baixa uma prioridade. Segundo, os reports na planta, ao estilo do Waze: filas, casas de banho avariadas, perigos. Só a equipa responsável os confirma, por isso reports falsos não contam. Os reports confirmados e a presença nos eventos dão badges, de Madeira até Diamante. São privados, sem ranking, e nunca há badges por pedidos de ajuda: emergências não são um jogo. Terceiro, a integração externa: as linhas da STCP vêm do feed público GTFS, junto com os shuttles da organização, para os estudantes voltarem para casa em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(~70 s) Desenhámos o Farol para quatro pessoas. O relatório tem dois grupos de utilizadores, os participantes e a equipa do evento, mas dentro da equipa há dois trabalhos diferentes: quem configura o evento e quem trata os pedidos de ajuda durante a noite. A Rita é estudante: está no recinto à noite, com pouca bateria e muito barulho, e quer encontrar a casa de banho, os primeiros socorros e o caminho para casa. Hoje a informação fica desatualizada e a planta é uma imagem nas redes sociais. Para ela, sucesso é pedir ajuda para uma amiga em menos de 30 segundos. O Miguel é voluntário da PCR: recebe muitos pedidos ao mesmo tempo, por rádio e telefone, sem localização nem prioridade. Precisa de ver cada pedido em segundos, já com a triagem da IA. A Sofia é da organização: configura o evento e publica alterações durante as noites, mas só gere o seu evento. Como o Farol tem vários festivais, a Queima do Porto, de Braga, de Coimbra, alguém tem de os criar: é o Daniel, da equipa Farol. Confirma que quem pede o evento é mesmo a organização, cria-o e nomeia o responsável, e transfere esse papel quando a direção muda. Nunca vê os pedidos de ajuda nem os dados dos eventos. Importante: são proto-personas, construídas a partir do relatório e de dados públicos, com nomes fictícios. Vamos validá-las com o inquérito aos estudantes, a entrevista ao voluntário de segurança e uma conversa com a organização.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slideLayout" Target="../slideLayouts/slideLayout3.xml"/><Relationship Id="rId1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png"/><Relationship Id="rId21" Type="http://schemas.openxmlformats.org/officeDocument/2006/relationships/slideLayout" Target="../slideLayouts/slideLayout3.xml"/><Relationship Id="rId2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eacon halo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Lighthouse icon" descr="Lighthous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143000"/>
            <a:ext cx="1280160" cy="1280160"/>
          </a:xfrm>
          <a:prstGeom prst="rect">
            <a:avLst/>
          </a:prstGeom>
        </p:spPr>
      </p:pic>
      <p:sp>
        <p:nvSpPr>
          <p:cNvPr id="4" name="Product name"/>
          <p:cNvSpPr txBox="1"/>
          <p:nvPr/>
        </p:nvSpPr>
        <p:spPr>
          <a:xfrm>
            <a:off x="3200400" y="10058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Farol</a:t>
            </a:r>
            <a:endParaRPr lang="en-US" sz="8000" dirty="0"/>
          </a:p>
        </p:txBody>
      </p:sp>
      <p:sp>
        <p:nvSpPr>
          <p:cNvPr id="5" name="Member Bruno Lopes"/>
          <p:cNvSpPr txBox="1"/>
          <p:nvPr/>
        </p:nvSpPr>
        <p:spPr>
          <a:xfrm>
            <a:off x="45720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Bruno Lopes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1240441</a:t>
            </a:r>
            <a:endParaRPr lang="en-US" sz="1600" dirty="0"/>
          </a:p>
        </p:txBody>
      </p:sp>
      <p:sp>
        <p:nvSpPr>
          <p:cNvPr id="6" name="Member Tiago Teixeira"/>
          <p:cNvSpPr txBox="1"/>
          <p:nvPr/>
        </p:nvSpPr>
        <p:spPr>
          <a:xfrm>
            <a:off x="256032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Tiago Teixeira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1240493</a:t>
            </a:r>
            <a:endParaRPr lang="en-US" sz="1600" dirty="0"/>
          </a:p>
        </p:txBody>
      </p:sp>
      <p:sp>
        <p:nvSpPr>
          <p:cNvPr id="7" name="Member Tomás Oliveira"/>
          <p:cNvSpPr txBox="1"/>
          <p:nvPr/>
        </p:nvSpPr>
        <p:spPr>
          <a:xfrm>
            <a:off x="466344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Tomás Oliveira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1230213</a:t>
            </a:r>
            <a:endParaRPr lang="en-US" sz="1600" dirty="0"/>
          </a:p>
        </p:txBody>
      </p:sp>
      <p:sp>
        <p:nvSpPr>
          <p:cNvPr id="8" name="Member Antônio Guerra"/>
          <p:cNvSpPr txBox="1"/>
          <p:nvPr/>
        </p:nvSpPr>
        <p:spPr>
          <a:xfrm>
            <a:off x="676656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Antônio Guerra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1190409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map, two sides</a:t>
            </a:r>
            <a:endParaRPr lang="en-US" sz="3200" dirty="0"/>
          </a:p>
        </p:txBody>
      </p:sp>
      <p:sp>
        <p:nvSpPr>
          <p:cNvPr id="3" name="Participant app card"/>
          <p:cNvSpPr/>
          <p:nvPr/>
        </p:nvSpPr>
        <p:spPr>
          <a:xfrm>
            <a:off x="457200" y="1097280"/>
            <a:ext cx="342900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pic>
        <p:nvPicPr>
          <p:cNvPr id="4" name="Participant app icon" descr="Participant ap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98448"/>
            <a:ext cx="365760" cy="365760"/>
          </a:xfrm>
          <a:prstGeom prst="rect">
            <a:avLst/>
          </a:prstGeom>
        </p:spPr>
      </p:pic>
      <p:sp>
        <p:nvSpPr>
          <p:cNvPr id="5" name="Participant app heading"/>
          <p:cNvSpPr txBox="1"/>
          <p:nvPr/>
        </p:nvSpPr>
        <p:spPr>
          <a:xfrm>
            <a:off x="1188720" y="1252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Participant app</a:t>
            </a:r>
            <a:endParaRPr lang="en-US" sz="2000" dirty="0"/>
          </a:p>
        </p:txBody>
      </p:sp>
      <p:sp>
        <p:nvSpPr>
          <p:cNvPr id="6" name="Icon circle: Venue map with points of interest"/>
          <p:cNvSpPr/>
          <p:nvPr/>
        </p:nvSpPr>
        <p:spPr>
          <a:xfrm>
            <a:off x="685800" y="191109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con: Venue map with points of interest" descr="Venue map with points of inter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993392"/>
            <a:ext cx="201168" cy="201168"/>
          </a:xfrm>
          <a:prstGeom prst="rect">
            <a:avLst/>
          </a:prstGeom>
        </p:spPr>
      </p:pic>
      <p:sp>
        <p:nvSpPr>
          <p:cNvPr id="8" name="Feature: Venue map with points of interest"/>
          <p:cNvSpPr txBox="1"/>
          <p:nvPr/>
        </p:nvSpPr>
        <p:spPr>
          <a:xfrm>
            <a:off x="1188720" y="1874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Venue map with points of interest</a:t>
            </a:r>
            <a:endParaRPr lang="en-US" sz="1400" dirty="0"/>
          </a:p>
        </p:txBody>
      </p:sp>
      <p:sp>
        <p:nvSpPr>
          <p:cNvPr id="9" name="Icon circle: Ask for help, 112 shown first"/>
          <p:cNvSpPr/>
          <p:nvPr/>
        </p:nvSpPr>
        <p:spPr>
          <a:xfrm>
            <a:off x="685800" y="240487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con: Ask for help, 112 shown first" descr="Ask for help, 112 shown fir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487168"/>
            <a:ext cx="201168" cy="201168"/>
          </a:xfrm>
          <a:prstGeom prst="rect">
            <a:avLst/>
          </a:prstGeom>
        </p:spPr>
      </p:pic>
      <p:sp>
        <p:nvSpPr>
          <p:cNvPr id="11" name="Feature: Ask for help, 112 shown first"/>
          <p:cNvSpPr txBox="1"/>
          <p:nvPr/>
        </p:nvSpPr>
        <p:spPr>
          <a:xfrm>
            <a:off x="1188720" y="236829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Ask for help, 112 shown first</a:t>
            </a:r>
            <a:endParaRPr lang="en-US" sz="1400" dirty="0"/>
          </a:p>
        </p:txBody>
      </p:sp>
      <p:sp>
        <p:nvSpPr>
          <p:cNvPr id="12" name="Icon circle: Transport home: STCP + shuttles"/>
          <p:cNvSpPr/>
          <p:nvPr/>
        </p:nvSpPr>
        <p:spPr>
          <a:xfrm>
            <a:off x="685800" y="289864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3" name="Icon: Transport home: STCP + shuttles" descr="Transport home: STCP + shutt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2980944"/>
            <a:ext cx="201168" cy="201168"/>
          </a:xfrm>
          <a:prstGeom prst="rect">
            <a:avLst/>
          </a:prstGeom>
        </p:spPr>
      </p:pic>
      <p:sp>
        <p:nvSpPr>
          <p:cNvPr id="14" name="Feature: Transport home: STCP + shuttles"/>
          <p:cNvSpPr txBox="1"/>
          <p:nvPr/>
        </p:nvSpPr>
        <p:spPr>
          <a:xfrm>
            <a:off x="1188720" y="28620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Transport home: STCP + shuttles</a:t>
            </a:r>
            <a:endParaRPr lang="en-US" sz="1400" dirty="0"/>
          </a:p>
        </p:txBody>
      </p:sp>
      <p:sp>
        <p:nvSpPr>
          <p:cNvPr id="15" name="Icon circle: Live announcements, timestamped"/>
          <p:cNvSpPr/>
          <p:nvPr/>
        </p:nvSpPr>
        <p:spPr>
          <a:xfrm>
            <a:off x="685800" y="33924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con: Live announcements, timestamped" descr="Live announcements, timestampe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474720"/>
            <a:ext cx="201168" cy="201168"/>
          </a:xfrm>
          <a:prstGeom prst="rect">
            <a:avLst/>
          </a:prstGeom>
        </p:spPr>
      </p:pic>
      <p:sp>
        <p:nvSpPr>
          <p:cNvPr id="17" name="Feature: Live announcements, timestamped"/>
          <p:cNvSpPr txBox="1"/>
          <p:nvPr/>
        </p:nvSpPr>
        <p:spPr>
          <a:xfrm>
            <a:off x="1188720" y="3355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Live announcements, timestamped</a:t>
            </a:r>
            <a:endParaRPr lang="en-US" sz="1400" dirty="0"/>
          </a:p>
        </p:txBody>
      </p:sp>
      <p:sp>
        <p:nvSpPr>
          <p:cNvPr id="18" name="Icon circle: Report problems on the map"/>
          <p:cNvSpPr/>
          <p:nvPr/>
        </p:nvSpPr>
        <p:spPr>
          <a:xfrm>
            <a:off x="685800" y="38862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con: Report problems on the map" descr="Report problems on the ma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" y="3968496"/>
            <a:ext cx="201168" cy="201168"/>
          </a:xfrm>
          <a:prstGeom prst="rect">
            <a:avLst/>
          </a:prstGeom>
        </p:spPr>
      </p:pic>
      <p:sp>
        <p:nvSpPr>
          <p:cNvPr id="20" name="Feature: Report problems on the map"/>
          <p:cNvSpPr txBox="1"/>
          <p:nvPr/>
        </p:nvSpPr>
        <p:spPr>
          <a:xfrm>
            <a:off x="1188720" y="38496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Report problems on the map</a:t>
            </a:r>
            <a:endParaRPr lang="en-US" sz="1400" dirty="0"/>
          </a:p>
        </p:txBody>
      </p:sp>
      <p:sp>
        <p:nvSpPr>
          <p:cNvPr id="21" name="Event team backoffice card"/>
          <p:cNvSpPr/>
          <p:nvPr/>
        </p:nvSpPr>
        <p:spPr>
          <a:xfrm>
            <a:off x="5257800" y="1097280"/>
            <a:ext cx="342900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pic>
        <p:nvPicPr>
          <p:cNvPr id="22" name="Event team backoffice icon" descr="Event team backoffic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0" y="1298448"/>
            <a:ext cx="365760" cy="365760"/>
          </a:xfrm>
          <a:prstGeom prst="rect">
            <a:avLst/>
          </a:prstGeom>
        </p:spPr>
      </p:pic>
      <p:sp>
        <p:nvSpPr>
          <p:cNvPr id="23" name="Event team backoffice heading"/>
          <p:cNvSpPr txBox="1"/>
          <p:nvPr/>
        </p:nvSpPr>
        <p:spPr>
          <a:xfrm>
            <a:off x="5989320" y="1252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Event team backoffice</a:t>
            </a:r>
            <a:endParaRPr lang="en-US" sz="2000" dirty="0"/>
          </a:p>
        </p:txBody>
      </p:sp>
      <p:sp>
        <p:nvSpPr>
          <p:cNvPr id="24" name="Icon circle: Events, roles and response teams"/>
          <p:cNvSpPr/>
          <p:nvPr/>
        </p:nvSpPr>
        <p:spPr>
          <a:xfrm>
            <a:off x="5486400" y="191109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con: Events, roles and response teams" descr="Events, roles and response team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68696" y="1993392"/>
            <a:ext cx="201168" cy="201168"/>
          </a:xfrm>
          <a:prstGeom prst="rect">
            <a:avLst/>
          </a:prstGeom>
        </p:spPr>
      </p:pic>
      <p:sp>
        <p:nvSpPr>
          <p:cNvPr id="26" name="Feature: Events, roles and response teams"/>
          <p:cNvSpPr txBox="1"/>
          <p:nvPr/>
        </p:nvSpPr>
        <p:spPr>
          <a:xfrm>
            <a:off x="5989320" y="1874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Events, roles and response teams</a:t>
            </a:r>
            <a:endParaRPr lang="en-US" sz="1400" dirty="0"/>
          </a:p>
        </p:txBody>
      </p:sp>
      <p:sp>
        <p:nvSpPr>
          <p:cNvPr id="27" name="Icon circle: Live help requests on the map"/>
          <p:cNvSpPr/>
          <p:nvPr/>
        </p:nvSpPr>
        <p:spPr>
          <a:xfrm>
            <a:off x="5486400" y="240487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8" name="Icon: Live help requests on the map" descr="Live help requests on the map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68696" y="2487168"/>
            <a:ext cx="201168" cy="201168"/>
          </a:xfrm>
          <a:prstGeom prst="rect">
            <a:avLst/>
          </a:prstGeom>
        </p:spPr>
      </p:pic>
      <p:sp>
        <p:nvSpPr>
          <p:cNvPr id="29" name="Feature: Live help requests on the map"/>
          <p:cNvSpPr txBox="1"/>
          <p:nvPr/>
        </p:nvSpPr>
        <p:spPr>
          <a:xfrm>
            <a:off x="5989320" y="236829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Live help requests on the map</a:t>
            </a:r>
            <a:endParaRPr lang="en-US" sz="1400" dirty="0"/>
          </a:p>
        </p:txBody>
      </p:sp>
      <p:sp>
        <p:nvSpPr>
          <p:cNvPr id="30" name="Icon circle: Prioritise and route requests"/>
          <p:cNvSpPr/>
          <p:nvPr/>
        </p:nvSpPr>
        <p:spPr>
          <a:xfrm>
            <a:off x="5486400" y="289864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con: Prioritise and route requests" descr="Prioritise and route reques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8696" y="2980944"/>
            <a:ext cx="201168" cy="201168"/>
          </a:xfrm>
          <a:prstGeom prst="rect">
            <a:avLst/>
          </a:prstGeom>
        </p:spPr>
      </p:pic>
      <p:sp>
        <p:nvSpPr>
          <p:cNvPr id="32" name="Feature: Prioritise and route requests"/>
          <p:cNvSpPr txBox="1"/>
          <p:nvPr/>
        </p:nvSpPr>
        <p:spPr>
          <a:xfrm>
            <a:off x="5989320" y="28620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Prioritise and route requests</a:t>
            </a:r>
            <a:endParaRPr lang="en-US" sz="1400" dirty="0"/>
          </a:p>
        </p:txBody>
      </p:sp>
      <p:sp>
        <p:nvSpPr>
          <p:cNvPr id="33" name="Icon circle: Confirm or reject reports"/>
          <p:cNvSpPr/>
          <p:nvPr/>
        </p:nvSpPr>
        <p:spPr>
          <a:xfrm>
            <a:off x="5486400" y="33924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4" name="Icon: Confirm or reject reports" descr="Confirm or reject report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8696" y="3474720"/>
            <a:ext cx="201168" cy="201168"/>
          </a:xfrm>
          <a:prstGeom prst="rect">
            <a:avLst/>
          </a:prstGeom>
        </p:spPr>
      </p:pic>
      <p:sp>
        <p:nvSpPr>
          <p:cNvPr id="35" name="Feature: Confirm or reject reports"/>
          <p:cNvSpPr txBox="1"/>
          <p:nvPr/>
        </p:nvSpPr>
        <p:spPr>
          <a:xfrm>
            <a:off x="5989320" y="3355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 or reject reports</a:t>
            </a:r>
            <a:endParaRPr lang="en-US" sz="1400" dirty="0"/>
          </a:p>
        </p:txBody>
      </p:sp>
      <p:sp>
        <p:nvSpPr>
          <p:cNvPr id="36" name="Icon circle: Publish news and shuttles"/>
          <p:cNvSpPr/>
          <p:nvPr/>
        </p:nvSpPr>
        <p:spPr>
          <a:xfrm>
            <a:off x="5486400" y="38862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7" name="Icon: Publish news and shuttles" descr="Publish news and shuttle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696" y="3968496"/>
            <a:ext cx="201168" cy="201168"/>
          </a:xfrm>
          <a:prstGeom prst="rect">
            <a:avLst/>
          </a:prstGeom>
        </p:spPr>
      </p:pic>
      <p:sp>
        <p:nvSpPr>
          <p:cNvPr id="38" name="Feature: Publish news and shuttles"/>
          <p:cNvSpPr txBox="1"/>
          <p:nvPr/>
        </p:nvSpPr>
        <p:spPr>
          <a:xfrm>
            <a:off x="5989320" y="38496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Publish news and shuttles</a:t>
            </a:r>
            <a:endParaRPr lang="en-US" sz="1400" dirty="0"/>
          </a:p>
        </p:txBody>
      </p:sp>
      <p:sp>
        <p:nvSpPr>
          <p:cNvPr id="39" name="Shared map circle"/>
          <p:cNvSpPr/>
          <p:nvPr/>
        </p:nvSpPr>
        <p:spPr>
          <a:xfrm>
            <a:off x="4114800" y="21488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0" name="Shared map icon" descr="Lighthouse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43400" y="2377440"/>
            <a:ext cx="457200" cy="457200"/>
          </a:xfrm>
          <a:prstGeom prst="rect">
            <a:avLst/>
          </a:prstGeom>
        </p:spPr>
      </p:pic>
      <p:sp>
        <p:nvSpPr>
          <p:cNvPr id="41" name="Shared map label"/>
          <p:cNvSpPr txBox="1"/>
          <p:nvPr/>
        </p:nvSpPr>
        <p:spPr>
          <a:xfrm>
            <a:off x="3931920" y="31546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Same map, same data, live</a:t>
            </a:r>
            <a:endParaRPr lang="en-US" sz="1200" dirty="0"/>
          </a:p>
        </p:txBody>
      </p:sp>
      <p:sp>
        <p:nvSpPr>
          <p:cNvPr id="42" name="Link left"/>
          <p:cNvSpPr/>
          <p:nvPr/>
        </p:nvSpPr>
        <p:spPr>
          <a:xfrm>
            <a:off x="3886200" y="2606040"/>
            <a:ext cx="2286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43" name="Link right"/>
          <p:cNvSpPr/>
          <p:nvPr/>
        </p:nvSpPr>
        <p:spPr>
          <a:xfrm>
            <a:off x="5029200" y="2606040"/>
            <a:ext cx="2286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44" name="Footnote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Login for everyone · per-event permissions · MVP priority: help requests → venue map → transport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Smart, fair and connected</a:t>
            </a:r>
            <a:endParaRPr lang="en-US" sz="3200" dirty="0"/>
          </a:p>
        </p:txBody>
      </p:sp>
      <p:sp>
        <p:nvSpPr>
          <p:cNvPr id="3" name="AI triage card"/>
          <p:cNvSpPr/>
          <p:nvPr/>
        </p:nvSpPr>
        <p:spPr>
          <a:xfrm>
            <a:off x="45720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4" name="AI triage icon circle"/>
          <p:cNvSpPr/>
          <p:nvPr/>
        </p:nvSpPr>
        <p:spPr>
          <a:xfrm>
            <a:off x="68580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AI triage icon" descr="AI triag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362456"/>
            <a:ext cx="237744" cy="237744"/>
          </a:xfrm>
          <a:prstGeom prst="rect">
            <a:avLst/>
          </a:prstGeom>
        </p:spPr>
      </p:pic>
      <p:sp>
        <p:nvSpPr>
          <p:cNvPr id="6" name="AI triage heading"/>
          <p:cNvSpPr txBox="1"/>
          <p:nvPr/>
        </p:nvSpPr>
        <p:spPr>
          <a:xfrm>
            <a:off x="128016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triage</a:t>
            </a:r>
            <a:endParaRPr lang="en-US" sz="1800" dirty="0"/>
          </a:p>
        </p:txBody>
      </p:sp>
      <p:sp>
        <p:nvSpPr>
          <p:cNvPr id="7" name="AI triage text"/>
          <p:cNvSpPr txBox="1"/>
          <p:nvPr/>
        </p:nvSpPr>
        <p:spPr>
          <a:xfrm>
            <a:off x="68580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Suggests category, priority and response team in under 30 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operator always decides; AI never lowers a priority</a:t>
            </a:r>
            <a:endParaRPr lang="en-US" sz="1400" dirty="0"/>
          </a:p>
        </p:txBody>
      </p:sp>
      <p:sp>
        <p:nvSpPr>
          <p:cNvPr id="8" name="Map reports card"/>
          <p:cNvSpPr/>
          <p:nvPr/>
        </p:nvSpPr>
        <p:spPr>
          <a:xfrm>
            <a:off x="329184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9" name="Map reports icon circle"/>
          <p:cNvSpPr/>
          <p:nvPr/>
        </p:nvSpPr>
        <p:spPr>
          <a:xfrm>
            <a:off x="352044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Map reports icon" descr="Map report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362456"/>
            <a:ext cx="237744" cy="237744"/>
          </a:xfrm>
          <a:prstGeom prst="rect">
            <a:avLst/>
          </a:prstGeom>
        </p:spPr>
      </p:pic>
      <p:sp>
        <p:nvSpPr>
          <p:cNvPr id="11" name="Map reports heading"/>
          <p:cNvSpPr txBox="1"/>
          <p:nvPr/>
        </p:nvSpPr>
        <p:spPr>
          <a:xfrm>
            <a:off x="411480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reports</a:t>
            </a:r>
            <a:endParaRPr lang="en-US" sz="1800" dirty="0"/>
          </a:p>
        </p:txBody>
      </p:sp>
      <p:sp>
        <p:nvSpPr>
          <p:cNvPr id="12" name="Map reports text"/>
          <p:cNvSpPr txBox="1"/>
          <p:nvPr/>
        </p:nvSpPr>
        <p:spPr>
          <a:xfrm>
            <a:off x="352044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Waze-style: queues, broken WC, hazards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Only the responsible team confirms a report</a:t>
            </a:r>
            <a:endParaRPr lang="en-US" sz="1400" dirty="0"/>
          </a:p>
        </p:txBody>
      </p:sp>
      <p:sp>
        <p:nvSpPr>
          <p:cNvPr id="13" name="Live transport card"/>
          <p:cNvSpPr/>
          <p:nvPr/>
        </p:nvSpPr>
        <p:spPr>
          <a:xfrm>
            <a:off x="612648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4" name="Live transport icon circle"/>
          <p:cNvSpPr/>
          <p:nvPr/>
        </p:nvSpPr>
        <p:spPr>
          <a:xfrm>
            <a:off x="635508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Live transport icon" descr="Live transpor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62456"/>
            <a:ext cx="237744" cy="237744"/>
          </a:xfrm>
          <a:prstGeom prst="rect">
            <a:avLst/>
          </a:prstGeom>
        </p:spPr>
      </p:pic>
      <p:sp>
        <p:nvSpPr>
          <p:cNvPr id="16" name="Live transport heading"/>
          <p:cNvSpPr txBox="1"/>
          <p:nvPr/>
        </p:nvSpPr>
        <p:spPr>
          <a:xfrm>
            <a:off x="694944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Live transport</a:t>
            </a:r>
            <a:endParaRPr lang="en-US" sz="1800" dirty="0"/>
          </a:p>
        </p:txBody>
      </p:sp>
      <p:sp>
        <p:nvSpPr>
          <p:cNvPr id="17" name="Live transport text"/>
          <p:cNvSpPr txBox="1"/>
          <p:nvPr/>
        </p:nvSpPr>
        <p:spPr>
          <a:xfrm>
            <a:off x="635508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Regular STCP lines from the public GTFS feed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Plus event shuttles set by the team</a:t>
            </a:r>
            <a:endParaRPr lang="en-US" sz="1400" dirty="0"/>
          </a:p>
        </p:txBody>
      </p:sp>
      <p:sp>
        <p:nvSpPr>
          <p:cNvPr id="18" name="Badges band"/>
          <p:cNvSpPr/>
          <p:nvPr/>
        </p:nvSpPr>
        <p:spPr>
          <a:xfrm>
            <a:off x="457200" y="3520440"/>
            <a:ext cx="822960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</p:sp>
      <p:pic>
        <p:nvPicPr>
          <p:cNvPr id="19" name="Badges icon" descr="Medal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21608"/>
            <a:ext cx="365760" cy="365760"/>
          </a:xfrm>
          <a:prstGeom prst="rect">
            <a:avLst/>
          </a:prstGeom>
        </p:spPr>
      </p:pic>
      <p:sp>
        <p:nvSpPr>
          <p:cNvPr id="20" name="Badges heading"/>
          <p:cNvSpPr txBox="1"/>
          <p:nvPr/>
        </p:nvSpPr>
        <p:spPr>
          <a:xfrm>
            <a:off x="1188720" y="3675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Badges</a:t>
            </a:r>
            <a:endParaRPr lang="en-US" sz="1800" dirty="0"/>
          </a:p>
        </p:txBody>
      </p:sp>
      <p:sp>
        <p:nvSpPr>
          <p:cNvPr id="21" name="Badge tracks"/>
          <p:cNvSpPr txBox="1"/>
          <p:nvPr/>
        </p:nvSpPr>
        <p:spPr>
          <a:xfrm>
            <a:off x="685800" y="41788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Events attended · confirmed reports · reports per event. Private, no leaderboard, never for help requests</a:t>
            </a:r>
            <a:endParaRPr lang="en-US" sz="1100" dirty="0"/>
          </a:p>
        </p:txBody>
      </p:sp>
      <p:sp>
        <p:nvSpPr>
          <p:cNvPr id="22" name="Wood medal"/>
          <p:cNvSpPr/>
          <p:nvPr/>
        </p:nvSpPr>
        <p:spPr>
          <a:xfrm>
            <a:off x="3488436" y="3703320"/>
            <a:ext cx="411480" cy="411480"/>
          </a:xfrm>
          <a:prstGeom prst="ellipse">
            <a:avLst/>
          </a:prstGeom>
          <a:solidFill>
            <a:srgbClr val="8B5A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Wood tier label"/>
          <p:cNvSpPr txBox="1"/>
          <p:nvPr/>
        </p:nvSpPr>
        <p:spPr>
          <a:xfrm>
            <a:off x="3291840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Wood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1–2</a:t>
            </a:r>
            <a:endParaRPr lang="en-US" sz="1200" dirty="0"/>
          </a:p>
        </p:txBody>
      </p:sp>
      <p:sp>
        <p:nvSpPr>
          <p:cNvPr id="24" name="Bronze medal"/>
          <p:cNvSpPr/>
          <p:nvPr/>
        </p:nvSpPr>
        <p:spPr>
          <a:xfrm>
            <a:off x="4366260" y="3703320"/>
            <a:ext cx="411480" cy="411480"/>
          </a:xfrm>
          <a:prstGeom prst="ellipse">
            <a:avLst/>
          </a:prstGeom>
          <a:solidFill>
            <a:srgbClr val="CD7F3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Bronze tier label"/>
          <p:cNvSpPr txBox="1"/>
          <p:nvPr/>
        </p:nvSpPr>
        <p:spPr>
          <a:xfrm>
            <a:off x="4169664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Bronze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3–9</a:t>
            </a:r>
            <a:endParaRPr lang="en-US" sz="1200" dirty="0"/>
          </a:p>
        </p:txBody>
      </p:sp>
      <p:sp>
        <p:nvSpPr>
          <p:cNvPr id="26" name="Silver medal"/>
          <p:cNvSpPr/>
          <p:nvPr/>
        </p:nvSpPr>
        <p:spPr>
          <a:xfrm>
            <a:off x="5244084" y="3703320"/>
            <a:ext cx="411480" cy="411480"/>
          </a:xfrm>
          <a:prstGeom prst="ellipse">
            <a:avLst/>
          </a:prstGeom>
          <a:solidFill>
            <a:srgbClr val="A8B0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ilver tier label"/>
          <p:cNvSpPr txBox="1"/>
          <p:nvPr/>
        </p:nvSpPr>
        <p:spPr>
          <a:xfrm>
            <a:off x="5047488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Silver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10–49</a:t>
            </a:r>
            <a:endParaRPr lang="en-US" sz="1200" dirty="0"/>
          </a:p>
        </p:txBody>
      </p:sp>
      <p:sp>
        <p:nvSpPr>
          <p:cNvPr id="28" name="Gold medal"/>
          <p:cNvSpPr/>
          <p:nvPr/>
        </p:nvSpPr>
        <p:spPr>
          <a:xfrm>
            <a:off x="6121908" y="3703320"/>
            <a:ext cx="411480" cy="41148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Gold tier label"/>
          <p:cNvSpPr txBox="1"/>
          <p:nvPr/>
        </p:nvSpPr>
        <p:spPr>
          <a:xfrm>
            <a:off x="5925312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Gold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50–99</a:t>
            </a:r>
            <a:endParaRPr lang="en-US" sz="1200" dirty="0"/>
          </a:p>
        </p:txBody>
      </p:sp>
      <p:sp>
        <p:nvSpPr>
          <p:cNvPr id="30" name="Platinum medal"/>
          <p:cNvSpPr/>
          <p:nvPr/>
        </p:nvSpPr>
        <p:spPr>
          <a:xfrm>
            <a:off x="6999732" y="3703320"/>
            <a:ext cx="411480" cy="411480"/>
          </a:xfrm>
          <a:prstGeom prst="ellipse">
            <a:avLst/>
          </a:prstGeom>
          <a:solidFill>
            <a:srgbClr val="8FA9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Platinum tier label"/>
          <p:cNvSpPr txBox="1"/>
          <p:nvPr/>
        </p:nvSpPr>
        <p:spPr>
          <a:xfrm>
            <a:off x="6803136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Platinum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100–499</a:t>
            </a:r>
            <a:endParaRPr lang="en-US" sz="1200" dirty="0"/>
          </a:p>
        </p:txBody>
      </p:sp>
      <p:sp>
        <p:nvSpPr>
          <p:cNvPr id="32" name="Diamond medal"/>
          <p:cNvSpPr/>
          <p:nvPr/>
        </p:nvSpPr>
        <p:spPr>
          <a:xfrm>
            <a:off x="7877556" y="3703320"/>
            <a:ext cx="411480" cy="411480"/>
          </a:xfrm>
          <a:prstGeom prst="ellipse">
            <a:avLst/>
          </a:prstGeom>
          <a:solidFill>
            <a:srgbClr val="4FC3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Diamond tier label"/>
          <p:cNvSpPr txBox="1"/>
          <p:nvPr/>
        </p:nvSpPr>
        <p:spPr>
          <a:xfrm>
            <a:off x="7680960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Diamond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500+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Who we design for</a:t>
            </a:r>
            <a:endParaRPr lang="en-US" sz="3200" dirty="0"/>
          </a:p>
        </p:txBody>
      </p:sp>
      <p:sp>
        <p:nvSpPr>
          <p:cNvPr id="3" name="Rita card"/>
          <p:cNvSpPr/>
          <p:nvPr/>
        </p:nvSpPr>
        <p:spPr>
          <a:xfrm>
            <a:off x="45720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Rita icon circle"/>
          <p:cNvSpPr/>
          <p:nvPr/>
        </p:nvSpPr>
        <p:spPr>
          <a:xfrm>
            <a:off x="62179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Rita icon" descr="Rita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261872"/>
            <a:ext cx="201168" cy="201168"/>
          </a:xfrm>
          <a:prstGeom prst="rect">
            <a:avLst/>
          </a:prstGeom>
        </p:spPr>
      </p:pic>
      <p:sp>
        <p:nvSpPr>
          <p:cNvPr id="6" name="Rita name"/>
          <p:cNvSpPr txBox="1"/>
          <p:nvPr/>
        </p:nvSpPr>
        <p:spPr>
          <a:xfrm>
            <a:off x="111556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Rita role"/>
          <p:cNvSpPr txBox="1"/>
          <p:nvPr/>
        </p:nvSpPr>
        <p:spPr>
          <a:xfrm>
            <a:off x="62179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Student · participant app</a:t>
            </a:r>
            <a:endParaRPr lang="en-US" sz="1100" dirty="0"/>
          </a:p>
        </p:txBody>
      </p:sp>
      <p:pic>
        <p:nvPicPr>
          <p:cNvPr id="8" name="Rita Goal icon" descr="Go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943100"/>
            <a:ext cx="146304" cy="146304"/>
          </a:xfrm>
          <a:prstGeom prst="rect">
            <a:avLst/>
          </a:prstGeom>
        </p:spPr>
      </p:pic>
      <p:sp>
        <p:nvSpPr>
          <p:cNvPr id="9" name="Rita Goal label"/>
          <p:cNvSpPr txBox="1"/>
          <p:nvPr/>
        </p:nvSpPr>
        <p:spPr>
          <a:xfrm>
            <a:off x="84124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10" name="Rita Goal"/>
          <p:cNvSpPr txBox="1"/>
          <p:nvPr/>
        </p:nvSpPr>
        <p:spPr>
          <a:xfrm>
            <a:off x="62179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find WC, first aid and the way home, fast</a:t>
            </a:r>
            <a:endParaRPr lang="en-US" sz="1200" dirty="0"/>
          </a:p>
        </p:txBody>
      </p:sp>
      <p:pic>
        <p:nvPicPr>
          <p:cNvPr id="11" name="Rita Pain icon" descr="P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546604"/>
            <a:ext cx="146304" cy="146304"/>
          </a:xfrm>
          <a:prstGeom prst="rect">
            <a:avLst/>
          </a:prstGeom>
        </p:spPr>
      </p:pic>
      <p:sp>
        <p:nvSpPr>
          <p:cNvPr id="12" name="Rita Pain label"/>
          <p:cNvSpPr txBox="1"/>
          <p:nvPr/>
        </p:nvSpPr>
        <p:spPr>
          <a:xfrm>
            <a:off x="84124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13" name="Rita Pain"/>
          <p:cNvSpPr txBox="1"/>
          <p:nvPr/>
        </p:nvSpPr>
        <p:spPr>
          <a:xfrm>
            <a:off x="62179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info goes stale; the map is an image</a:t>
            </a:r>
            <a:endParaRPr lang="en-US" sz="1200" dirty="0"/>
          </a:p>
        </p:txBody>
      </p:sp>
      <p:pic>
        <p:nvPicPr>
          <p:cNvPr id="14" name="Rita Success icon" descr="Succe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150108"/>
            <a:ext cx="146304" cy="146304"/>
          </a:xfrm>
          <a:prstGeom prst="rect">
            <a:avLst/>
          </a:prstGeom>
        </p:spPr>
      </p:pic>
      <p:sp>
        <p:nvSpPr>
          <p:cNvPr id="15" name="Rita Success label"/>
          <p:cNvSpPr txBox="1"/>
          <p:nvPr/>
        </p:nvSpPr>
        <p:spPr>
          <a:xfrm>
            <a:off x="84124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16" name="Rita Success"/>
          <p:cNvSpPr txBox="1"/>
          <p:nvPr/>
        </p:nvSpPr>
        <p:spPr>
          <a:xfrm>
            <a:off x="62179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asks help for a friend in under 30 s</a:t>
            </a:r>
            <a:endParaRPr lang="en-US" sz="1200" dirty="0"/>
          </a:p>
        </p:txBody>
      </p:sp>
      <p:sp>
        <p:nvSpPr>
          <p:cNvPr id="17" name="Miguel card"/>
          <p:cNvSpPr/>
          <p:nvPr/>
        </p:nvSpPr>
        <p:spPr>
          <a:xfrm>
            <a:off x="256032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8" name="Miguel icon circle"/>
          <p:cNvSpPr/>
          <p:nvPr/>
        </p:nvSpPr>
        <p:spPr>
          <a:xfrm>
            <a:off x="272491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Miguel icon" descr="Miguel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5496" y="1261872"/>
            <a:ext cx="201168" cy="201168"/>
          </a:xfrm>
          <a:prstGeom prst="rect">
            <a:avLst/>
          </a:prstGeom>
        </p:spPr>
      </p:pic>
      <p:sp>
        <p:nvSpPr>
          <p:cNvPr id="20" name="Miguel name"/>
          <p:cNvSpPr txBox="1"/>
          <p:nvPr/>
        </p:nvSpPr>
        <p:spPr>
          <a:xfrm>
            <a:off x="321868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21" name="Miguel role"/>
          <p:cNvSpPr txBox="1"/>
          <p:nvPr/>
        </p:nvSpPr>
        <p:spPr>
          <a:xfrm>
            <a:off x="272491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PCR volunteer · operator</a:t>
            </a:r>
            <a:endParaRPr lang="en-US" sz="1100" dirty="0"/>
          </a:p>
        </p:txBody>
      </p:sp>
      <p:pic>
        <p:nvPicPr>
          <p:cNvPr id="22" name="Miguel Goal icon" descr="Go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4912" y="1943100"/>
            <a:ext cx="146304" cy="146304"/>
          </a:xfrm>
          <a:prstGeom prst="rect">
            <a:avLst/>
          </a:prstGeom>
        </p:spPr>
      </p:pic>
      <p:sp>
        <p:nvSpPr>
          <p:cNvPr id="23" name="Miguel Goal label"/>
          <p:cNvSpPr txBox="1"/>
          <p:nvPr/>
        </p:nvSpPr>
        <p:spPr>
          <a:xfrm>
            <a:off x="294436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24" name="Miguel Goal"/>
          <p:cNvSpPr txBox="1"/>
          <p:nvPr/>
        </p:nvSpPr>
        <p:spPr>
          <a:xfrm>
            <a:off x="272491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see every request: what, where, status</a:t>
            </a:r>
            <a:endParaRPr lang="en-US" sz="1200" dirty="0"/>
          </a:p>
        </p:txBody>
      </p:sp>
      <p:pic>
        <p:nvPicPr>
          <p:cNvPr id="25" name="Miguel Pain icon" descr="Pai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4912" y="2546604"/>
            <a:ext cx="146304" cy="146304"/>
          </a:xfrm>
          <a:prstGeom prst="rect">
            <a:avLst/>
          </a:prstGeom>
        </p:spPr>
      </p:pic>
      <p:sp>
        <p:nvSpPr>
          <p:cNvPr id="26" name="Miguel Pain label"/>
          <p:cNvSpPr txBox="1"/>
          <p:nvPr/>
        </p:nvSpPr>
        <p:spPr>
          <a:xfrm>
            <a:off x="294436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27" name="Miguel Pain"/>
          <p:cNvSpPr txBox="1"/>
          <p:nvPr/>
        </p:nvSpPr>
        <p:spPr>
          <a:xfrm>
            <a:off x="272491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radio and phone, no location or priority</a:t>
            </a:r>
            <a:endParaRPr lang="en-US" sz="1200" dirty="0"/>
          </a:p>
        </p:txBody>
      </p:sp>
      <p:pic>
        <p:nvPicPr>
          <p:cNvPr id="28" name="Miguel Success icon" descr="Succes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24912" y="3150108"/>
            <a:ext cx="146304" cy="146304"/>
          </a:xfrm>
          <a:prstGeom prst="rect">
            <a:avLst/>
          </a:prstGeom>
        </p:spPr>
      </p:pic>
      <p:sp>
        <p:nvSpPr>
          <p:cNvPr id="29" name="Miguel Success label"/>
          <p:cNvSpPr txBox="1"/>
          <p:nvPr/>
        </p:nvSpPr>
        <p:spPr>
          <a:xfrm>
            <a:off x="294436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30" name="Miguel Success"/>
          <p:cNvSpPr txBox="1"/>
          <p:nvPr/>
        </p:nvSpPr>
        <p:spPr>
          <a:xfrm>
            <a:off x="272491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each request in seconds, triaged in ≤ 30 s</a:t>
            </a:r>
            <a:endParaRPr lang="en-US" sz="1200" dirty="0"/>
          </a:p>
        </p:txBody>
      </p:sp>
      <p:sp>
        <p:nvSpPr>
          <p:cNvPr id="31" name="Sofia card"/>
          <p:cNvSpPr/>
          <p:nvPr/>
        </p:nvSpPr>
        <p:spPr>
          <a:xfrm>
            <a:off x="466344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32" name="Sofia icon circle"/>
          <p:cNvSpPr/>
          <p:nvPr/>
        </p:nvSpPr>
        <p:spPr>
          <a:xfrm>
            <a:off x="482803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Sofia icon" descr="Sofia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28616" y="1261872"/>
            <a:ext cx="201168" cy="201168"/>
          </a:xfrm>
          <a:prstGeom prst="rect">
            <a:avLst/>
          </a:prstGeom>
        </p:spPr>
      </p:pic>
      <p:sp>
        <p:nvSpPr>
          <p:cNvPr id="34" name="Sofia name"/>
          <p:cNvSpPr txBox="1"/>
          <p:nvPr/>
        </p:nvSpPr>
        <p:spPr>
          <a:xfrm>
            <a:off x="532180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35" name="Sofia role"/>
          <p:cNvSpPr txBox="1"/>
          <p:nvPr/>
        </p:nvSpPr>
        <p:spPr>
          <a:xfrm>
            <a:off x="482803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Organiser · her event only</a:t>
            </a:r>
            <a:endParaRPr lang="en-US" sz="1100" dirty="0"/>
          </a:p>
        </p:txBody>
      </p:sp>
      <p:pic>
        <p:nvPicPr>
          <p:cNvPr id="36" name="Sofia Goal icon" descr="Go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28032" y="1943100"/>
            <a:ext cx="146304" cy="146304"/>
          </a:xfrm>
          <a:prstGeom prst="rect">
            <a:avLst/>
          </a:prstGeom>
        </p:spPr>
      </p:pic>
      <p:sp>
        <p:nvSpPr>
          <p:cNvPr id="37" name="Sofia Goal label"/>
          <p:cNvSpPr txBox="1"/>
          <p:nvPr/>
        </p:nvSpPr>
        <p:spPr>
          <a:xfrm>
            <a:off x="504748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38" name="Sofia Goal"/>
          <p:cNvSpPr txBox="1"/>
          <p:nvPr/>
        </p:nvSpPr>
        <p:spPr>
          <a:xfrm>
            <a:off x="482803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configure once, publish changes live</a:t>
            </a:r>
            <a:endParaRPr lang="en-US" sz="1200" dirty="0"/>
          </a:p>
        </p:txBody>
      </p:sp>
      <p:pic>
        <p:nvPicPr>
          <p:cNvPr id="39" name="Sofia Pain icon" descr="Pai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28032" y="2546604"/>
            <a:ext cx="146304" cy="146304"/>
          </a:xfrm>
          <a:prstGeom prst="rect">
            <a:avLst/>
          </a:prstGeom>
        </p:spPr>
      </p:pic>
      <p:sp>
        <p:nvSpPr>
          <p:cNvPr id="40" name="Sofia Pain label"/>
          <p:cNvSpPr txBox="1"/>
          <p:nvPr/>
        </p:nvSpPr>
        <p:spPr>
          <a:xfrm>
            <a:off x="504748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41" name="Sofia Pain"/>
          <p:cNvSpPr txBox="1"/>
          <p:nvPr/>
        </p:nvSpPr>
        <p:spPr>
          <a:xfrm>
            <a:off x="482803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each partner talks on its own channel</a:t>
            </a:r>
            <a:endParaRPr lang="en-US" sz="1200" dirty="0"/>
          </a:p>
        </p:txBody>
      </p:sp>
      <p:pic>
        <p:nvPicPr>
          <p:cNvPr id="42" name="Sofia Success icon" descr="Succes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8032" y="3150108"/>
            <a:ext cx="146304" cy="146304"/>
          </a:xfrm>
          <a:prstGeom prst="rect">
            <a:avLst/>
          </a:prstGeom>
        </p:spPr>
      </p:pic>
      <p:sp>
        <p:nvSpPr>
          <p:cNvPr id="43" name="Sofia Success label"/>
          <p:cNvSpPr txBox="1"/>
          <p:nvPr/>
        </p:nvSpPr>
        <p:spPr>
          <a:xfrm>
            <a:off x="504748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44" name="Sofia Success"/>
          <p:cNvSpPr txBox="1"/>
          <p:nvPr/>
        </p:nvSpPr>
        <p:spPr>
          <a:xfrm>
            <a:off x="482803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next night ready with configuration only</a:t>
            </a:r>
            <a:endParaRPr lang="en-US" sz="1200" dirty="0"/>
          </a:p>
        </p:txBody>
      </p:sp>
      <p:sp>
        <p:nvSpPr>
          <p:cNvPr id="45" name="Daniel card"/>
          <p:cNvSpPr/>
          <p:nvPr/>
        </p:nvSpPr>
        <p:spPr>
          <a:xfrm>
            <a:off x="676656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6" name="Daniel icon circle"/>
          <p:cNvSpPr/>
          <p:nvPr/>
        </p:nvSpPr>
        <p:spPr>
          <a:xfrm>
            <a:off x="693115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7" name="Daniel icon" descr="Daniel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31736" y="1261872"/>
            <a:ext cx="201168" cy="201168"/>
          </a:xfrm>
          <a:prstGeom prst="rect">
            <a:avLst/>
          </a:prstGeom>
        </p:spPr>
      </p:pic>
      <p:sp>
        <p:nvSpPr>
          <p:cNvPr id="48" name="Daniel name"/>
          <p:cNvSpPr txBox="1"/>
          <p:nvPr/>
        </p:nvSpPr>
        <p:spPr>
          <a:xfrm>
            <a:off x="742492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49" name="Daniel role"/>
          <p:cNvSpPr txBox="1"/>
          <p:nvPr/>
        </p:nvSpPr>
        <p:spPr>
          <a:xfrm>
            <a:off x="693115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Farol team · all events</a:t>
            </a:r>
            <a:endParaRPr lang="en-US" sz="1100" dirty="0"/>
          </a:p>
        </p:txBody>
      </p:sp>
      <p:pic>
        <p:nvPicPr>
          <p:cNvPr id="50" name="Daniel Goal icon" descr="Go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31152" y="1943100"/>
            <a:ext cx="146304" cy="146304"/>
          </a:xfrm>
          <a:prstGeom prst="rect">
            <a:avLst/>
          </a:prstGeom>
        </p:spPr>
      </p:pic>
      <p:sp>
        <p:nvSpPr>
          <p:cNvPr id="51" name="Daniel Goal label"/>
          <p:cNvSpPr txBox="1"/>
          <p:nvPr/>
        </p:nvSpPr>
        <p:spPr>
          <a:xfrm>
            <a:off x="715060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52" name="Daniel Goal"/>
          <p:cNvSpPr txBox="1"/>
          <p:nvPr/>
        </p:nvSpPr>
        <p:spPr>
          <a:xfrm>
            <a:off x="693115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onboard real festivals, no new code</a:t>
            </a:r>
            <a:endParaRPr lang="en-US" sz="1200" dirty="0"/>
          </a:p>
        </p:txBody>
      </p:sp>
      <p:pic>
        <p:nvPicPr>
          <p:cNvPr id="53" name="Daniel Pain icon" descr="Pa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2546604"/>
            <a:ext cx="146304" cy="146304"/>
          </a:xfrm>
          <a:prstGeom prst="rect">
            <a:avLst/>
          </a:prstGeom>
        </p:spPr>
      </p:pic>
      <p:sp>
        <p:nvSpPr>
          <p:cNvPr id="54" name="Daniel Pain label"/>
          <p:cNvSpPr txBox="1"/>
          <p:nvPr/>
        </p:nvSpPr>
        <p:spPr>
          <a:xfrm>
            <a:off x="715060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55" name="Daniel Pain"/>
          <p:cNvSpPr txBox="1"/>
          <p:nvPr/>
        </p:nvSpPr>
        <p:spPr>
          <a:xfrm>
            <a:off x="693115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fake events; owners change every year</a:t>
            </a:r>
            <a:endParaRPr lang="en-US" sz="1200" dirty="0"/>
          </a:p>
        </p:txBody>
      </p:sp>
      <p:pic>
        <p:nvPicPr>
          <p:cNvPr id="56" name="Daniel Success icon" descr="Success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3150108"/>
            <a:ext cx="146304" cy="146304"/>
          </a:xfrm>
          <a:prstGeom prst="rect">
            <a:avLst/>
          </a:prstGeom>
        </p:spPr>
      </p:pic>
      <p:sp>
        <p:nvSpPr>
          <p:cNvPr id="57" name="Daniel Success label"/>
          <p:cNvSpPr txBox="1"/>
          <p:nvPr/>
        </p:nvSpPr>
        <p:spPr>
          <a:xfrm>
            <a:off x="715060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58" name="Daniel Success"/>
          <p:cNvSpPr txBox="1"/>
          <p:nvPr/>
        </p:nvSpPr>
        <p:spPr>
          <a:xfrm>
            <a:off x="693115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 festival live, its data never seen</a:t>
            </a:r>
            <a:endParaRPr lang="en-US" sz="1200" dirty="0"/>
          </a:p>
        </p:txBody>
      </p:sp>
      <p:sp>
        <p:nvSpPr>
          <p:cNvPr id="59" name="Validation band"/>
          <p:cNvSpPr/>
          <p:nvPr/>
        </p:nvSpPr>
        <p:spPr>
          <a:xfrm>
            <a:off x="457200" y="3904488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</p:sp>
      <p:pic>
        <p:nvPicPr>
          <p:cNvPr id="60" name="Proto-personas icon" descr="Proto-personas ico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1" name="Proto-personas heading"/>
          <p:cNvSpPr txBox="1"/>
          <p:nvPr/>
        </p:nvSpPr>
        <p:spPr>
          <a:xfrm>
            <a:off x="1024128" y="3995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Proto-personas</a:t>
            </a:r>
            <a:endParaRPr lang="en-US" sz="1600" dirty="0"/>
          </a:p>
        </p:txBody>
      </p:sp>
      <p:sp>
        <p:nvSpPr>
          <p:cNvPr id="62" name="Proto-personas text"/>
          <p:cNvSpPr txBox="1"/>
          <p:nvPr/>
        </p:nvSpPr>
        <p:spPr>
          <a:xfrm>
            <a:off x="658368" y="437083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From the report and public evidence. Names are fictional; no user data yet.</a:t>
            </a:r>
            <a:endParaRPr lang="en-US" sz="1050" dirty="0"/>
          </a:p>
        </p:txBody>
      </p:sp>
      <p:sp>
        <p:nvSpPr>
          <p:cNvPr id="63" name="Student survey circle"/>
          <p:cNvSpPr/>
          <p:nvPr/>
        </p:nvSpPr>
        <p:spPr>
          <a:xfrm>
            <a:off x="333756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4" name="Student survey icon" descr="Student survey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19856" y="4224528"/>
            <a:ext cx="201168" cy="201168"/>
          </a:xfrm>
          <a:prstGeom prst="rect">
            <a:avLst/>
          </a:prstGeom>
        </p:spPr>
      </p:pic>
      <p:sp>
        <p:nvSpPr>
          <p:cNvPr id="65" name="Student survey label"/>
          <p:cNvSpPr txBox="1"/>
          <p:nvPr/>
        </p:nvSpPr>
        <p:spPr>
          <a:xfrm>
            <a:off x="379476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Student survey</a:t>
            </a:r>
            <a:endParaRPr lang="en-US" sz="1200" dirty="0"/>
          </a:p>
        </p:txBody>
      </p:sp>
      <p:sp>
        <p:nvSpPr>
          <p:cNvPr id="66" name="Student survey target"/>
          <p:cNvSpPr txBox="1"/>
          <p:nvPr/>
        </p:nvSpPr>
        <p:spPr>
          <a:xfrm>
            <a:off x="379476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Rita</a:t>
            </a:r>
            <a:endParaRPr lang="en-US" sz="1100" dirty="0"/>
          </a:p>
        </p:txBody>
      </p:sp>
      <p:sp>
        <p:nvSpPr>
          <p:cNvPr id="67" name="Security interview circle"/>
          <p:cNvSpPr/>
          <p:nvPr/>
        </p:nvSpPr>
        <p:spPr>
          <a:xfrm>
            <a:off x="512064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8" name="Security interview icon" descr="Security interview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202936" y="4224528"/>
            <a:ext cx="201168" cy="201168"/>
          </a:xfrm>
          <a:prstGeom prst="rect">
            <a:avLst/>
          </a:prstGeom>
        </p:spPr>
      </p:pic>
      <p:sp>
        <p:nvSpPr>
          <p:cNvPr id="69" name="Security interview label"/>
          <p:cNvSpPr txBox="1"/>
          <p:nvPr/>
        </p:nvSpPr>
        <p:spPr>
          <a:xfrm>
            <a:off x="557784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Security interview</a:t>
            </a:r>
            <a:endParaRPr lang="en-US" sz="1200" dirty="0"/>
          </a:p>
        </p:txBody>
      </p:sp>
      <p:sp>
        <p:nvSpPr>
          <p:cNvPr id="70" name="Security interview target"/>
          <p:cNvSpPr txBox="1"/>
          <p:nvPr/>
        </p:nvSpPr>
        <p:spPr>
          <a:xfrm>
            <a:off x="557784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Miguel</a:t>
            </a:r>
            <a:endParaRPr lang="en-US" sz="1100" dirty="0"/>
          </a:p>
        </p:txBody>
      </p:sp>
      <p:sp>
        <p:nvSpPr>
          <p:cNvPr id="71" name="Organiser talk circle"/>
          <p:cNvSpPr/>
          <p:nvPr/>
        </p:nvSpPr>
        <p:spPr>
          <a:xfrm>
            <a:off x="690372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2" name="Organiser talk icon" descr="Organiser talk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86016" y="4224528"/>
            <a:ext cx="201168" cy="201168"/>
          </a:xfrm>
          <a:prstGeom prst="rect">
            <a:avLst/>
          </a:prstGeom>
        </p:spPr>
      </p:pic>
      <p:sp>
        <p:nvSpPr>
          <p:cNvPr id="73" name="Organiser talk label"/>
          <p:cNvSpPr txBox="1"/>
          <p:nvPr/>
        </p:nvSpPr>
        <p:spPr>
          <a:xfrm>
            <a:off x="736092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Organiser talk</a:t>
            </a:r>
            <a:endParaRPr lang="en-US" sz="1200" dirty="0"/>
          </a:p>
        </p:txBody>
      </p:sp>
      <p:sp>
        <p:nvSpPr>
          <p:cNvPr id="74" name="Organiser talk target"/>
          <p:cNvSpPr txBox="1"/>
          <p:nvPr/>
        </p:nvSpPr>
        <p:spPr>
          <a:xfrm>
            <a:off x="736092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Sofia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Main features</dc:title>
  <dc:subject>PptxGenJS Presentation</dc:subject>
  <dc:creator>Bruno Lopes</dc:creator>
  <cp:lastModifiedBy>Bruno Lopes</cp:lastModifiedBy>
  <cp:revision>1</cp:revision>
  <dcterms:created xsi:type="dcterms:W3CDTF">2026-10-09T11:01:38Z</dcterms:created>
  <dcterms:modified xsi:type="dcterms:W3CDTF">2026-10-09T11:01:38Z</dcterms:modified>
</cp:coreProperties>
</file>